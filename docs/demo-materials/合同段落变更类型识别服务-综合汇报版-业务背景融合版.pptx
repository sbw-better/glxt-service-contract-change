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75072562f54b1b" /><Relationship Type="http://schemas.openxmlformats.org/officeDocument/2006/relationships/extended-properties" Target="/docProps/app.xml" Id="Rebbe05974a064cb6" /><Relationship Type="http://schemas.openxmlformats.org/officeDocument/2006/relationships/officeDocument" Target="/ppt/presentation.xml" Id="R316b2be3cb40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eb78b155a341cf"/>
  </p:sldMasterIdLst>
  <p:notesMasterIdLst>
    <p:notesMasterId xmlns:r="http://schemas.openxmlformats.org/officeDocument/2006/relationships" r:id="R702670c01e10407e"/>
  </p:notesMasterIdLst>
  <p:sldIdLst>
    <p:sldId xmlns:r="http://schemas.openxmlformats.org/officeDocument/2006/relationships" id="256" r:id="R374376cf4d82417e"/>
    <p:sldId xmlns:r="http://schemas.openxmlformats.org/officeDocument/2006/relationships" id="257" r:id="Rff5fffa2d7c148a7"/>
    <p:sldId xmlns:r="http://schemas.openxmlformats.org/officeDocument/2006/relationships" id="258" r:id="R35a0515eefe247a2"/>
    <p:sldId xmlns:r="http://schemas.openxmlformats.org/officeDocument/2006/relationships" id="259" r:id="R72cd78c639eb444e"/>
    <p:sldId xmlns:r="http://schemas.openxmlformats.org/officeDocument/2006/relationships" id="260" r:id="R49e7215905ee40ba"/>
    <p:sldId xmlns:r="http://schemas.openxmlformats.org/officeDocument/2006/relationships" id="261" r:id="Rdf2802eb82ae4b66"/>
    <p:sldId xmlns:r="http://schemas.openxmlformats.org/officeDocument/2006/relationships" id="262" r:id="R35d29b287aba4bcf"/>
    <p:sldId xmlns:r="http://schemas.openxmlformats.org/officeDocument/2006/relationships" id="263" r:id="R188efdb19d9e44ca"/>
    <p:sldId xmlns:r="http://schemas.openxmlformats.org/officeDocument/2006/relationships" id="264" r:id="R5cbb37ff852d493b"/>
    <p:sldId xmlns:r="http://schemas.openxmlformats.org/officeDocument/2006/relationships" id="265" r:id="Rd011c119e39d4db6"/>
    <p:sldId xmlns:r="http://schemas.openxmlformats.org/officeDocument/2006/relationships" id="266" r:id="R49a74db0ee5f406b"/>
    <p:sldId xmlns:r="http://schemas.openxmlformats.org/officeDocument/2006/relationships" id="267" r:id="R54651bf092f54208"/>
    <p:sldId xmlns:r="http://schemas.openxmlformats.org/officeDocument/2006/relationships" id="268" r:id="R3d75e8e693774cd2"/>
    <p:sldId xmlns:r="http://schemas.openxmlformats.org/officeDocument/2006/relationships" id="269" r:id="R0fa5a1a95c044be3"/>
    <p:sldId xmlns:r="http://schemas.openxmlformats.org/officeDocument/2006/relationships" id="270" r:id="R6e6014c69bf944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a608ddc0464794" /><Relationship Type="http://schemas.openxmlformats.org/officeDocument/2006/relationships/slideMaster" Target="/ppt/slideMasters/slideMaster1.xml" Id="Rb0eb78b155a341cf" /><Relationship Type="http://schemas.openxmlformats.org/officeDocument/2006/relationships/notesMaster" Target="/ppt/notesMasters/notesMaster1.xml" Id="R702670c01e10407e" /><Relationship Type="http://schemas.openxmlformats.org/officeDocument/2006/relationships/presProps" Target="/ppt/presProps.xml" Id="R9a9885da9fde413e" /><Relationship Type="http://schemas.openxmlformats.org/officeDocument/2006/relationships/tableStyles" Target="/ppt/tableStyles.xml" Id="Rc8dde4041e28454f" /><Relationship Type="http://schemas.openxmlformats.org/officeDocument/2006/relationships/slide" Target="/ppt/slides/slide1.xml" Id="R374376cf4d82417e" /><Relationship Type="http://schemas.openxmlformats.org/officeDocument/2006/relationships/slide" Target="/ppt/slides/slide2.xml" Id="Rff5fffa2d7c148a7" /><Relationship Type="http://schemas.openxmlformats.org/officeDocument/2006/relationships/slide" Target="/ppt/slides/slide3.xml" Id="R35a0515eefe247a2" /><Relationship Type="http://schemas.openxmlformats.org/officeDocument/2006/relationships/slide" Target="/ppt/slides/slide4.xml" Id="R72cd78c639eb444e" /><Relationship Type="http://schemas.openxmlformats.org/officeDocument/2006/relationships/slide" Target="/ppt/slides/slide5.xml" Id="R49e7215905ee40ba" /><Relationship Type="http://schemas.openxmlformats.org/officeDocument/2006/relationships/slide" Target="/ppt/slides/slide6.xml" Id="Rdf2802eb82ae4b66" /><Relationship Type="http://schemas.openxmlformats.org/officeDocument/2006/relationships/slide" Target="/ppt/slides/slide7.xml" Id="R35d29b287aba4bcf" /><Relationship Type="http://schemas.openxmlformats.org/officeDocument/2006/relationships/slide" Target="/ppt/slides/slide8.xml" Id="R188efdb19d9e44ca" /><Relationship Type="http://schemas.openxmlformats.org/officeDocument/2006/relationships/slide" Target="/ppt/slides/slide9.xml" Id="R5cbb37ff852d493b" /><Relationship Type="http://schemas.openxmlformats.org/officeDocument/2006/relationships/slide" Target="/ppt/slides/slide10.xml" Id="Rd011c119e39d4db6" /><Relationship Type="http://schemas.openxmlformats.org/officeDocument/2006/relationships/slide" Target="/ppt/slides/slide11.xml" Id="R49a74db0ee5f406b" /><Relationship Type="http://schemas.openxmlformats.org/officeDocument/2006/relationships/slide" Target="/ppt/slides/slide12.xml" Id="R54651bf092f54208" /><Relationship Type="http://schemas.openxmlformats.org/officeDocument/2006/relationships/slide" Target="/ppt/slides/slide13.xml" Id="R3d75e8e693774cd2" /><Relationship Type="http://schemas.openxmlformats.org/officeDocument/2006/relationships/slide" Target="/ppt/slides/slide14.xml" Id="R0fa5a1a95c044be3" /><Relationship Type="http://schemas.openxmlformats.org/officeDocument/2006/relationships/slide" Target="/ppt/slides/slide15.xml" Id="R6e6014c69bf944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23cdedc8b140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0f95ed3a0459d" /><Relationship Type="http://schemas.openxmlformats.org/officeDocument/2006/relationships/notesMaster" Target="/ppt/notesMasters/notesMaster1.xml" Id="Ree999ba4a98d40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d3873427da4ea5" /><Relationship Type="http://schemas.openxmlformats.org/officeDocument/2006/relationships/notesMaster" Target="/ppt/notesMasters/notesMaster1.xml" Id="R525fc0cffc5b47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514523f077468f" /><Relationship Type="http://schemas.openxmlformats.org/officeDocument/2006/relationships/notesMaster" Target="/ppt/notesMasters/notesMaster1.xml" Id="R503336f0e63f42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46c9981b0c49f0" /><Relationship Type="http://schemas.openxmlformats.org/officeDocument/2006/relationships/notesMaster" Target="/ppt/notesMasters/notesMaster1.xml" Id="R970ca9c98e6847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59d8b061184b50" /><Relationship Type="http://schemas.openxmlformats.org/officeDocument/2006/relationships/notesMaster" Target="/ppt/notesMasters/notesMaster1.xml" Id="R5433bf3460e74e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4087c70d9b41f8" /><Relationship Type="http://schemas.openxmlformats.org/officeDocument/2006/relationships/notesMaster" Target="/ppt/notesMasters/notesMaster1.xml" Id="R5610fe6ace2b4d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30bcbe15df4fc4" /><Relationship Type="http://schemas.openxmlformats.org/officeDocument/2006/relationships/notesMaster" Target="/ppt/notesMasters/notesMaster1.xml" Id="Red90f10cf70444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9eb9d7881f4d4f" /><Relationship Type="http://schemas.openxmlformats.org/officeDocument/2006/relationships/notesMaster" Target="/ppt/notesMasters/notesMaster1.xml" Id="R675e2ab33c624d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5d4ede071c4ba7" /><Relationship Type="http://schemas.openxmlformats.org/officeDocument/2006/relationships/notesMaster" Target="/ppt/notesMasters/notesMaster1.xml" Id="R747a047fd1a24e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81f6c7bd0a4d21" /><Relationship Type="http://schemas.openxmlformats.org/officeDocument/2006/relationships/notesMaster" Target="/ppt/notesMasters/notesMaster1.xml" Id="R6f856560803249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65d44ed3af439a" /><Relationship Type="http://schemas.openxmlformats.org/officeDocument/2006/relationships/notesMaster" Target="/ppt/notesMasters/notesMaster1.xml" Id="Rdef0b388fa3f40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047d3e55f94158" /><Relationship Type="http://schemas.openxmlformats.org/officeDocument/2006/relationships/notesMaster" Target="/ppt/notesMasters/notesMaster1.xml" Id="Rbcd64b660bc54f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1617808f504d4a" /><Relationship Type="http://schemas.openxmlformats.org/officeDocument/2006/relationships/notesMaster" Target="/ppt/notesMasters/notesMaster1.xml" Id="R9f5ebfcd612d4bc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d3628d12624a86" /><Relationship Type="http://schemas.openxmlformats.org/officeDocument/2006/relationships/notesMaster" Target="/ppt/notesMasters/notesMaster1.xml" Id="R2c8872423a7d42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28fc05587b49df" /><Relationship Type="http://schemas.openxmlformats.org/officeDocument/2006/relationships/notesMaster" Target="/ppt/notesMasters/notesMaster1.xml" Id="R8fcf9e7b17694d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开场先落到真实业务场景：合同生效前，产品经理还要重新阅读补充协议、梳理变更章节和填写内容。我们希望系统先把可复用的历史依据找出来，让人工确认更快、更稳。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这一页只讲现状，不急着讲技术。可以举例：一个补充协议涉及多个章节时，产品经理到了生效阶段还要重新打开文件，从头梳理一遍；事情并不复杂，但很耗时间，也容易因为时间间隔而遗漏。</a:t>
            </a:r>
          </a:p>
          <a:p xmlns:a="http://schemas.openxmlformats.org/drawingml/2006/main">
            <a:r>
              <a:t>需求说明书记录的产品经理反馈是：一个生效流程平均耗时 10 到 20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从现状自然过渡到方案：过去确认过的相似段落其实已经包含判断经验，系统先把这些经验找回来，产品经理只需要结合当前合同上下文确认或修正。</a:t>
            </a:r>
          </a:p>
          <a:p xmlns:a="http://schemas.openxmlformats.org/drawingml/2006/main">
            <a:r>
              <a:t>这里再引出技术实现：段落向量化、相似检索和多标签投票，都是为了把历史依据更快地摆到业务人员面前。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这里可以稍微讲技术，但用业务语言解释：Hash 是为了认出完全相同的段落，向量是为了比较表达相近的段落。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这一页把模型边界讲清楚。可以说：模型像一个语义翻译器，把文字翻译成可比较的数字；最后属于什么变更类型，仍由历史样本和规则共同决定。</a:t>
            </a:r>
          </a:p>
          <a:p xmlns:a="http://schemas.openxmlformats.org/drawingml/2006/main">
            <a:r>
              <a:t>请求关键字段：model=gen-studio-Qwen3-Embedding-8B，dimensions=1024，encoding_format=float。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强调这里的“索引”不是向量数据库索引，而是一份只读内存快照。数据库保存数据，JVM 负责快速使用数据。</a:t>
            </a:r>
          </a:p>
          <a:p xmlns:a="http://schemas.openxmlformats.org/drawingml/2006/main">
            <a:r>
              <a:t>当前快照包含历史向量列表和文本 Hash Map；AtomicReference 在新快照完整构建后整体切换。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这一页自然讲算法流程。不要一上来讲阈值，先讲为什么这样排顺序：省调用、可追溯、符合人的判断方式。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用这一组数字带着听众算一遍即可。相似度平方让更相似的样本影响更大，但不会让第一条样本直接决定结果。</a:t>
            </a:r>
          </a:p>
          <a:p xmlns:a="http://schemas.openxmlformats.org/drawingml/2006/main">
            <a:r>
              <a:t>分母是全部投票样本权重之和；多标签样本会同时支持多个类型，所以各类型 score 之和不一定等于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这一页面向业务解释输出等级。强相似兜底要说成候选参考，不要说成系统高置信。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技术选择要讲原因，不要像辩解。核心是第一版规模不大，先轻量落地，未来再按规模升级。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这里保留核心技术实现，但都加业务解释：1024 是成本和效果平衡，Oracle 是现有管理习惯，JVM 索引是简单快速。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这页适合技术和管理都听得懂：统一网关、安全、审计、敏感信息保护、模型版本隔离。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这是用户新增需求的核心页。讲法要自然：不是自动学习，而是有质量把关的经验沉淀。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演示时别硬念接口名。每一步都讲成一个业务动作，同时让技术同事看到数据确实落库、索引确实可观测。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最后不要声称准确率。自然讲：流程演示和效果评估是两件事，演示完成后还要用真实样本做验收。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《合同变更流程 - 变更章节自动解析功能业务需求说明书》业务背景与现状问题；项目 README、接口文档、Oracle 脚本。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75b76db424f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24c3d061364c6c" /><Relationship Type="http://schemas.openxmlformats.org/officeDocument/2006/relationships/slideLayout" Target="/ppt/slideLayouts/slideLayout1.xml" Id="R30a2d9ba883249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a2d9ba883249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3ab2bff8f458a" /><Relationship Type="http://schemas.openxmlformats.org/officeDocument/2006/relationships/notesSlide" Target="/ppt/notesSlides/notesSlide1.xml" Id="R02a4c0399809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deef528ded48cf" /><Relationship Type="http://schemas.openxmlformats.org/officeDocument/2006/relationships/notesSlide" Target="/ppt/notesSlides/notesSlide2.xml" Id="R7c8c991306fc41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2787fd1bf47d1" /><Relationship Type="http://schemas.openxmlformats.org/officeDocument/2006/relationships/notesSlide" Target="/ppt/notesSlides/notesSlide3.xml" Id="R6b370b1ec3984a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7937563f8437d" /><Relationship Type="http://schemas.openxmlformats.org/officeDocument/2006/relationships/notesSlide" Target="/ppt/notesSlides/notesSlide4.xml" Id="Rce4c2b61d9d544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345841d354a61" /><Relationship Type="http://schemas.openxmlformats.org/officeDocument/2006/relationships/notesSlide" Target="/ppt/notesSlides/notesSlide5.xml" Id="Rc0f7cd89bd85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9ef0880894169" /><Relationship Type="http://schemas.openxmlformats.org/officeDocument/2006/relationships/notesSlide" Target="/ppt/notesSlides/notesSlide6.xml" Id="Re02bb2e1a7ab4b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050c1a4a34629" /><Relationship Type="http://schemas.openxmlformats.org/officeDocument/2006/relationships/notesSlide" Target="/ppt/notesSlides/notesSlide7.xml" Id="R7651266d06a040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a40e227794065" /><Relationship Type="http://schemas.openxmlformats.org/officeDocument/2006/relationships/notesSlide" Target="/ppt/notesSlides/notesSlide8.xml" Id="Rc5fa9f0cfbb644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59dcaa6934d72" /><Relationship Type="http://schemas.openxmlformats.org/officeDocument/2006/relationships/notesSlide" Target="/ppt/notesSlides/notesSlide9.xml" Id="R040d78840de54e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482d8024c4fb8" /><Relationship Type="http://schemas.openxmlformats.org/officeDocument/2006/relationships/notesSlide" Target="/ppt/notesSlides/notesSlide10.xml" Id="Re74745bae00640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ec3384caa41e0" /><Relationship Type="http://schemas.openxmlformats.org/officeDocument/2006/relationships/notesSlide" Target="/ppt/notesSlides/notesSlide11.xml" Id="R367daf9d0a6a47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9d016fadd4628" /><Relationship Type="http://schemas.openxmlformats.org/officeDocument/2006/relationships/notesSlide" Target="/ppt/notesSlides/notesSlide12.xml" Id="R5bbb550776bc49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7cd634d594be9" /><Relationship Type="http://schemas.openxmlformats.org/officeDocument/2006/relationships/notesSlide" Target="/ppt/notesSlides/notesSlide13.xml" Id="R8031d0dba5344b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69f37180e4d3c" /><Relationship Type="http://schemas.openxmlformats.org/officeDocument/2006/relationships/notesSlide" Target="/ppt/notesSlides/notesSlide14.xml" Id="Rd5cc09eefd0d48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9201b44514c46" /><Relationship Type="http://schemas.openxmlformats.org/officeDocument/2006/relationships/notesSlide" Target="/ppt/notesSlides/notesSlide15.xml" Id="R4454b501143746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kicker">
            <a:extLst xmlns:a="http://schemas.openxmlformats.org/drawingml/2006/main">
              <a:ext uri="{FF2B5EF4-FFF2-40B4-BE49-F238E27FC236}">
                <a16:creationId xmlns:a16="http://schemas.microsoft.com/office/drawing/2014/main" id="{9A6B0839-AC1E-4A16-90B0-A7C11EC6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606E"/>
                </a:solidFill>
              </a:defRPr>
            </a:pPr>
            <a:r>
              <a:rPr sz="1350" b="1">
                <a:solidFill>
                  <a:srgbClr val="58606E"/>
                </a:solidFill>
              </a:rPr>
              <a:t>综合汇报版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704424C-4784-4CEB-9608-68849228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合同段落变更类型识别服务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DBDB8D75-4D4A-4DFB-85BD-6D5E6438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06E"/>
                </a:solidFill>
              </a:defRPr>
            </a:pPr>
            <a:r>
              <a:rPr sz="1800" b="0">
                <a:solidFill>
                  <a:srgbClr val="58606E"/>
                </a:solidFill>
              </a:rPr>
              <a:t>减少合同生效阶段的重复梳理，让历史判断经验真正复用起来</a:t>
            </a:r>
          </a:p>
        </p:txBody>
      </p:sp>
      <p:sp>
        <p:nvSpPr>
          <p:cNvPr id="4" name="cover-band">
            <a:extLst xmlns:a="http://schemas.openxmlformats.org/drawingml/2006/main">
              <a:ext uri="{FF2B5EF4-FFF2-40B4-BE49-F238E27FC236}">
                <a16:creationId xmlns:a16="http://schemas.microsoft.com/office/drawing/2014/main" id="{6DA281D1-5D6A-4160-BEE0-282A2E3C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9810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ver-band-text">
            <a:extLst xmlns:a="http://schemas.openxmlformats.org/drawingml/2006/main">
              <a:ext uri="{FF2B5EF4-FFF2-40B4-BE49-F238E27FC236}">
                <a16:creationId xmlns:a16="http://schemas.microsoft.com/office/drawing/2014/main" id="{C685CE86-9C36-475A-A454-12D96C87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系统先找出候选类型和历史依据，业务人员结合合同上下文做最终确认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42FFE16D-BB49-42F2-90FA-C27A6436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51492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57B3977F-3553-4F29-9340-7A03231D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AED0ECE-A53B-41D6-82CF-524EB10F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合同生效前，产品经理还要重新完成一遍变更梳理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3581F8F-3FF9-4FB6-B7EF-98F2C6B2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CE1BBB4C-4E86-4556-9E73-E3643BE2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E93E5CF4-E013-40AA-A209-7195FBB6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当前做法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643DA271-7F21-4617-922D-8D97EEBC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产品经理需要根据补充协议或定稿文件，重新判断本次涉及哪些合同章节，并逐项填写对应的变更内容。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CBA1ECF0-124C-43FE-9B3F-0CE600E6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C08B8DA8-64FB-4200-AD09-E88EED14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复杂场景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9908C38F-F166-41F1-ADAC-58602C23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份额拆分、合并、版本更新等变更可能涉及多个章节。人工逐项阅读和勾选耗时，也容易漏选或选错。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EF8B68DF-760D-43AE-9E2F-74EC25BD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43BE03EE-EB7E-4F47-96C7-C6DBFBD2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时间间隔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A62F9484-D5E0-4602-8C2E-DDF39F0A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定稿到实际生效可能相隔较久，业务人员需要重新打开材料、重新梳理；特殊的人工勾选也更容易被遗漏。</a:t>
            </a:r>
          </a:p>
        </p:txBody>
      </p:sp>
      <p:sp>
        <p:nvSpPr>
          <p:cNvPr id="13" name="note-box">
            <a:extLst xmlns:a="http://schemas.openxmlformats.org/drawingml/2006/main">
              <a:ext uri="{FF2B5EF4-FFF2-40B4-BE49-F238E27FC236}">
                <a16:creationId xmlns:a16="http://schemas.microsoft.com/office/drawing/2014/main" id="{80AE2FFF-5941-48F5-95C3-09EF6C50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14" name="note-text">
            <a:extLst xmlns:a="http://schemas.openxmlformats.org/drawingml/2006/main">
              <a:ext uri="{FF2B5EF4-FFF2-40B4-BE49-F238E27FC236}">
                <a16:creationId xmlns:a16="http://schemas.microsoft.com/office/drawing/2014/main" id="{BCE3F1E7-8043-453E-9664-712FD7B8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46300"/>
                </a:solidFill>
              </a:defRPr>
            </a:pPr>
            <a:r>
              <a:rPr sz="1575" b="1">
                <a:solidFill>
                  <a:srgbClr val="A46300"/>
                </a:solidFill>
              </a:rPr>
              <a:t>一个合同生效流程平均耗时约 10 到 20 分钟，主要是重复性的阅读、判断和填写。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B98032C2-0320-42AF-ABD9-CBA3FA46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5088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78CD75D5-0EE6-462A-A052-483EFBC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437B9D5-7DAC-4214-92F7-16F43D09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系统先整理候选依据，业务人员把精力放在最终确认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DFC2443F-C749-44D2-A36B-5925D957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674F7E4A-8BBA-4B3F-8B93-52B5C9C7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8DFD8243-5F2C-4F88-B1BE-AFA8834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1432948E-6CBC-4895-BF96-80A24F5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导入确认过的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历史样本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AEB19859-4683-48E8-AA82-49E5E25E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F39BCE1A-EF4B-41B2-86C8-19391ACA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F5B9CF34-0472-46B9-B346-58350EC0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生成段落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语义向量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C6A94B9E-1655-4071-AAD5-BD8491A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F58E2966-66F8-425B-9A5C-09CA406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77A72C85-F558-44BA-9C25-B773F7E8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0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保存到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Oracle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E71729ED-C53E-446F-B21C-25292C16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B0A3C586-260A-4C36-A1D5-FB09A8FD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92D1AA98-9D89-473E-8C47-9B90F9D4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加载到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内存索引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996CD538-A48C-4EDB-88A2-C68AF8E5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17F68A4C-2942-4F5B-84AA-1C2531B1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0BD6F69C-2A58-4215-905B-09220B2D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新段落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发起预测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53B9DEAA-771A-44EE-81DE-09C134F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num-5">
            <a:extLst xmlns:a="http://schemas.openxmlformats.org/drawingml/2006/main">
              <a:ext uri="{FF2B5EF4-FFF2-40B4-BE49-F238E27FC236}">
                <a16:creationId xmlns:a16="http://schemas.microsoft.com/office/drawing/2014/main" id="{9C270FE3-CB7A-4451-8F08-0E74C428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6</a:t>
            </a:r>
          </a:p>
        </p:txBody>
      </p:sp>
      <p:sp>
        <p:nvSpPr>
          <p:cNvPr id="21" name="step-text-5">
            <a:extLst xmlns:a="http://schemas.openxmlformats.org/drawingml/2006/main">
              <a:ext uri="{FF2B5EF4-FFF2-40B4-BE49-F238E27FC236}">
                <a16:creationId xmlns:a16="http://schemas.microsoft.com/office/drawing/2014/main" id="{CAA6A787-E0C9-4B2B-B396-77E2F578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返回类型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和参考依据</a:t>
            </a:r>
          </a:p>
        </p:txBody>
      </p:sp>
      <p:sp>
        <p:nvSpPr>
          <p:cNvPr id="22" name="explain">
            <a:extLst xmlns:a="http://schemas.openxmlformats.org/drawingml/2006/main">
              <a:ext uri="{FF2B5EF4-FFF2-40B4-BE49-F238E27FC236}">
                <a16:creationId xmlns:a16="http://schemas.microsoft.com/office/drawing/2014/main" id="{E7E166FD-3571-408D-A9C3-17661BCB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系统不替代产品经理做最终判断，而是先找出相似历史段落和候选类型，减少每次都从头梳理。</a:t>
            </a:r>
          </a:p>
        </p:txBody>
      </p:sp>
      <p:sp>
        <p:nvSpPr>
          <p:cNvPr id="23" name="note-box">
            <a:extLst xmlns:a="http://schemas.openxmlformats.org/drawingml/2006/main">
              <a:ext uri="{FF2B5EF4-FFF2-40B4-BE49-F238E27FC236}">
                <a16:creationId xmlns:a16="http://schemas.microsoft.com/office/drawing/2014/main" id="{ADCCEEED-05B3-470B-80D2-CA20876B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4" name="note-text">
            <a:extLst xmlns:a="http://schemas.openxmlformats.org/drawingml/2006/main">
              <a:ext uri="{FF2B5EF4-FFF2-40B4-BE49-F238E27FC236}">
                <a16:creationId xmlns:a16="http://schemas.microsoft.com/office/drawing/2014/main" id="{383A0006-2439-419B-8015-C7B135F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先减少重复工作，再通过人工确认守住业务准确性。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E671BC9A-FFC8-473E-BE85-FA009A5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35123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01EE5C4-B8EA-4C33-8120-E1CA7342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98856A1-B3E6-4BDA-90C2-D4102F5B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历史样本导入时，系统把段落变成可比较的知识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6F14BAA-9A6F-4659-9875-B5DDE173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85BD5F36-0693-4823-9EF9-178DB1A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41624315-C5C6-42C8-92F2-F73C07CB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Excel 输入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94C50FFB-FBC5-436A-AE0E-DFD107D4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每行是一段历史合同段落，以及人工确认过的一个或多个变更类型编码。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07B9B1FB-DB3D-472A-AE3C-5BE9696B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38DC8935-7A3E-42D0-8154-186290D1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文本处理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FEBD7346-F32A-4D7B-9D73-1E1287BB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系统会规范化文本并计算 Hash。完全相同的段落可以快速识别，也能避免重复沉淀。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A705CE20-BC4D-4ECB-8BDF-8CA2E083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114DE863-261E-4650-902D-56FB6572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向量生成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AF1B59CA-3007-4823-9A90-E59CDD74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调用公司统一 Embedding 网关，把段落转成 1024 维向量，再保存为历史样本。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502D801-AAAE-45C0-B6E7-8055411B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77950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846F1C7-4750-4EA0-ACEB-2B409AB4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5D5919-A84C-4CC6-9015-E22ABD97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模型只负责理解文字，不直接决定变更类型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7FAB44F-461C-491F-81AF-5C7DDC67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F9EA2056-5A86-4A91-9D23-95EBCCAC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7F749D86-423C-4D68-B151-A8AAA944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准备请求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3943DACE-11C8-47CA-BF00-30FF5BA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段落经过规范化后送往公司统一 Embedding 网关。请求携带业务 UserId，并明确指定模型、1024 维和 float 格式。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37A21671-F99B-4CCA-9926-B6F30CFB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10ADAE6D-9ABD-43A2-857C-9A9A1A3C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生成向量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29B44166-BB57-422D-81D7-ECF61BB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模型把一段文字转换成 1024 个浮点数。它表达的是段落语义位置，不会直接输出 20、25、43 这类业务编码。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B24F3D7D-A59F-4A9E-9474-CB5F4728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0CC6E642-DF41-424A-8471-B89BBCE8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校验结果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6EECB64C-A992-4E07-962C-C5267F3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服务会校验返回数量、顺序、维度和非法数值，再做 L2 归一化，让后续点积可以直接表示余弦相似度。</a:t>
            </a:r>
          </a:p>
        </p:txBody>
      </p:sp>
      <p:sp>
        <p:nvSpPr>
          <p:cNvPr id="13" name="note-box">
            <a:extLst xmlns:a="http://schemas.openxmlformats.org/drawingml/2006/main">
              <a:ext uri="{FF2B5EF4-FFF2-40B4-BE49-F238E27FC236}">
                <a16:creationId xmlns:a16="http://schemas.microsoft.com/office/drawing/2014/main" id="{B9D10F50-E736-4287-8666-ABF9CF89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14" name="note-text">
            <a:extLst xmlns:a="http://schemas.openxmlformats.org/drawingml/2006/main">
              <a:ext uri="{FF2B5EF4-FFF2-40B4-BE49-F238E27FC236}">
                <a16:creationId xmlns:a16="http://schemas.microsoft.com/office/drawing/2014/main" id="{C9FC4751-45E5-45C7-9D87-06F97BCA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模型解决“文字怎样比较”，业务类型仍由历史证据和投票规则决定。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39FA156-AD22-4F7E-B971-9457D48E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03075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C3A16F55-C594-4464-A35B-E93072BC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A275E4-23C7-4B64-B39B-B4E6B06C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向量入库后，查询依靠一份完整、稳定的内存快照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97377B1-6A1D-43B5-90AD-7728CE01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BEE2F2E5-2FD8-4A15-8C43-AF35F542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7A5BDE3A-5A5D-4588-9252-1231587C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6F5013AE-3F10-4834-AA01-A7B75A60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Oracle 保存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历史知识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8CA70347-B12C-4BA2-AD56-70FE59FD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C42B307B-AC7B-4DDF-A680-352EA9B5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04A3F87B-598A-4EF3-B88B-0F931B8C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读取当前模型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有效样本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12FC2AF9-7F73-4634-A901-759DCB3C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A7FDEACD-8067-4F0A-84BD-9B3F4E3B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2AAF574C-DD88-427E-A9E9-D0775EA2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BLOB 还原为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float[1024]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FB0580DC-64B2-4C9A-9B19-E42A30E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6136C7FA-3387-4B68-A9C4-914A41F1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57AA919-C164-472F-9929-34C7E0CD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构建列表和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Hash 查找表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D3B11DD9-EDD9-468C-9B03-3A28F2C9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2057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84D6A85F-308F-45CE-9E25-8D1CFCC7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7ED567C4-1F21-4252-931D-2F845439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0505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完整后一次性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替换旧快照</a:t>
            </a:r>
          </a:p>
        </p:txBody>
      </p:sp>
      <p:sp>
        <p:nvSpPr>
          <p:cNvPr id="19" name="dot-0">
            <a:extLst xmlns:a="http://schemas.openxmlformats.org/drawingml/2006/main">
              <a:ext uri="{FF2B5EF4-FFF2-40B4-BE49-F238E27FC236}">
                <a16:creationId xmlns:a16="http://schemas.microsoft.com/office/drawing/2014/main" id="{0AE9B9B2-47A8-48EC-8F9B-5256AE87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0" name="bullet-0">
            <a:extLst xmlns:a="http://schemas.openxmlformats.org/drawingml/2006/main">
              <a:ext uri="{FF2B5EF4-FFF2-40B4-BE49-F238E27FC236}">
                <a16:creationId xmlns:a16="http://schemas.microsoft.com/office/drawing/2014/main" id="{114E53DC-9957-4B46-A63B-BDEA8C6B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Oracle 负责持久保存，服务重启后知识仍然存在</a:t>
            </a:r>
          </a:p>
        </p:txBody>
      </p:sp>
      <p:sp>
        <p:nvSpPr>
          <p:cNvPr id="21" name="dot-1">
            <a:extLst xmlns:a="http://schemas.openxmlformats.org/drawingml/2006/main">
              <a:ext uri="{FF2B5EF4-FFF2-40B4-BE49-F238E27FC236}">
                <a16:creationId xmlns:a16="http://schemas.microsoft.com/office/drawing/2014/main" id="{27B570E8-AF2D-4F95-8181-B6C4AC22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2" name="bullet-1">
            <a:extLst xmlns:a="http://schemas.openxmlformats.org/drawingml/2006/main">
              <a:ext uri="{FF2B5EF4-FFF2-40B4-BE49-F238E27FC236}">
                <a16:creationId xmlns:a16="http://schemas.microsoft.com/office/drawing/2014/main" id="{0FBBCD54-23D3-4069-8981-0AF8DF99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2435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Hash 查找表处理完全相同段落，向量列表处理语义相似段落</a:t>
            </a:r>
          </a:p>
        </p:txBody>
      </p:sp>
      <p:sp>
        <p:nvSpPr>
          <p:cNvPr id="23" name="dot-2">
            <a:extLst xmlns:a="http://schemas.openxmlformats.org/drawingml/2006/main">
              <a:ext uri="{FF2B5EF4-FFF2-40B4-BE49-F238E27FC236}">
                <a16:creationId xmlns:a16="http://schemas.microsoft.com/office/drawing/2014/main" id="{4FBCBCE1-540A-4D4A-A705-6FD5D419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4" name="bullet-2">
            <a:extLst xmlns:a="http://schemas.openxmlformats.org/drawingml/2006/main">
              <a:ext uri="{FF2B5EF4-FFF2-40B4-BE49-F238E27FC236}">
                <a16:creationId xmlns:a16="http://schemas.microsoft.com/office/drawing/2014/main" id="{C7F2A3E4-C765-4823-BC49-A2D892D9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19650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重新加载期间继续使用旧快照，避免预测请求读到一半数据</a:t>
            </a:r>
          </a:p>
        </p:txBody>
      </p:sp>
      <p:sp>
        <p:nvSpPr>
          <p:cNvPr id="25" name="note-box">
            <a:extLst xmlns:a="http://schemas.openxmlformats.org/drawingml/2006/main">
              <a:ext uri="{FF2B5EF4-FFF2-40B4-BE49-F238E27FC236}">
                <a16:creationId xmlns:a16="http://schemas.microsoft.com/office/drawing/2014/main" id="{6A772BBC-E0C1-4B5E-B391-4AA93EBC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6" name="note-text">
            <a:extLst xmlns:a="http://schemas.openxmlformats.org/drawingml/2006/main">
              <a:ext uri="{FF2B5EF4-FFF2-40B4-BE49-F238E27FC236}">
                <a16:creationId xmlns:a16="http://schemas.microsoft.com/office/drawing/2014/main" id="{C2DD29AD-3D92-4406-A57D-572A0450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816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可以把 Oracle 理解为知识仓库，把 JVM 快照理解为预测时的工作台。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4D79330A-2C80-47D6-86A3-9B6180E5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68405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2DA046FE-1171-4F78-9949-9B4ECE64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182BB9-1D2C-4D7D-90CD-56530960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预测时，先找完全相同，再找语义相近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DCCCDAB-CB08-4A2E-82CD-34C00403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7CA798A6-2C2C-42CE-9E38-D7C1E06C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5B520ABE-7116-4AF5-BDC5-ABBAA53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491E2A44-4494-4C12-AF50-9DA46A22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新段落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规范化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11849E20-A59E-415E-82E0-257C15ED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98245DB3-1AEA-4891-BF3A-CF906EF3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DA7E8818-4157-4CDA-AFAA-FD0D374D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Hash 精确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命中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F4043A70-D05E-4C56-A149-552852D8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320F0A8C-8D29-4C0A-9463-494370A7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7C0F0C90-9232-4A09-8E66-CB3EEA96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0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未命中才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调用模型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56DE4CEE-9B35-40C5-9B36-34581B68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A4876672-667F-4E21-A441-0756F96E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5E4CAF51-E29D-407A-A7AE-CBEAB4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找 Top 10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相似样本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D4AE2A74-3D21-4C2C-B2BB-581FB405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1D6AF9D9-D5EB-4F4E-A371-65E588CE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37F00F19-67CC-462A-914A-C6DAA19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按相似度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加权投票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FB2E31C0-60F4-41F4-823F-A7552325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num-5">
            <a:extLst xmlns:a="http://schemas.openxmlformats.org/drawingml/2006/main">
              <a:ext uri="{FF2B5EF4-FFF2-40B4-BE49-F238E27FC236}">
                <a16:creationId xmlns:a16="http://schemas.microsoft.com/office/drawing/2014/main" id="{6FCB200D-B651-4B04-A5D4-48134A91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6</a:t>
            </a:r>
          </a:p>
        </p:txBody>
      </p:sp>
      <p:sp>
        <p:nvSpPr>
          <p:cNvPr id="21" name="step-text-5">
            <a:extLst xmlns:a="http://schemas.openxmlformats.org/drawingml/2006/main">
              <a:ext uri="{FF2B5EF4-FFF2-40B4-BE49-F238E27FC236}">
                <a16:creationId xmlns:a16="http://schemas.microsoft.com/office/drawing/2014/main" id="{EAE0EB8E-510A-47E0-92E8-5E3CD2CB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输出候选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变更类型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D25A9EFC-6C3E-467A-A1E9-BC83EFA9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这套顺序的好处是：能精确复用的先复用，需要语义判断时再调用模型，结果也能追溯到历史参考段落。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316612B8-E7C5-4E5A-BF2B-2A719BA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597405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46A53C45-DAF8-4E7E-BEE2-36A29F0D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DD52B0-809D-4F64-948C-F0A43310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投票不是只看第一条，而是看相似证据能否形成共识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9253464-5187-4E1D-8572-FF2450F2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evidence-head">
            <a:extLst xmlns:a="http://schemas.openxmlformats.org/drawingml/2006/main">
              <a:ext uri="{FF2B5EF4-FFF2-40B4-BE49-F238E27FC236}">
                <a16:creationId xmlns:a16="http://schemas.microsoft.com/office/drawing/2014/main" id="{C8A33416-C567-4B42-AE72-FD9006D5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进入投票的历史证据（简化示例）</a:t>
            </a:r>
          </a:p>
        </p:txBody>
      </p:sp>
      <p:sp>
        <p:nvSpPr>
          <p:cNvPr id="5" name="vote-row-0">
            <a:extLst xmlns:a="http://schemas.openxmlformats.org/drawingml/2006/main">
              <a:ext uri="{FF2B5EF4-FFF2-40B4-BE49-F238E27FC236}">
                <a16:creationId xmlns:a16="http://schemas.microsoft.com/office/drawing/2014/main" id="{EBC58116-242F-499C-9823-DDFDCD54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vote-name-0">
            <a:extLst xmlns:a="http://schemas.openxmlformats.org/drawingml/2006/main">
              <a:ext uri="{FF2B5EF4-FFF2-40B4-BE49-F238E27FC236}">
                <a16:creationId xmlns:a16="http://schemas.microsoft.com/office/drawing/2014/main" id="{1D61EDD8-9E4E-443B-B5F2-6C270567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样本 A</a:t>
            </a:r>
          </a:p>
        </p:txBody>
      </p:sp>
      <p:sp>
        <p:nvSpPr>
          <p:cNvPr id="7" name="vote-sim-0">
            <a:extLst xmlns:a="http://schemas.openxmlformats.org/drawingml/2006/main">
              <a:ext uri="{FF2B5EF4-FFF2-40B4-BE49-F238E27FC236}">
                <a16:creationId xmlns:a16="http://schemas.microsoft.com/office/drawing/2014/main" id="{8AF1929A-FA4F-4C03-B602-9D05D6A0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86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similarity 0.90</a:t>
            </a:r>
          </a:p>
        </p:txBody>
      </p:sp>
      <p:sp>
        <p:nvSpPr>
          <p:cNvPr id="8" name="vote-weight-0">
            <a:extLst xmlns:a="http://schemas.openxmlformats.org/drawingml/2006/main">
              <a:ext uri="{FF2B5EF4-FFF2-40B4-BE49-F238E27FC236}">
                <a16:creationId xmlns:a16="http://schemas.microsoft.com/office/drawing/2014/main" id="{CD3169D5-71F2-46CF-A97E-D99FB217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权重 0.90² = 0.81</a:t>
            </a:r>
          </a:p>
        </p:txBody>
      </p:sp>
      <p:sp>
        <p:nvSpPr>
          <p:cNvPr id="9" name="vote-code-0">
            <a:extLst xmlns:a="http://schemas.openxmlformats.org/drawingml/2006/main">
              <a:ext uri="{FF2B5EF4-FFF2-40B4-BE49-F238E27FC236}">
                <a16:creationId xmlns:a16="http://schemas.microsoft.com/office/drawing/2014/main" id="{D4B53118-464D-4E24-98DB-3DB9F1EF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860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类型 20、25</a:t>
            </a:r>
          </a:p>
        </p:txBody>
      </p:sp>
      <p:sp>
        <p:nvSpPr>
          <p:cNvPr id="10" name="vote-row-1">
            <a:extLst xmlns:a="http://schemas.openxmlformats.org/drawingml/2006/main">
              <a:ext uri="{FF2B5EF4-FFF2-40B4-BE49-F238E27FC236}">
                <a16:creationId xmlns:a16="http://schemas.microsoft.com/office/drawing/2014/main" id="{853B7634-18A7-4D5A-8C4E-C3440F77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vote-name-1">
            <a:extLst xmlns:a="http://schemas.openxmlformats.org/drawingml/2006/main">
              <a:ext uri="{FF2B5EF4-FFF2-40B4-BE49-F238E27FC236}">
                <a16:creationId xmlns:a16="http://schemas.microsoft.com/office/drawing/2014/main" id="{E03D0702-E28A-4953-904F-898F4942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样本 B</a:t>
            </a:r>
          </a:p>
        </p:txBody>
      </p:sp>
      <p:sp>
        <p:nvSpPr>
          <p:cNvPr id="12" name="vote-sim-1">
            <a:extLst xmlns:a="http://schemas.openxmlformats.org/drawingml/2006/main">
              <a:ext uri="{FF2B5EF4-FFF2-40B4-BE49-F238E27FC236}">
                <a16:creationId xmlns:a16="http://schemas.microsoft.com/office/drawing/2014/main" id="{55B1EC30-7F09-4138-AE8C-493A57D8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67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similarity 0.80</a:t>
            </a:r>
          </a:p>
        </p:txBody>
      </p:sp>
      <p:sp>
        <p:nvSpPr>
          <p:cNvPr id="13" name="vote-weight-1">
            <a:extLst xmlns:a="http://schemas.openxmlformats.org/drawingml/2006/main">
              <a:ext uri="{FF2B5EF4-FFF2-40B4-BE49-F238E27FC236}">
                <a16:creationId xmlns:a16="http://schemas.microsoft.com/office/drawing/2014/main" id="{7D266DD2-BCC0-46EA-ACFD-FD933D4A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671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权重 0.80² = 0.64</a:t>
            </a:r>
          </a:p>
        </p:txBody>
      </p:sp>
      <p:sp>
        <p:nvSpPr>
          <p:cNvPr id="14" name="vote-code-1">
            <a:extLst xmlns:a="http://schemas.openxmlformats.org/drawingml/2006/main">
              <a:ext uri="{FF2B5EF4-FFF2-40B4-BE49-F238E27FC236}">
                <a16:creationId xmlns:a16="http://schemas.microsoft.com/office/drawing/2014/main" id="{E69B66AF-5023-4DB1-929D-DC23D75F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类型 20</a:t>
            </a:r>
          </a:p>
        </p:txBody>
      </p:sp>
      <p:sp>
        <p:nvSpPr>
          <p:cNvPr id="15" name="vote-row-2">
            <a:extLst xmlns:a="http://schemas.openxmlformats.org/drawingml/2006/main">
              <a:ext uri="{FF2B5EF4-FFF2-40B4-BE49-F238E27FC236}">
                <a16:creationId xmlns:a16="http://schemas.microsoft.com/office/drawing/2014/main" id="{FFA35A94-386B-4DDB-B659-4293533C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581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6" name="vote-name-2">
            <a:extLst xmlns:a="http://schemas.openxmlformats.org/drawingml/2006/main">
              <a:ext uri="{FF2B5EF4-FFF2-40B4-BE49-F238E27FC236}">
                <a16:creationId xmlns:a16="http://schemas.microsoft.com/office/drawing/2014/main" id="{9E96D2F5-6C39-4D99-A0C8-3560ABFD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样本 C</a:t>
            </a:r>
          </a:p>
        </p:txBody>
      </p:sp>
      <p:sp>
        <p:nvSpPr>
          <p:cNvPr id="17" name="vote-sim-2">
            <a:extLst xmlns:a="http://schemas.openxmlformats.org/drawingml/2006/main">
              <a:ext uri="{FF2B5EF4-FFF2-40B4-BE49-F238E27FC236}">
                <a16:creationId xmlns:a16="http://schemas.microsoft.com/office/drawing/2014/main" id="{A35033B7-E675-4FC9-839E-26CD1B44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similarity 0.70</a:t>
            </a:r>
          </a:p>
        </p:txBody>
      </p:sp>
      <p:sp>
        <p:nvSpPr>
          <p:cNvPr id="18" name="vote-weight-2">
            <a:extLst xmlns:a="http://schemas.openxmlformats.org/drawingml/2006/main">
              <a:ext uri="{FF2B5EF4-FFF2-40B4-BE49-F238E27FC236}">
                <a16:creationId xmlns:a16="http://schemas.microsoft.com/office/drawing/2014/main" id="{8E886406-BB94-4712-9842-5D5C039E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48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权重 0.70² = 0.49</a:t>
            </a:r>
          </a:p>
        </p:txBody>
      </p:sp>
      <p:sp>
        <p:nvSpPr>
          <p:cNvPr id="19" name="vote-code-2">
            <a:extLst xmlns:a="http://schemas.openxmlformats.org/drawingml/2006/main">
              <a:ext uri="{FF2B5EF4-FFF2-40B4-BE49-F238E27FC236}">
                <a16:creationId xmlns:a16="http://schemas.microsoft.com/office/drawing/2014/main" id="{63F04993-B7C7-4351-9EED-0B547112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481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类型 28</a:t>
            </a:r>
          </a:p>
        </p:txBody>
      </p:sp>
      <p:sp>
        <p:nvSpPr>
          <p:cNvPr id="20" name="score-panel">
            <a:extLst xmlns:a="http://schemas.openxmlformats.org/drawingml/2006/main">
              <a:ext uri="{FF2B5EF4-FFF2-40B4-BE49-F238E27FC236}">
                <a16:creationId xmlns:a16="http://schemas.microsoft.com/office/drawing/2014/main" id="{64F75408-4EB6-40F1-A82B-82578A39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38350"/>
            <a:ext cx="45529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score-head">
            <a:extLst xmlns:a="http://schemas.openxmlformats.org/drawingml/2006/main">
              <a:ext uri="{FF2B5EF4-FFF2-40B4-BE49-F238E27FC236}">
                <a16:creationId xmlns:a16="http://schemas.microsoft.com/office/drawing/2014/main" id="{61F7E47A-5740-40E7-970A-90A9A0F9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5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类型 20 的证据得分</a:t>
            </a:r>
          </a:p>
        </p:txBody>
      </p:sp>
      <p:sp>
        <p:nvSpPr>
          <p:cNvPr id="22" name="score-formula-1">
            <a:extLst xmlns:a="http://schemas.openxmlformats.org/drawingml/2006/main">
              <a:ext uri="{FF2B5EF4-FFF2-40B4-BE49-F238E27FC236}">
                <a16:creationId xmlns:a16="http://schemas.microsoft.com/office/drawing/2014/main" id="{0D1FAFF5-6CA6-4395-906D-80CA7AAD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总权重 = 0.81 + 0.64 + 0.49 = 1.94</a:t>
            </a:r>
          </a:p>
        </p:txBody>
      </p:sp>
      <p:sp>
        <p:nvSpPr>
          <p:cNvPr id="23" name="score-formula-2">
            <a:extLst xmlns:a="http://schemas.openxmlformats.org/drawingml/2006/main">
              <a:ext uri="{FF2B5EF4-FFF2-40B4-BE49-F238E27FC236}">
                <a16:creationId xmlns:a16="http://schemas.microsoft.com/office/drawing/2014/main" id="{39D019D2-1EDB-443B-841E-403BB301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9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类型20权重 = 0.81 + 0.64 = 1.45</a:t>
            </a:r>
          </a:p>
        </p:txBody>
      </p:sp>
      <p:sp>
        <p:nvSpPr>
          <p:cNvPr id="24" name="score-result">
            <a:extLst xmlns:a="http://schemas.openxmlformats.org/drawingml/2006/main">
              <a:ext uri="{FF2B5EF4-FFF2-40B4-BE49-F238E27FC236}">
                <a16:creationId xmlns:a16="http://schemas.microsoft.com/office/drawing/2014/main" id="{31179CF4-8466-4414-BB9B-0ED2A178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8A5A"/>
                </a:solidFill>
              </a:defRPr>
            </a:pPr>
            <a:r>
              <a:rPr sz="1800" b="1">
                <a:solidFill>
                  <a:srgbClr val="1B8A5A"/>
                </a:solidFill>
              </a:rPr>
              <a:t>score = 1.45 / 1.94 = 0.7474</a:t>
            </a:r>
          </a:p>
        </p:txBody>
      </p:sp>
      <p:sp>
        <p:nvSpPr>
          <p:cNvPr id="25" name="score-support">
            <a:extLst xmlns:a="http://schemas.openxmlformats.org/drawingml/2006/main">
              <a:ext uri="{FF2B5EF4-FFF2-40B4-BE49-F238E27FC236}">
                <a16:creationId xmlns:a16="http://schemas.microsoft.com/office/drawing/2014/main" id="{4288AC4A-2414-43AB-90E0-10A17E82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supportCount = 2  →  CANDIDATE</a:t>
            </a:r>
          </a:p>
        </p:txBody>
      </p:sp>
      <p:sp>
        <p:nvSpPr>
          <p:cNvPr id="26" name="note-box">
            <a:extLst xmlns:a="http://schemas.openxmlformats.org/drawingml/2006/main">
              <a:ext uri="{FF2B5EF4-FFF2-40B4-BE49-F238E27FC236}">
                <a16:creationId xmlns:a16="http://schemas.microsoft.com/office/drawing/2014/main" id="{5B275F9D-8297-4EBD-9B64-BDDBF2FE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7" name="note-text">
            <a:extLst xmlns:a="http://schemas.openxmlformats.org/drawingml/2006/main">
              <a:ext uri="{FF2B5EF4-FFF2-40B4-BE49-F238E27FC236}">
                <a16:creationId xmlns:a16="http://schemas.microsoft.com/office/drawing/2014/main" id="{8A80EC59-B330-4728-B127-EE33CD54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292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similarity 是两段文字有多像；score 是历史证据对某个类型的综合支持度。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1383A26F-F9F1-4804-ADC1-0A7A6A32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26231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B2B639E1-B6A3-4125-BE0A-F8A5184C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4ADC70A-E9FE-491A-AF39-25CD276C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HIGH 和 CANDIDATE 对应不同的业务使用方式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53A15D-7FDA-4D94-ADBE-6FA5C42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30C2A923-FE52-4086-8736-C13F5533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E05A4C54-3382-45AE-B682-3CADF366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HIGH：相似历史证据比较集中，可以作为优先判断方向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95F6A7DA-7D1A-4947-B20F-8049466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B9593920-A630-4EDE-A57C-45F69113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9557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CANDIDATE：有参考价值，但需要结合合同上下文再确认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56B4096D-30BA-413A-A5AC-EB2BB169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72FDC87B-9972-4009-BAAA-47A1CD37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4802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强相似兜底：如果第一条历史段落非常像，即使投票不集中，也先作为候选给业务参考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92763775-71B3-45FB-92BA-F626185C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14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836322DD-08CB-4909-9F79-55CE9FF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00475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NO_RELIABLE_MATCH：知识库里没有足够依据时，不强行给结论</a:t>
            </a:r>
          </a:p>
        </p:txBody>
      </p:sp>
      <p:sp>
        <p:nvSpPr>
          <p:cNvPr id="12" name="note-box">
            <a:extLst xmlns:a="http://schemas.openxmlformats.org/drawingml/2006/main">
              <a:ext uri="{FF2B5EF4-FFF2-40B4-BE49-F238E27FC236}">
                <a16:creationId xmlns:a16="http://schemas.microsoft.com/office/drawing/2014/main" id="{03BE0F13-722B-4858-BA0A-73EB086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13" name="note-text">
            <a:extLst xmlns:a="http://schemas.openxmlformats.org/drawingml/2006/main">
              <a:ext uri="{FF2B5EF4-FFF2-40B4-BE49-F238E27FC236}">
                <a16:creationId xmlns:a16="http://schemas.microsoft.com/office/drawing/2014/main" id="{C631EDF0-5951-4D8D-A7BB-1F004A0A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这不是替代人工，而是把“可参考依据”提前摆出来。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D803C1B3-C79E-4B6F-AC1B-25F5BCB6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00280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2780089B-C51F-4509-A84B-C62B9E18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4F52C1-B0B7-4D4E-9C30-DC717638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为什么第一版不引入向量数据库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5E4B38-33BE-489D-94CA-293A7AB2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00897F4E-14FC-4E03-8C61-817A379D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FCC0CCD8-5CEA-4175-B5C0-3C5B0BB8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样本规模可控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3D47A999-DF35-45A2-BBF9-C16F81BC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第一版最多约 1 万条历史样本。这个规模下，Java 内存里直接比较向量就能满足使用。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3D42370D-FEF2-40B3-B811-52533A4C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D3CBE251-8B82-4140-B0D7-D78FAB0B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部署更轻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589DF5AC-9EB6-4400-AC3F-AAE0949F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少引入一个中间组件，测试、部署、权限、备份和排障都会简单不少。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F586D9EF-21AF-43DE-BC6D-DC3D85AC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A6902347-B8D8-45A9-B2BD-5F61672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后续可扩展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1C511FCB-4FE4-440D-A053-0B5C1781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如果以后样本量明显变大，或多实例检索压力上来，再评估专门的向量检索组件更合适。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C2ACDD4-94EB-4921-A57D-D374AC5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033532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05CCD999-5037-48D2-AE97-A6282D28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3D7366-35F4-40F6-95A5-3A1D604F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1024 维和 Oracle + JVM，是当前规模下的平衡选择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C9496F5-6444-4989-A0B2-9BABF9EF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6457EC62-C8E1-4853-9029-31755879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DD0037B2-21D3-4B71-9FF5-ACC2F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1024 维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033D9A4B-418F-447F-95D9-D822ABF3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统一模型默认能力更大，但本项目固定请求 1024 维。对当前场景来说，表达能力够用，也能降低存储和计算压力。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2C136DA1-024E-476D-B01A-91EF773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E7EF2D9C-CE14-405A-8471-0487479D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Oracle 保存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BF566A3C-0468-48B3-9EE6-DE8F93CD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历史段落、类型、Hash、模型版本和向量都落在 Oracle，便于和现有系统管理方式保持一致。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56BB020F-DAFC-4500-9C9D-37DA36F1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45943D3E-8031-42AC-86C8-6B11E1D1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JVM 索引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ABC4CA68-7F7F-4206-82F3-A95C5114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服务启动或重载时，把当前有效样本加载成只读索引。查询时读稳定快照，导入后再整体刷新。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54F8FD0-DFDC-4DDD-9E45-FB3C6D73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59350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6EBF2894-F9FD-4AAF-BA1C-628FEB00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564B24-9B50-4C99-AF58-721CFA6D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模型网关和安全边界按企业接入方式处理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5E4C08A-FC7C-4256-9437-16BAC0C5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0AC387BF-224F-4529-B1DE-D686AFA8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3919B542-5B74-4321-914F-336C5BCB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Embedding 调用走公司统一模型网关，不在本服务里自建模型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56B83675-0DEA-4262-99A3-2B715790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8BD97F1B-5D82-4701-9AC3-D87B2984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请求会携带业务 UserId 给模型平台审计，但服务侧不保存、不输出日志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9EB21303-79FC-49B0-9621-EEF71A2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665AE1A4-1686-4509-B4E1-21649BDA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API Key 只通过环境变量提供，不进入代码、Git 或演示材料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4A9A6FC0-7BCB-41BC-A016-5ECEF05D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22A46159-5613-4BC9-83F6-96CA6A76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日志只保留必要的数量、状态和耗时，不打印合同正文和向量</a:t>
            </a:r>
          </a:p>
        </p:txBody>
      </p:sp>
      <p:sp>
        <p:nvSpPr>
          <p:cNvPr id="12" name="dot-4">
            <a:extLst xmlns:a="http://schemas.openxmlformats.org/drawingml/2006/main">
              <a:ext uri="{FF2B5EF4-FFF2-40B4-BE49-F238E27FC236}">
                <a16:creationId xmlns:a16="http://schemas.microsoft.com/office/drawing/2014/main" id="{40721180-9C1F-4E5B-9C0D-EF3B609C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288A4A8E-AA75-4BE5-A77E-687A3E2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模型版本和向量维度会记录下来，避免新旧模型结果混在一起使用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A5770606-CAE6-4B90-A556-3E6B5011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03584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3356BBCA-BD70-48EF-B345-E05F5750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21CFE7-5AD0-48E2-8A4D-E79572E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知识库完善要走人工确认，避免错误经验被反复引用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B9121E4-59B3-4D7B-B50E-277D663A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4D90F893-CBD3-4AC6-9088-509AF103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num-0">
            <a:extLst xmlns:a="http://schemas.openxmlformats.org/drawingml/2006/main">
              <a:ext uri="{FF2B5EF4-FFF2-40B4-BE49-F238E27FC236}">
                <a16:creationId xmlns:a16="http://schemas.microsoft.com/office/drawing/2014/main" id="{F6A04599-DD3A-4FBB-92B6-11741CB4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6" name="step-text-0">
            <a:extLst xmlns:a="http://schemas.openxmlformats.org/drawingml/2006/main">
              <a:ext uri="{FF2B5EF4-FFF2-40B4-BE49-F238E27FC236}">
                <a16:creationId xmlns:a16="http://schemas.microsoft.com/office/drawing/2014/main" id="{7C00ECC3-3BE1-465F-B491-29D5E0DD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文档比对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发现新段落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66BE105A-C737-4A1F-AEAA-19CF1C1A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4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18385135-2BEA-4AD7-9687-C0F52216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9" name="step-text-1">
            <a:extLst xmlns:a="http://schemas.openxmlformats.org/drawingml/2006/main">
              <a:ext uri="{FF2B5EF4-FFF2-40B4-BE49-F238E27FC236}">
                <a16:creationId xmlns:a16="http://schemas.microsoft.com/office/drawing/2014/main" id="{68039759-FD94-49E6-A1B1-6993D24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6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系统给出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候选类型</a:t>
            </a:r>
          </a:p>
        </p:txBody>
      </p:sp>
      <p:sp>
        <p:nvSpPr>
          <p:cNvPr id="10" name="step-2">
            <a:extLst xmlns:a="http://schemas.openxmlformats.org/drawingml/2006/main">
              <a:ext uri="{FF2B5EF4-FFF2-40B4-BE49-F238E27FC236}">
                <a16:creationId xmlns:a16="http://schemas.microsoft.com/office/drawing/2014/main" id="{F2C36E67-B62C-46BC-8A04-B86F1BA1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num-2">
            <a:extLst xmlns:a="http://schemas.openxmlformats.org/drawingml/2006/main">
              <a:ext uri="{FF2B5EF4-FFF2-40B4-BE49-F238E27FC236}">
                <a16:creationId xmlns:a16="http://schemas.microsoft.com/office/drawing/2014/main" id="{B2A91403-3DE8-4571-BC23-F827B21D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45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2" name="step-text-2">
            <a:extLst xmlns:a="http://schemas.openxmlformats.org/drawingml/2006/main">
              <a:ext uri="{FF2B5EF4-FFF2-40B4-BE49-F238E27FC236}">
                <a16:creationId xmlns:a16="http://schemas.microsoft.com/office/drawing/2014/main" id="{7CBBE50F-76C6-4C62-BE37-5CADEC76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30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业务人员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确认或修正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EEE62AEC-F6A5-41C2-9046-6E63B544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num-3">
            <a:extLst xmlns:a="http://schemas.openxmlformats.org/drawingml/2006/main">
              <a:ext uri="{FF2B5EF4-FFF2-40B4-BE49-F238E27FC236}">
                <a16:creationId xmlns:a16="http://schemas.microsoft.com/office/drawing/2014/main" id="{DEE7A5C1-CFEB-4048-9F8B-118ACBB4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15" name="step-text-3">
            <a:extLst xmlns:a="http://schemas.openxmlformats.org/drawingml/2006/main">
              <a:ext uri="{FF2B5EF4-FFF2-40B4-BE49-F238E27FC236}">
                <a16:creationId xmlns:a16="http://schemas.microsoft.com/office/drawing/2014/main" id="{2971164F-B1E1-43F7-BB76-B10DA852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整理为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历史样本</a:t>
            </a:r>
          </a:p>
        </p:txBody>
      </p:sp>
      <p:sp>
        <p:nvSpPr>
          <p:cNvPr id="16" name="step-4">
            <a:extLst xmlns:a="http://schemas.openxmlformats.org/drawingml/2006/main">
              <a:ext uri="{FF2B5EF4-FFF2-40B4-BE49-F238E27FC236}">
                <a16:creationId xmlns:a16="http://schemas.microsoft.com/office/drawing/2014/main" id="{0204FB27-BA87-459A-92B8-22926C35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num-4">
            <a:extLst xmlns:a="http://schemas.openxmlformats.org/drawingml/2006/main">
              <a:ext uri="{FF2B5EF4-FFF2-40B4-BE49-F238E27FC236}">
                <a16:creationId xmlns:a16="http://schemas.microsoft.com/office/drawing/2014/main" id="{9B62967E-F4AD-4DCC-A024-959C1C2E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5</a:t>
            </a:r>
          </a:p>
        </p:txBody>
      </p:sp>
      <p:sp>
        <p:nvSpPr>
          <p:cNvPr id="18" name="step-text-4">
            <a:extLst xmlns:a="http://schemas.openxmlformats.org/drawingml/2006/main">
              <a:ext uri="{FF2B5EF4-FFF2-40B4-BE49-F238E27FC236}">
                <a16:creationId xmlns:a16="http://schemas.microsoft.com/office/drawing/2014/main" id="{910AB711-908A-45AC-A31D-8AA5A316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0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导入知识库</a:t>
            </a:r>
          </a:p>
        </p:txBody>
      </p:sp>
      <p:sp>
        <p:nvSpPr>
          <p:cNvPr id="19" name="step-5">
            <a:extLst xmlns:a="http://schemas.openxmlformats.org/drawingml/2006/main">
              <a:ext uri="{FF2B5EF4-FFF2-40B4-BE49-F238E27FC236}">
                <a16:creationId xmlns:a16="http://schemas.microsoft.com/office/drawing/2014/main" id="{DF8957CC-9B4D-4EB3-A32A-3D32BDFA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925" y="2152650"/>
            <a:ext cx="16922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0" name="num-5">
            <a:extLst xmlns:a="http://schemas.openxmlformats.org/drawingml/2006/main">
              <a:ext uri="{FF2B5EF4-FFF2-40B4-BE49-F238E27FC236}">
                <a16:creationId xmlns:a16="http://schemas.microsoft.com/office/drawing/2014/main" id="{5507D855-B67E-4DDC-A3DE-FA732372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325" y="23050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6</a:t>
            </a:r>
          </a:p>
        </p:txBody>
      </p:sp>
      <p:sp>
        <p:nvSpPr>
          <p:cNvPr id="21" name="step-text-5">
            <a:extLst xmlns:a="http://schemas.openxmlformats.org/drawingml/2006/main">
              <a:ext uri="{FF2B5EF4-FFF2-40B4-BE49-F238E27FC236}">
                <a16:creationId xmlns:a16="http://schemas.microsoft.com/office/drawing/2014/main" id="{B558D3A7-3823-4DE7-B609-F2C39A21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175" y="2305050"/>
            <a:ext cx="11017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后续识别</a:t>
            </a:r>
          </a:p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继续复用</a:t>
            </a:r>
          </a:p>
        </p:txBody>
      </p:sp>
      <p:sp>
        <p:nvSpPr>
          <p:cNvPr id="22" name="explain">
            <a:extLst xmlns:a="http://schemas.openxmlformats.org/drawingml/2006/main">
              <a:ext uri="{FF2B5EF4-FFF2-40B4-BE49-F238E27FC236}">
                <a16:creationId xmlns:a16="http://schemas.microsoft.com/office/drawing/2014/main" id="{38238221-C8FB-48A1-8371-D387C0AD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预测结果不直接自动入库。只有人工确认过的段落和类型，才适合作为后续识别的历史依据。</a:t>
            </a:r>
          </a:p>
        </p:txBody>
      </p:sp>
      <p:sp>
        <p:nvSpPr>
          <p:cNvPr id="23" name="note-box">
            <a:extLst xmlns:a="http://schemas.openxmlformats.org/drawingml/2006/main">
              <a:ext uri="{FF2B5EF4-FFF2-40B4-BE49-F238E27FC236}">
                <a16:creationId xmlns:a16="http://schemas.microsoft.com/office/drawing/2014/main" id="{45810638-E9C3-4D7D-B919-EF46EFEA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4C783"/>
            </a:solidFill>
            <a:prstDash val="solid"/>
          </a:ln>
        </p:spPr>
      </p:sp>
      <p:sp>
        <p:nvSpPr>
          <p:cNvPr id="24" name="note-text">
            <a:extLst xmlns:a="http://schemas.openxmlformats.org/drawingml/2006/main">
              <a:ext uri="{FF2B5EF4-FFF2-40B4-BE49-F238E27FC236}">
                <a16:creationId xmlns:a16="http://schemas.microsoft.com/office/drawing/2014/main" id="{2E7EFDDF-C547-40B2-8052-902A552D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899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8A5A"/>
                </a:solidFill>
              </a:defRPr>
            </a:pPr>
            <a:r>
              <a:rPr sz="1575" b="1">
                <a:solidFill>
                  <a:srgbClr val="1B8A5A"/>
                </a:solidFill>
              </a:rPr>
              <a:t>这一步看起来多一道确认，但能保证知识库越用越稳。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CDE73169-2DFE-4168-84F8-514056B8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181009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E2378E3A-CC92-4992-BB2C-A22FAE67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892E07-C775-4302-92C9-A9BFE30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现场演示按业务流程推进，也顺手证明技术闭环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9D3B947-ECB1-4352-B133-4C66CABF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44FD1AEC-4417-4CF7-880C-AA94E978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595C4685-4B0E-46FF-979C-266236CA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看索引状态：确认当前知识库是否可用、样本是否已加载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5076D520-E76C-4307-B5F6-11616E26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F992935C-8BA7-4684-9EAD-C4D1BA3A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导入匿名 Excel：展示历史经验如何进入知识库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05DECB9A-1C28-4157-AF2B-3AD58A9C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934D64A2-E333-4CA5-9604-964018B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Oracle 只读核验：确认样本、类型、模型版本和向量已保存</a:t>
            </a:r>
          </a:p>
        </p:txBody>
      </p:sp>
      <p:sp>
        <p:nvSpPr>
          <p:cNvPr id="10" name="dot-3">
            <a:extLst xmlns:a="http://schemas.openxmlformats.org/drawingml/2006/main">
              <a:ext uri="{FF2B5EF4-FFF2-40B4-BE49-F238E27FC236}">
                <a16:creationId xmlns:a16="http://schemas.microsoft.com/office/drawing/2014/main" id="{78253249-FA41-483F-84E8-385BE645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1" name="bullet-3">
            <a:extLst xmlns:a="http://schemas.openxmlformats.org/drawingml/2006/main">
              <a:ext uri="{FF2B5EF4-FFF2-40B4-BE49-F238E27FC236}">
                <a16:creationId xmlns:a16="http://schemas.microsoft.com/office/drawing/2014/main" id="{B73C0BA1-B7BB-4728-A5D3-E5F2E371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预测 EXACT / HIGH / CANDIDATE / NO_RELIABLE_MATCH：展示不同业务场景</a:t>
            </a:r>
          </a:p>
        </p:txBody>
      </p:sp>
      <p:sp>
        <p:nvSpPr>
          <p:cNvPr id="12" name="dot-4">
            <a:extLst xmlns:a="http://schemas.openxmlformats.org/drawingml/2006/main">
              <a:ext uri="{FF2B5EF4-FFF2-40B4-BE49-F238E27FC236}">
                <a16:creationId xmlns:a16="http://schemas.microsoft.com/office/drawing/2014/main" id="{4F33B59E-F5D7-43AE-9B3F-F836EEA5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3" name="bullet-4">
            <a:extLst xmlns:a="http://schemas.openxmlformats.org/drawingml/2006/main">
              <a:ext uri="{FF2B5EF4-FFF2-40B4-BE49-F238E27FC236}">
                <a16:creationId xmlns:a16="http://schemas.microsoft.com/office/drawing/2014/main" id="{3D67E8DD-319C-409B-8260-5FCD8BEF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手工 reload：展示知识库刷新和运维恢复能力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58D27797-94E4-4EE4-A08A-B16DC54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49229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7D0CC7AC-5AAC-4872-8289-F6A2E133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合同段落变更类型识别服务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1F8F41-5C19-4BFA-9EAC-58AAA62C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191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准确性和上线准备，需要用真实样本把结论补齐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7E4A479-5065-4DDA-821D-DFC265F4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60F78EF4-3311-428D-87BD-60C7599C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5941D323-6137-41FC-A2C2-5AA8328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演示说明流程</a:t>
            </a:r>
          </a:p>
        </p:txBody>
      </p:sp>
      <p:sp>
        <p:nvSpPr>
          <p:cNvPr id="6" name="col-body-0">
            <a:extLst xmlns:a="http://schemas.openxmlformats.org/drawingml/2006/main">
              <a:ext uri="{FF2B5EF4-FFF2-40B4-BE49-F238E27FC236}">
                <a16:creationId xmlns:a16="http://schemas.microsoft.com/office/drawing/2014/main" id="{B0EE0D6A-30E9-4A6D-BB52-0E1CA947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演示样本可以证明导入、识别、参考依据和知识库补充这条链路是通的。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20AD893F-83BF-48BF-A823-5372E14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0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AE619CE4-A340-40D3-97F4-23412A6C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测试说明效果</a:t>
            </a:r>
          </a:p>
        </p:txBody>
      </p:sp>
      <p:sp>
        <p:nvSpPr>
          <p:cNvPr id="9" name="col-body-1">
            <a:extLst xmlns:a="http://schemas.openxmlformats.org/drawingml/2006/main">
              <a:ext uri="{FF2B5EF4-FFF2-40B4-BE49-F238E27FC236}">
                <a16:creationId xmlns:a16="http://schemas.microsoft.com/office/drawing/2014/main" id="{355FC0FE-FE0D-40F1-A166-75C6595D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真实效果要用未入库的合同段落验证，建议准备 30 到 100 条人工标注样本。</a:t>
            </a:r>
          </a:p>
        </p:txBody>
      </p:sp>
      <p:sp>
        <p:nvSpPr>
          <p:cNvPr id="10" name="col-2">
            <a:extLst xmlns:a="http://schemas.openxmlformats.org/drawingml/2006/main">
              <a:ext uri="{FF2B5EF4-FFF2-40B4-BE49-F238E27FC236}">
                <a16:creationId xmlns:a16="http://schemas.microsoft.com/office/drawing/2014/main" id="{D5793D86-7E17-4FAC-9BF9-07B56D3A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1" name="col-head-2">
            <a:extLst xmlns:a="http://schemas.openxmlformats.org/drawingml/2006/main">
              <a:ext uri="{FF2B5EF4-FFF2-40B4-BE49-F238E27FC236}">
                <a16:creationId xmlns:a16="http://schemas.microsoft.com/office/drawing/2014/main" id="{6B253BC3-4383-4853-9152-72B002A4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上线前确认</a:t>
            </a:r>
          </a:p>
        </p:txBody>
      </p:sp>
      <p:sp>
        <p:nvSpPr>
          <p:cNvPr id="12" name="col-body-2">
            <a:extLst xmlns:a="http://schemas.openxmlformats.org/drawingml/2006/main">
              <a:ext uri="{FF2B5EF4-FFF2-40B4-BE49-F238E27FC236}">
                <a16:creationId xmlns:a16="http://schemas.microsoft.com/office/drawing/2014/main" id="{94F86D04-D6AF-4971-9F63-32207B08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9718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606E"/>
                </a:solidFill>
              </a:defRPr>
            </a:pPr>
            <a:r>
              <a:rPr sz="1350" b="0">
                <a:solidFill>
                  <a:srgbClr val="58606E"/>
                </a:solidFill>
              </a:rPr>
              <a:t>完成构建验证、环境连通、匿名演示数据、备用录屏和准确性验证表。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4F9336A-2427-4560-917E-E92CDC1C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8606E"/>
                </a:solidFill>
              </a:defRPr>
            </a:pPr>
            <a:r>
              <a:rPr sz="1200" b="1">
                <a:solidFill>
                  <a:srgbClr val="58606E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9249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2026-08-31T05:21:42.5580000Z</dcterms:created>
  <dcterms:modified xsi:type="dcterms:W3CDTF">2026-08-31T05:21:42.5590000Z</dcterms:modified>
</coreProperties>
</file>