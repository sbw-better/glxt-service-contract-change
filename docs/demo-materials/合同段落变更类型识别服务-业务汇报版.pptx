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73f9a12b7c4071" /><Relationship Type="http://schemas.openxmlformats.org/officeDocument/2006/relationships/extended-properties" Target="/docProps/app.xml" Id="R70cc67f047744362" /><Relationship Type="http://schemas.openxmlformats.org/officeDocument/2006/relationships/officeDocument" Target="/ppt/presentation.xml" Id="R89784c7691eb45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fa33b7d0424e99"/>
  </p:sldMasterIdLst>
  <p:notesMasterIdLst>
    <p:notesMasterId xmlns:r="http://schemas.openxmlformats.org/officeDocument/2006/relationships" r:id="R9f40b7a2413a4544"/>
  </p:notesMasterIdLst>
  <p:sldIdLst>
    <p:sldId xmlns:r="http://schemas.openxmlformats.org/officeDocument/2006/relationships" id="256" r:id="Rb36061de07054bc6"/>
    <p:sldId xmlns:r="http://schemas.openxmlformats.org/officeDocument/2006/relationships" id="257" r:id="R8050df0c1a41480c"/>
    <p:sldId xmlns:r="http://schemas.openxmlformats.org/officeDocument/2006/relationships" id="258" r:id="R5aaa989c91834def"/>
    <p:sldId xmlns:r="http://schemas.openxmlformats.org/officeDocument/2006/relationships" id="259" r:id="R4fa5306d8ab9419d"/>
    <p:sldId xmlns:r="http://schemas.openxmlformats.org/officeDocument/2006/relationships" id="260" r:id="R12742f0a26da423b"/>
    <p:sldId xmlns:r="http://schemas.openxmlformats.org/officeDocument/2006/relationships" id="261" r:id="R85bb2667924c4939"/>
    <p:sldId xmlns:r="http://schemas.openxmlformats.org/officeDocument/2006/relationships" id="262" r:id="R66159561ed854420"/>
    <p:sldId xmlns:r="http://schemas.openxmlformats.org/officeDocument/2006/relationships" id="263" r:id="Rd9936d98018043ef"/>
    <p:sldId xmlns:r="http://schemas.openxmlformats.org/officeDocument/2006/relationships" id="264" r:id="R8796ecb71cfc44fc"/>
    <p:sldId xmlns:r="http://schemas.openxmlformats.org/officeDocument/2006/relationships" id="265" r:id="Rb5d7df2fad3743e3"/>
    <p:sldId xmlns:r="http://schemas.openxmlformats.org/officeDocument/2006/relationships" id="266" r:id="R802474010879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8a18c2bab4450" /><Relationship Type="http://schemas.openxmlformats.org/officeDocument/2006/relationships/slideMaster" Target="/ppt/slideMasters/slideMaster1.xml" Id="R8bfa33b7d0424e99" /><Relationship Type="http://schemas.openxmlformats.org/officeDocument/2006/relationships/notesMaster" Target="/ppt/notesMasters/notesMaster1.xml" Id="R9f40b7a2413a4544" /><Relationship Type="http://schemas.openxmlformats.org/officeDocument/2006/relationships/presProps" Target="/ppt/presProps.xml" Id="Re94af2a587484209" /><Relationship Type="http://schemas.openxmlformats.org/officeDocument/2006/relationships/tableStyles" Target="/ppt/tableStyles.xml" Id="R7d88a2c8adc1411c" /><Relationship Type="http://schemas.openxmlformats.org/officeDocument/2006/relationships/slide" Target="/ppt/slides/slide1.xml" Id="Rb36061de07054bc6" /><Relationship Type="http://schemas.openxmlformats.org/officeDocument/2006/relationships/slide" Target="/ppt/slides/slide2.xml" Id="R8050df0c1a41480c" /><Relationship Type="http://schemas.openxmlformats.org/officeDocument/2006/relationships/slide" Target="/ppt/slides/slide3.xml" Id="R5aaa989c91834def" /><Relationship Type="http://schemas.openxmlformats.org/officeDocument/2006/relationships/slide" Target="/ppt/slides/slide4.xml" Id="R4fa5306d8ab9419d" /><Relationship Type="http://schemas.openxmlformats.org/officeDocument/2006/relationships/slide" Target="/ppt/slides/slide5.xml" Id="R12742f0a26da423b" /><Relationship Type="http://schemas.openxmlformats.org/officeDocument/2006/relationships/slide" Target="/ppt/slides/slide6.xml" Id="R85bb2667924c4939" /><Relationship Type="http://schemas.openxmlformats.org/officeDocument/2006/relationships/slide" Target="/ppt/slides/slide7.xml" Id="R66159561ed854420" /><Relationship Type="http://schemas.openxmlformats.org/officeDocument/2006/relationships/slide" Target="/ppt/slides/slide8.xml" Id="Rd9936d98018043ef" /><Relationship Type="http://schemas.openxmlformats.org/officeDocument/2006/relationships/slide" Target="/ppt/slides/slide9.xml" Id="R8796ecb71cfc44fc" /><Relationship Type="http://schemas.openxmlformats.org/officeDocument/2006/relationships/slide" Target="/ppt/slides/slide10.xml" Id="Rb5d7df2fad3743e3" /><Relationship Type="http://schemas.openxmlformats.org/officeDocument/2006/relationships/slide" Target="/ppt/slides/slide11.xml" Id="R802474010879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655043f98949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e0c043805b4113" /><Relationship Type="http://schemas.openxmlformats.org/officeDocument/2006/relationships/notesMaster" Target="/ppt/notesMasters/notesMaster1.xml" Id="Rbd343121e18a4e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6d613ecf7049aa" /><Relationship Type="http://schemas.openxmlformats.org/officeDocument/2006/relationships/notesMaster" Target="/ppt/notesMasters/notesMaster1.xml" Id="R06a475f5e81541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95c85711ba4615" /><Relationship Type="http://schemas.openxmlformats.org/officeDocument/2006/relationships/notesMaster" Target="/ppt/notesMasters/notesMaster1.xml" Id="R6f3a4c0f312047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e585be790a419e" /><Relationship Type="http://schemas.openxmlformats.org/officeDocument/2006/relationships/notesMaster" Target="/ppt/notesMasters/notesMaster1.xml" Id="R9eeb9e6169d944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9d03641d6b4663" /><Relationship Type="http://schemas.openxmlformats.org/officeDocument/2006/relationships/notesMaster" Target="/ppt/notesMasters/notesMaster1.xml" Id="Rec78cbf7a69c46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d56f96ad8740ac" /><Relationship Type="http://schemas.openxmlformats.org/officeDocument/2006/relationships/notesMaster" Target="/ppt/notesMasters/notesMaster1.xml" Id="R8708c347545042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2ff81e659f4aaf" /><Relationship Type="http://schemas.openxmlformats.org/officeDocument/2006/relationships/notesMaster" Target="/ppt/notesMasters/notesMaster1.xml" Id="R797d202f541d40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dba8a1ed364d5d" /><Relationship Type="http://schemas.openxmlformats.org/officeDocument/2006/relationships/notesMaster" Target="/ppt/notesMasters/notesMaster1.xml" Id="Rf14996cd867d4f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af962a46aa42cb" /><Relationship Type="http://schemas.openxmlformats.org/officeDocument/2006/relationships/notesMaster" Target="/ppt/notesMasters/notesMaster1.xml" Id="R1c82ae8079f342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5461c7cd0347cd" /><Relationship Type="http://schemas.openxmlformats.org/officeDocument/2006/relationships/notesMaster" Target="/ppt/notesMasters/notesMaster1.xml" Id="Ra8b7abd7a26e4b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5281c5e2bc45bb" /><Relationship Type="http://schemas.openxmlformats.org/officeDocument/2006/relationships/notesMaster" Target="/ppt/notesMasters/notesMaster1.xml" Id="R98f498b13dc842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开场可以这样说：今天主要汇报这个服务能帮业务解决什么问题、怎么使用、结果怎么看，以及后续怎么让知识库越来越完整。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这一页从业务痛点讲，不要急着讲模型。重点是：它减少重复判断，不替代最终业务确认。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自然承接：我们不是做一个只能回答一次的模型，而是做一个可维护的知识库闭环。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这页可以用很口语的说法讲：业务同事不用关心底层怎么计算，只要知道导入、识别、参考、确认、沉淀。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避免说 score、TopK 等术语。可以补一句：分数不是概率，只是历史证据的支持程度。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这一页是信任建设。业务上最怕系统乱给结论，所以要强调：证据不足时会留给人工判断。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演示顺序从业务可理解的流程出发，不要先讲接口名。可以边操作边解释每一步对应的业务动作。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这是新增点的核心页。可以说：这不是自动学习，而是有把关的经验沉淀。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这页用业务语言讲风险。不要说模型污染、反馈环太多术语，可以说错误经验被反复引用。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这页要讲得坦诚自然：现在没有真实测试集，所以不提前承诺准确率；我们准备好验证方法。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结尾回到业务价值：先可用、可解释、可持续完善。不要以技术细节结束。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基于项目 README、接口文档、数据库脚本和当前需求上下文整理。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de457636243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a140252554027" /><Relationship Type="http://schemas.openxmlformats.org/officeDocument/2006/relationships/slideLayout" Target="/ppt/slideLayouts/slideLayout1.xml" Id="R6d4ee634f17140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ee634f17140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7995116447e1" /><Relationship Type="http://schemas.openxmlformats.org/officeDocument/2006/relationships/notesSlide" Target="/ppt/notesSlides/notesSlide1.xml" Id="R65b426579a9242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a8c1a8f884092" /><Relationship Type="http://schemas.openxmlformats.org/officeDocument/2006/relationships/notesSlide" Target="/ppt/notesSlides/notesSlide2.xml" Id="R8df341980fce47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6820e1f1444c4" /><Relationship Type="http://schemas.openxmlformats.org/officeDocument/2006/relationships/notesSlide" Target="/ppt/notesSlides/notesSlide3.xml" Id="R0a4b045bf0f046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7501eb9a645ec" /><Relationship Type="http://schemas.openxmlformats.org/officeDocument/2006/relationships/notesSlide" Target="/ppt/notesSlides/notesSlide4.xml" Id="R977f0726330e42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72a6c021a40a7" /><Relationship Type="http://schemas.openxmlformats.org/officeDocument/2006/relationships/notesSlide" Target="/ppt/notesSlides/notesSlide5.xml" Id="Rf350097d06e94c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8e40b44464ea7" /><Relationship Type="http://schemas.openxmlformats.org/officeDocument/2006/relationships/notesSlide" Target="/ppt/notesSlides/notesSlide6.xml" Id="Rd110f5dfd41742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b204cc5f54536" /><Relationship Type="http://schemas.openxmlformats.org/officeDocument/2006/relationships/notesSlide" Target="/ppt/notesSlides/notesSlide7.xml" Id="Rc2f384528e674f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b40b3def34d98" /><Relationship Type="http://schemas.openxmlformats.org/officeDocument/2006/relationships/notesSlide" Target="/ppt/notesSlides/notesSlide8.xml" Id="R30010cd54d424c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5ebca8c864acc" /><Relationship Type="http://schemas.openxmlformats.org/officeDocument/2006/relationships/notesSlide" Target="/ppt/notesSlides/notesSlide9.xml" Id="Rad4481588c854e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5aabe27b8421c" /><Relationship Type="http://schemas.openxmlformats.org/officeDocument/2006/relationships/notesSlide" Target="/ppt/notesSlides/notesSlide10.xml" Id="R9956625d51774b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e015c639042ed" /><Relationship Type="http://schemas.openxmlformats.org/officeDocument/2006/relationships/notesSlide" Target="/ppt/notesSlides/notesSlide11.xml" Id="R1bde50b3b37f47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26A00C02-F332-4502-82B9-58D4B3D4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606E"/>
                </a:solidFill>
              </a:defRPr>
            </a:pPr>
            <a:r>
              <a:rPr sz="1350" b="1">
                <a:solidFill>
                  <a:srgbClr val="58606E"/>
                </a:solidFill>
              </a:rPr>
              <a:t>业务汇报版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E4045FB-6337-41E9-890F-F700D018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合同段落变更类型识别服务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5FD3D445-7D80-4885-9EA4-81537563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06E"/>
                </a:solidFill>
              </a:defRPr>
            </a:pPr>
            <a:r>
              <a:rPr sz="1800" b="0">
                <a:solidFill>
                  <a:srgbClr val="58606E"/>
                </a:solidFill>
              </a:rPr>
              <a:t>把历史判断经验沉淀下来，帮助新合同段落更快找到可能的变更类型</a:t>
            </a:r>
          </a:p>
        </p:txBody>
      </p:sp>
      <p:sp>
        <p:nvSpPr>
          <p:cNvPr id="4" name="cover-band">
            <a:extLst xmlns:a="http://schemas.openxmlformats.org/drawingml/2006/main">
              <a:ext uri="{FF2B5EF4-FFF2-40B4-BE49-F238E27FC236}">
                <a16:creationId xmlns:a16="http://schemas.microsoft.com/office/drawing/2014/main" id="{56B91E9F-982A-4D2F-A639-0B574B9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981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cover-band-text">
            <a:extLst xmlns:a="http://schemas.openxmlformats.org/drawingml/2006/main">
              <a:ext uri="{FF2B5EF4-FFF2-40B4-BE49-F238E27FC236}">
                <a16:creationId xmlns:a16="http://schemas.microsoft.com/office/drawing/2014/main" id="{CE2EA3EC-00F4-43A7-A6D2-CB7B03CA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建议汇报方式：先讲业务闭环，再做 8-10 分钟现场演示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DFB8164-2F06-48F0-8E2C-25B56594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040156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F691521-0564-44D9-9905-B8B80806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C71DFD-4550-4A9B-8027-BF9B412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我们要解决的不是单次识别，而是历史经验难复用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29DD2B9-7605-4A32-8B3C-40530EB8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2D9351D0-E4F5-41D0-9EB3-B5F8B405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AF4F32E4-FD64-4A29-B79E-B09400A3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现在的情况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D4CD4DCF-DACF-4D72-8953-30C47C7C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文档比对后会产生不少变化段落，业务人员需要逐段判断属于哪些变更类型。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B9846CC2-D890-4AE0-9210-B80777C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4A612CA9-A3D4-4AF7-B68B-A09C639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主要问题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E7FB1F61-2712-4A40-967F-89E285EA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判断过程依赖人工经验。类似段落过去可能已经处理过，但新一轮工作里很难快速复用。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0C83A013-C0A9-4C0E-B6EF-042892C4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34C14B2B-2AEE-4E22-97E1-70595C56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服务目标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133E8439-CF65-4B4E-BC10-E02189BA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系统先给出候选变更类型和参考段落，让人工判断有依据，也让历史经验能持续沉淀。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B1D1ABF-968F-43D5-A3E7-CF67A91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99711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9DE8A27B-76FA-44BD-B2EB-74685E91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EAFF83-0F51-4337-A5D7-46827CE9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第一版先把最有价值的闭环跑通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E2FA0DB-E912-4788-848E-D1EF7BE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D585CC39-01B2-4701-90F8-AAD1AEA6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09F21411-0929-4965-A7D1-6D21398A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0CE8D6EA-F2BC-489E-98BF-285C1D95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导入历史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段落样本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06CE6100-A075-4C15-9364-FC9097B9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882B3829-44A4-429E-A2D3-E251EEB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B77A25D3-0BBA-4AF9-8464-FDD731AC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系统学习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段落特征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711E76D2-4E51-4D0F-B0C3-E2DD065C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7BA11A96-F369-4772-86F8-FDFE128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1B2D9BF4-7CEC-4BE2-8F5E-5DBA472E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新段落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发起识别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F36EB02D-C782-40A9-A2E9-61D8489C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DCF8EB4E-7D93-4BAE-AEA4-BA48179D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E8F9A88A-724A-4E01-896E-3A0D8841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返回候选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变更类型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6182EF40-52D6-41BB-83CB-3F4A76F0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B192E0CE-31E3-400C-B8F5-8975E1DC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0095B424-A41B-4866-A5F8-4D7825A7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展示相似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历史依据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65B5EBA8-C36D-4AE5-8939-1E18104E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0" name="num-5">
            <a:extLst xmlns:a="http://schemas.openxmlformats.org/drawingml/2006/main">
              <a:ext uri="{FF2B5EF4-FFF2-40B4-BE49-F238E27FC236}">
                <a16:creationId xmlns:a16="http://schemas.microsoft.com/office/drawing/2014/main" id="{EB707E18-8358-4714-93D4-0983EEF2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6</a:t>
            </a:r>
          </a:p>
        </p:txBody>
      </p:sp>
      <p:sp>
        <p:nvSpPr>
          <p:cNvPr id="21" name="step-text-5">
            <a:extLst xmlns:a="http://schemas.openxmlformats.org/drawingml/2006/main">
              <a:ext uri="{FF2B5EF4-FFF2-40B4-BE49-F238E27FC236}">
                <a16:creationId xmlns:a16="http://schemas.microsoft.com/office/drawing/2014/main" id="{589843A6-3D77-49CD-89C4-36807FDC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431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人工确认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继续沉淀</a:t>
            </a:r>
          </a:p>
        </p:txBody>
      </p:sp>
      <p:sp>
        <p:nvSpPr>
          <p:cNvPr id="22" name="explain">
            <a:extLst xmlns:a="http://schemas.openxmlformats.org/drawingml/2006/main">
              <a:ext uri="{FF2B5EF4-FFF2-40B4-BE49-F238E27FC236}">
                <a16:creationId xmlns:a16="http://schemas.microsoft.com/office/drawing/2014/main" id="{F574BCE8-0A72-4995-9BD7-DBE4D67C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这条链路的核心价值，是让“过去怎么判”的经验，在下一次遇到相似段落时能被看见、被复用。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8D748B17-228B-45CA-9024-93CB7C5C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63875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9024574-D0CC-4510-B1A3-2832FA01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2D4541-D5C3-47C1-8854-0257F15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使用方式尽量简单，业务侧只需要理解四件事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0DEC957-A841-4129-9440-4605AAD9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C065211A-79FC-4261-898C-60B4008A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75BCA8E7-2037-47D1-9530-843BFD8A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先把确认过的历史段落和变更类型整理成 Excel 导入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D26E9E8A-7A15-4AF7-B411-AD4B6232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F009EFE7-F8DC-4EFB-8892-6B0C33E1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新段落识别时，系统会先看是否与历史段落完全一致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0E472C33-7869-4025-A3CA-BDBCA3F0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9C6AD9B1-B27C-4AE3-8778-D1DFF643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如果不是完全一致，系统会找最相似的历史段落作为参考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A6159C72-7AFC-4AF7-8E81-6E50CEB1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68DB4C2E-D4E0-4076-AD34-0866BCF3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结果只作为辅助建议，最终仍由业务人员确认</a:t>
            </a:r>
          </a:p>
        </p:txBody>
      </p:sp>
      <p:sp>
        <p:nvSpPr>
          <p:cNvPr id="12" name="dot-4">
            <a:extLst xmlns:a="http://schemas.openxmlformats.org/drawingml/2006/main">
              <a:ext uri="{FF2B5EF4-FFF2-40B4-BE49-F238E27FC236}">
                <a16:creationId xmlns:a16="http://schemas.microsoft.com/office/drawing/2014/main" id="{22564962-AF95-4E32-8017-9D5192AA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4FE698B3-7329-43A8-8B4E-5E7EF9FA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确认后的新样本可以再补充进知识库，后续识别会更有依据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C2DE6670-02B9-4AD7-AF50-215F3F82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5881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9990065-C107-4171-951D-22B397EF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D8AABC-6599-4651-B214-D55071F7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结果里最需要看懂的是“像不像”和“支持不支持”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C67319-6934-4A40-B375-32934813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9ED51FF3-1C5B-4768-A140-6526A5C8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C2FE9F53-8802-4998-97B7-5B3C1023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像不像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2BB0C7D9-BF38-4AE0-BE41-44EA5F0D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系统会给出新段落和历史段落的相似程度。相似度越高，说明这两段文本越接近。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0093F487-2BFF-4439-915B-BA66AE97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1C2BC1D5-54EC-4188-8B9D-2F970DEB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支持不支持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FA90C470-5B48-44AE-B90B-5BD8607F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系统会综合相似历史段落，计算每个变更类型得到多少历史证据支持。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1DD4F92F-158D-432B-BCDA-0E1300A3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6F05AF86-9180-4E5C-8793-82D4AE97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怎么看结论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FDBB449D-241F-47E5-85BC-18DD9D57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HIGH 表示历史证据比较集中；CANDIDATE 表示可以参考，但需要人工进一步判断。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A05D490-49C8-4E91-832B-61149950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23798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55910F46-C76F-4698-A027-47099AC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99F915-A389-4B9A-AEAF-C87A61EA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系统会给建议，也会在证据不足时明确说不可靠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E6476C6-3C03-41B8-8179-598EA03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DBE63B34-ACD0-4FA7-BEAA-8F2FF36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D51F75A8-F629-413A-8C1B-6D594688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完全相同的历史段落：直接返回历史上确认过的类型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C5441F25-FD44-4AD3-B6EA-E586EB5F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A728B6CD-311A-4DD5-861C-DE1A22E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相似度较高且证据集中：返回高可信建议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BEEAB6A3-BA5A-463E-A773-2C2C4C70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772720C0-2EFB-4106-AE5C-EBA5F211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有相似段落但证据还不够集中：返回候选建议和参考依据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086D6E44-B29E-41FB-BE1E-F35307E3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AB3F2A18-BD9F-475F-8DCE-70422F94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没有足够相似的历史样本：不强行给结论，提示无可靠匹配</a:t>
            </a:r>
          </a:p>
        </p:txBody>
      </p:sp>
      <p:sp>
        <p:nvSpPr>
          <p:cNvPr id="12" name="note">
            <a:extLst xmlns:a="http://schemas.openxmlformats.org/drawingml/2006/main">
              <a:ext uri="{FF2B5EF4-FFF2-40B4-BE49-F238E27FC236}">
                <a16:creationId xmlns:a16="http://schemas.microsoft.com/office/drawing/2014/main" id="{D8F02053-BC5E-40AD-A3AB-07D33AA6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13" name="note-text">
            <a:extLst xmlns:a="http://schemas.openxmlformats.org/drawingml/2006/main">
              <a:ext uri="{FF2B5EF4-FFF2-40B4-BE49-F238E27FC236}">
                <a16:creationId xmlns:a16="http://schemas.microsoft.com/office/drawing/2014/main" id="{96B8EEBF-A306-44C5-96AB-457E1F52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292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46300"/>
                </a:solidFill>
              </a:defRPr>
            </a:pPr>
            <a:r>
              <a:rPr sz="1650" b="1">
                <a:solidFill>
                  <a:srgbClr val="A46300"/>
                </a:solidFill>
              </a:rPr>
              <a:t>这能避免为了“看起来有结果”而给出误导性判断。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B8881666-B44D-44DE-A986-4ADFA1A9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87666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C54B71F1-6FF2-4799-8A94-6E293BAB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FEC8B8-A0B9-4E8A-85F8-2789A808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现场演示建议按业务流程来讲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6D475F8-A060-4A24-A182-062D1995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1CE19A2C-2609-4F40-8EAD-6842F0B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8B713B9E-E23F-4E89-86D6-72BD830B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先看知识库状态：确认现在有多少历史样本可参与识别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B3AC2BC4-D481-41BC-99FA-C9D32B6C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F8455E91-E031-4EE4-A1C6-5BBEEB12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导入一份匿名历史样本：展示知识库如何补充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4D97975D-D0E5-48B8-ADE5-25446937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2E303457-D467-47CE-AB7E-E51D0788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预测一段已存在的段落：展示完全一致时的快速返回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3B34A8F9-BB1B-4759-A277-1ABC8FB0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4DD5D849-59EB-427D-929A-2E02792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预测一段相似的新段落：展示候选类型和参考段落</a:t>
            </a:r>
          </a:p>
        </p:txBody>
      </p:sp>
      <p:sp>
        <p:nvSpPr>
          <p:cNvPr id="12" name="dot-4">
            <a:extLst xmlns:a="http://schemas.openxmlformats.org/drawingml/2006/main">
              <a:ext uri="{FF2B5EF4-FFF2-40B4-BE49-F238E27FC236}">
                <a16:creationId xmlns:a16="http://schemas.microsoft.com/office/drawing/2014/main" id="{84B8EF44-8B5A-40FE-A849-8050EC6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21DA5FFA-8895-41C5-82D1-9336DEC1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预测一段无关内容：展示系统不会硬给结论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1F1D0B1F-F7AE-4B27-87A8-9B0CD04B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02771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491545AE-A7C0-414E-8930-8EA60CF1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5DD376-DF40-4992-8170-A8D8358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知识库完善要走人工确认，不能让系统自己循环学习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9F9CC9F-A4A7-4206-8283-99F395B1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31B49250-9084-42C5-889F-5517D8C2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4D84094F-DA6C-418F-A092-6B2D0BF8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比对后发现新段落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4D800133-1D29-4ADA-BC2D-527A634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文档比对完成后，可以把有价值的新段落整理出来，形成待确认样本。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AF76FB3E-62F7-4A5F-9DC7-9F04B0C3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2200A40B-5F01-4D36-9909-AFFE78B2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人工确认类型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74B11E86-32D9-4ECC-91C2-62A9F37F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业务人员确认或修正变更类型。确认过的内容才适合作为新的历史经验。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09E738EA-8B5B-4C18-B35B-BBCF7D2D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094D8CAB-691E-4DD1-993F-19EF82A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补充回知识库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BA024BC8-32AD-4EE5-BB8D-EC1000E5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确认后的段落再次导入。以后遇到相似段落，系统就能引用这部分新增经验。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B60C979-551C-4375-A2DC-30A41E8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442618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A51DEC08-C46C-4E82-9F3B-5EDB0F11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943687-5112-4BD1-AA1A-F3B1C4E6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为什么不让预测结果直接入库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BF9C34C-B67B-4689-8EA7-8F86465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682B4528-B138-46B8-83D7-AC9D29FE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2446B573-555A-48C0-91DA-64C0A04A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90750"/>
            <a:ext cx="939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预测结果只是建议，不等同于业务确认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3FC7D16A-AAC9-4B87-8D12-B377548A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0041AE85-570A-4AD7-ACA4-FFD6F77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939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如果误判直接入库，后续相似段落可能继续引用这个错误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0DA70D00-54C0-4B37-98FA-3626808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55ABA65-A049-4FCA-AE61-9D724745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939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人工确认能保证知识库质量，尤其适合合同这类需要审慎判断的场景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020A533B-8D9C-483F-BF5C-7CA912DE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774A9821-FC8B-4259-B274-B4EC668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939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对系统来说，宁可慢一点沉淀，也要保证沉淀进去的是可信经验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4E2F618-3383-4FCB-9B99-890CF9BF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98862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006480DB-37C5-4837-B2C0-8C768DF6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B555AD-FA30-4337-AB2C-232FED3C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准确性要用真实业务样本来验证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8730226-829A-4DA5-B336-07CA8A82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35147DDC-DC4E-45A4-9E77-6ABCA22F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59D93574-EE53-4A09-87BF-CEF3AE3A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演示能证明什么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1FA42313-3FFC-4DB1-B3CE-0A7C20FA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证明导入、识别、返回参考依据、人工补充知识库这条流程能跑通。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0E3D556F-D630-46DD-9F24-24D52EF8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198BE694-4720-4673-8D48-2CAD37CC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还需要验证什么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29F56A52-4D7C-4EDC-BC25-4A52ADE2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需要用未进入历史库的真实段落，让业务人员先标注标准答案，再看系统表现。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0666F0DD-D7E4-48A8-9C17-3F6D0B53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63ABE1FF-A5F5-4E05-9951-9269272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建议验收口径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D5DFDDA2-C514-4C1A-BADC-FEF95C9C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06E"/>
                </a:solidFill>
              </a:defRPr>
            </a:pPr>
            <a:r>
              <a:rPr sz="1425" b="0">
                <a:solidFill>
                  <a:srgbClr val="58606E"/>
                </a:solidFill>
              </a:rPr>
              <a:t>准备 30-100 条段落，统计命中情况、高可信建议质量、无可靠匹配比例和可补充样本。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77468B5-82D4-45BD-86A2-91C8D8BF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1588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22DAA435-4E98-4ADC-BF75-87459F2C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098942-A493-4989-AC83-94A82210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这版汇报的结论可以收在三个判断上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E37FBE5-608E-4DCF-A6E1-A76AFA10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595DE6B4-0387-4172-A41B-1BE2CEDE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47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FAF5EC7C-4F0F-4250-B699-F15FC282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它能把历史判断经验变成可复用的知识库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0EA9BF26-6E91-4FC2-AE27-DD2EDC60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E9B82C2A-18FF-4A04-A655-61EC1C90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它能在新段落出现时给出候选类型和相似依据，帮助人工更快判断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86F7DC6A-84DB-4A71-B6E1-3F46A824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962A57C3-173C-4E66-99E8-48DA201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0522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它能通过人工确认后的新增样本持续完善，但不会把未经确认的建议自动入库</a:t>
            </a:r>
          </a:p>
        </p:txBody>
      </p:sp>
      <p:sp>
        <p:nvSpPr>
          <p:cNvPr id="10" name="close">
            <a:extLst xmlns:a="http://schemas.openxmlformats.org/drawingml/2006/main">
              <a:ext uri="{FF2B5EF4-FFF2-40B4-BE49-F238E27FC236}">
                <a16:creationId xmlns:a16="http://schemas.microsoft.com/office/drawing/2014/main" id="{4406BBD0-8293-4290-B6E3-3C8991E6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close-text">
            <a:extLst xmlns:a="http://schemas.openxmlformats.org/drawingml/2006/main">
              <a:ext uri="{FF2B5EF4-FFF2-40B4-BE49-F238E27FC236}">
                <a16:creationId xmlns:a16="http://schemas.microsoft.com/office/drawing/2014/main" id="{BB235106-D517-4396-97D3-A4382ED4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76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适合作为第一版先上线试用，再结合真实样本逐步验证和优化。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3BCD648C-3CFD-4F52-8894-3CFE0601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12255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2026-08-30T09:27:53.6320000Z</dcterms:created>
  <dcterms:modified xsi:type="dcterms:W3CDTF">2026-08-30T09:27:53.6320000Z</dcterms:modified>
</coreProperties>
</file>