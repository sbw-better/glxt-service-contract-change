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e35c4b9c1141e1" /><Relationship Type="http://schemas.openxmlformats.org/officeDocument/2006/relationships/extended-properties" Target="/docProps/app.xml" Id="R830b81864ac94c1d" /><Relationship Type="http://schemas.openxmlformats.org/officeDocument/2006/relationships/officeDocument" Target="/ppt/presentation.xml" Id="Rf2e7fb566b2649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17aea24e234305"/>
  </p:sldMasterIdLst>
  <p:notesMasterIdLst>
    <p:notesMasterId xmlns:r="http://schemas.openxmlformats.org/officeDocument/2006/relationships" r:id="R8262fa8fb28a4fe2"/>
  </p:notesMasterIdLst>
  <p:sldIdLst>
    <p:sldId xmlns:r="http://schemas.openxmlformats.org/officeDocument/2006/relationships" id="256" r:id="R41ca04998a284e1d"/>
    <p:sldId xmlns:r="http://schemas.openxmlformats.org/officeDocument/2006/relationships" id="257" r:id="R8f0c4c7b63504ed3"/>
    <p:sldId xmlns:r="http://schemas.openxmlformats.org/officeDocument/2006/relationships" id="258" r:id="R188b8994303a45cf"/>
    <p:sldId xmlns:r="http://schemas.openxmlformats.org/officeDocument/2006/relationships" id="259" r:id="R601baa86e6904f5e"/>
    <p:sldId xmlns:r="http://schemas.openxmlformats.org/officeDocument/2006/relationships" id="260" r:id="Rb10a23ee01f242a3"/>
    <p:sldId xmlns:r="http://schemas.openxmlformats.org/officeDocument/2006/relationships" id="261" r:id="R44d623ba5b7c4037"/>
    <p:sldId xmlns:r="http://schemas.openxmlformats.org/officeDocument/2006/relationships" id="262" r:id="R8a9352a3417f4480"/>
    <p:sldId xmlns:r="http://schemas.openxmlformats.org/officeDocument/2006/relationships" id="263" r:id="R02c1b4a533744bed"/>
    <p:sldId xmlns:r="http://schemas.openxmlformats.org/officeDocument/2006/relationships" id="264" r:id="R070b92125aa9448f"/>
    <p:sldId xmlns:r="http://schemas.openxmlformats.org/officeDocument/2006/relationships" id="265" r:id="R2bbb29d1591d499a"/>
    <p:sldId xmlns:r="http://schemas.openxmlformats.org/officeDocument/2006/relationships" id="266" r:id="R0197d51683724eeb"/>
    <p:sldId xmlns:r="http://schemas.openxmlformats.org/officeDocument/2006/relationships" id="267" r:id="R239c6eb903a444b9"/>
    <p:sldId xmlns:r="http://schemas.openxmlformats.org/officeDocument/2006/relationships" id="268" r:id="R6a0c2cd7316a46c1"/>
    <p:sldId xmlns:r="http://schemas.openxmlformats.org/officeDocument/2006/relationships" id="269" r:id="R1d89a9c3435c4966"/>
    <p:sldId xmlns:r="http://schemas.openxmlformats.org/officeDocument/2006/relationships" id="270" r:id="R86f5f8e6031c45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bcad4ef6114f1c" /><Relationship Type="http://schemas.openxmlformats.org/officeDocument/2006/relationships/slideMaster" Target="/ppt/slideMasters/slideMaster1.xml" Id="Rb417aea24e234305" /><Relationship Type="http://schemas.openxmlformats.org/officeDocument/2006/relationships/notesMaster" Target="/ppt/notesMasters/notesMaster1.xml" Id="R8262fa8fb28a4fe2" /><Relationship Type="http://schemas.openxmlformats.org/officeDocument/2006/relationships/presProps" Target="/ppt/presProps.xml" Id="R41bf307fcb9c4bc0" /><Relationship Type="http://schemas.openxmlformats.org/officeDocument/2006/relationships/tableStyles" Target="/ppt/tableStyles.xml" Id="Rb7b7968a7f1a40a7" /><Relationship Type="http://schemas.openxmlformats.org/officeDocument/2006/relationships/slide" Target="/ppt/slides/slide1.xml" Id="R41ca04998a284e1d" /><Relationship Type="http://schemas.openxmlformats.org/officeDocument/2006/relationships/slide" Target="/ppt/slides/slide2.xml" Id="R8f0c4c7b63504ed3" /><Relationship Type="http://schemas.openxmlformats.org/officeDocument/2006/relationships/slide" Target="/ppt/slides/slide3.xml" Id="R188b8994303a45cf" /><Relationship Type="http://schemas.openxmlformats.org/officeDocument/2006/relationships/slide" Target="/ppt/slides/slide4.xml" Id="R601baa86e6904f5e" /><Relationship Type="http://schemas.openxmlformats.org/officeDocument/2006/relationships/slide" Target="/ppt/slides/slide5.xml" Id="Rb10a23ee01f242a3" /><Relationship Type="http://schemas.openxmlformats.org/officeDocument/2006/relationships/slide" Target="/ppt/slides/slide6.xml" Id="R44d623ba5b7c4037" /><Relationship Type="http://schemas.openxmlformats.org/officeDocument/2006/relationships/slide" Target="/ppt/slides/slide7.xml" Id="R8a9352a3417f4480" /><Relationship Type="http://schemas.openxmlformats.org/officeDocument/2006/relationships/slide" Target="/ppt/slides/slide8.xml" Id="R02c1b4a533744bed" /><Relationship Type="http://schemas.openxmlformats.org/officeDocument/2006/relationships/slide" Target="/ppt/slides/slide9.xml" Id="R070b92125aa9448f" /><Relationship Type="http://schemas.openxmlformats.org/officeDocument/2006/relationships/slide" Target="/ppt/slides/slide10.xml" Id="R2bbb29d1591d499a" /><Relationship Type="http://schemas.openxmlformats.org/officeDocument/2006/relationships/slide" Target="/ppt/slides/slide11.xml" Id="R0197d51683724eeb" /><Relationship Type="http://schemas.openxmlformats.org/officeDocument/2006/relationships/slide" Target="/ppt/slides/slide12.xml" Id="R239c6eb903a444b9" /><Relationship Type="http://schemas.openxmlformats.org/officeDocument/2006/relationships/slide" Target="/ppt/slides/slide13.xml" Id="R6a0c2cd7316a46c1" /><Relationship Type="http://schemas.openxmlformats.org/officeDocument/2006/relationships/slide" Target="/ppt/slides/slide14.xml" Id="R1d89a9c3435c4966" /><Relationship Type="http://schemas.openxmlformats.org/officeDocument/2006/relationships/slide" Target="/ppt/slides/slide15.xml" Id="R86f5f8e6031c45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8d6f6d687e40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4ac0c19ad04539" /><Relationship Type="http://schemas.openxmlformats.org/officeDocument/2006/relationships/notesMaster" Target="/ppt/notesMasters/notesMaster1.xml" Id="Re8c07404bf7d4c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57f40caaf74ba1" /><Relationship Type="http://schemas.openxmlformats.org/officeDocument/2006/relationships/notesMaster" Target="/ppt/notesMasters/notesMaster1.xml" Id="R875cb88d4b8d46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1009280204457d" /><Relationship Type="http://schemas.openxmlformats.org/officeDocument/2006/relationships/notesMaster" Target="/ppt/notesMasters/notesMaster1.xml" Id="Rf4f4b1db7b6e45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7d229fceb44dae" /><Relationship Type="http://schemas.openxmlformats.org/officeDocument/2006/relationships/notesMaster" Target="/ppt/notesMasters/notesMaster1.xml" Id="R8d92e56898ed4f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514f6cff664699" /><Relationship Type="http://schemas.openxmlformats.org/officeDocument/2006/relationships/notesMaster" Target="/ppt/notesMasters/notesMaster1.xml" Id="R2343099dcf1743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cc955dbe674bdf" /><Relationship Type="http://schemas.openxmlformats.org/officeDocument/2006/relationships/notesMaster" Target="/ppt/notesMasters/notesMaster1.xml" Id="Rd18655928e9546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dc3dbfeb264405" /><Relationship Type="http://schemas.openxmlformats.org/officeDocument/2006/relationships/notesMaster" Target="/ppt/notesMasters/notesMaster1.xml" Id="R50de15fe8df44d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cd9336356e47fd" /><Relationship Type="http://schemas.openxmlformats.org/officeDocument/2006/relationships/notesMaster" Target="/ppt/notesMasters/notesMaster1.xml" Id="R43adb51f331e4e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775f2cb0e240b7" /><Relationship Type="http://schemas.openxmlformats.org/officeDocument/2006/relationships/notesMaster" Target="/ppt/notesMasters/notesMaster1.xml" Id="Rbe1a26084b6a40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3ab659b91f4855" /><Relationship Type="http://schemas.openxmlformats.org/officeDocument/2006/relationships/notesMaster" Target="/ppt/notesMasters/notesMaster1.xml" Id="Rf05ef2f65bc34b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5155bf0f644e3c" /><Relationship Type="http://schemas.openxmlformats.org/officeDocument/2006/relationships/notesMaster" Target="/ppt/notesMasters/notesMaster1.xml" Id="Rb0b4eef9a60e474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ba90a664de4740" /><Relationship Type="http://schemas.openxmlformats.org/officeDocument/2006/relationships/notesMaster" Target="/ppt/notesMasters/notesMaster1.xml" Id="Re83623eea50345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7b190c45844d7e" /><Relationship Type="http://schemas.openxmlformats.org/officeDocument/2006/relationships/notesMaster" Target="/ppt/notesMasters/notesMaster1.xml" Id="R148eb876f852499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c463b076aa4b84" /><Relationship Type="http://schemas.openxmlformats.org/officeDocument/2006/relationships/notesMaster" Target="/ppt/notesMasters/notesMaster1.xml" Id="R11f522436bfb47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2b589c41542476e" /><Relationship Type="http://schemas.openxmlformats.org/officeDocument/2006/relationships/notesMaster" Target="/ppt/notesMasters/notesMaster1.xml" Id="Rb8b8b2ab828945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开场不先讲参数，先讲这件事的目标：把过去确认过的经验用起来，帮助新段落判断更快、更有依据。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脚本、当前需求上下文。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这一页讲业务背景。自然表述：我们不是为了做一个模型而做模型，而是为了把历史判断经验变成可复用的依据。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脚本、当前需求上下文。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把业务和技术接起来讲：业务同事理解为经验复用，技术同事理解为语义检索和投票。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脚本、当前需求上下文。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这里可以稍微讲技术，但用业务语言解释：Hash 是为了认出完全相同的段落，向量是为了比较表达相近的段落。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脚本、当前需求上下文。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这一页把模型边界讲清楚。可以说：模型像一个语义翻译器，把文字翻译成可比较的数字；最后属于什么变更类型，仍由历史样本和规则共同决定。</a:t>
            </a:r>
          </a:p>
          <a:p xmlns:a="http://schemas.openxmlformats.org/drawingml/2006/main">
            <a:r>
              <a:t>请求关键字段：model=gen-studio-Qwen3-Embedding-8B，dimensions=1024，encoding_format=float。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脚本、当前需求上下文。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强调这里的“索引”不是向量数据库索引，而是一份只读内存快照。数据库保存数据，JVM 负责快速使用数据。</a:t>
            </a:r>
          </a:p>
          <a:p xmlns:a="http://schemas.openxmlformats.org/drawingml/2006/main">
            <a:r>
              <a:t>当前快照包含历史向量列表和文本 Hash Map；AtomicReference 在新快照完整构建后整体切换。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脚本、当前需求上下文。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这一页自然讲算法流程。不要一上来讲阈值，先讲为什么这样排顺序：省调用、可追溯、符合人的判断方式。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脚本、当前需求上下文。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用这一组数字带着听众算一遍即可。相似度平方让更相似的样本影响更大，但不会让第一条样本直接决定结果。</a:t>
            </a:r>
          </a:p>
          <a:p xmlns:a="http://schemas.openxmlformats.org/drawingml/2006/main">
            <a:r>
              <a:t>分母是全部投票样本权重之和；多标签样本会同时支持多个类型，所以各类型 score 之和不一定等于 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脚本、当前需求上下文。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这一页面向业务解释输出等级。强相似兜底要说成候选参考，不要说成系统高置信。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脚本、当前需求上下文。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技术选择要讲原因，不要像辩解。核心是第一版规模不大，先轻量落地，未来再按规模升级。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脚本、当前需求上下文。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这里保留核心技术实现，但都加业务解释：1024 是成本和效果平衡，Oracle 是现有管理习惯，JVM 索引是简单快速。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脚本、当前需求上下文。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这页适合技术和管理都听得懂：统一网关、安全、审计、敏感信息保护、模型版本隔离。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脚本、当前需求上下文。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这是用户新增需求的核心页。讲法要自然：不是自动学习，而是有质量把关的经验沉淀。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脚本、当前需求上下文。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演示时别硬念接口名。每一步都讲成一个业务动作，同时让技术同事看到数据确实落库、索引确实可观测。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脚本、当前需求上下文。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最后不要声称准确率。自然讲：流程演示和效果评估是两件事，演示完成后还要用真实样本做验收。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脚本、当前需求上下文。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cfd6f9135b47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4da863b4774f39" /><Relationship Type="http://schemas.openxmlformats.org/officeDocument/2006/relationships/slideLayout" Target="/ppt/slideLayouts/slideLayout1.xml" Id="R3b9ac7a6f69746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9ac7a6f69746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e5edf12334c40" /><Relationship Type="http://schemas.openxmlformats.org/officeDocument/2006/relationships/notesSlide" Target="/ppt/notesSlides/notesSlide1.xml" Id="Rd53c1cb5fb0f45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f928760fc4570" /><Relationship Type="http://schemas.openxmlformats.org/officeDocument/2006/relationships/notesSlide" Target="/ppt/notesSlides/notesSlide2.xml" Id="R4145fbd4ecda47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c919a0e7149fe" /><Relationship Type="http://schemas.openxmlformats.org/officeDocument/2006/relationships/notesSlide" Target="/ppt/notesSlides/notesSlide3.xml" Id="R79904e120d5d40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fe9cbde324f9a" /><Relationship Type="http://schemas.openxmlformats.org/officeDocument/2006/relationships/notesSlide" Target="/ppt/notesSlides/notesSlide4.xml" Id="R33e89ff65a0848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53f86df144bcb" /><Relationship Type="http://schemas.openxmlformats.org/officeDocument/2006/relationships/notesSlide" Target="/ppt/notesSlides/notesSlide5.xml" Id="R314c821138f243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cf8630bbc40e9" /><Relationship Type="http://schemas.openxmlformats.org/officeDocument/2006/relationships/notesSlide" Target="/ppt/notesSlides/notesSlide6.xml" Id="R2eaa4b9ed94e4f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d572eff5a4a94" /><Relationship Type="http://schemas.openxmlformats.org/officeDocument/2006/relationships/notesSlide" Target="/ppt/notesSlides/notesSlide7.xml" Id="Rbdb43e169f1c44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cb902678a412f" /><Relationship Type="http://schemas.openxmlformats.org/officeDocument/2006/relationships/notesSlide" Target="/ppt/notesSlides/notesSlide8.xml" Id="R3c22e3a24bfe41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de967ecbb4e82" /><Relationship Type="http://schemas.openxmlformats.org/officeDocument/2006/relationships/notesSlide" Target="/ppt/notesSlides/notesSlide9.xml" Id="R8e30b87dfb5f44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9baaafdc145a8" /><Relationship Type="http://schemas.openxmlformats.org/officeDocument/2006/relationships/notesSlide" Target="/ppt/notesSlides/notesSlide10.xml" Id="R3e734d8a629346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23c6401e34676" /><Relationship Type="http://schemas.openxmlformats.org/officeDocument/2006/relationships/notesSlide" Target="/ppt/notesSlides/notesSlide11.xml" Id="R8a32d044e28849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5dd3ec4b64169" /><Relationship Type="http://schemas.openxmlformats.org/officeDocument/2006/relationships/notesSlide" Target="/ppt/notesSlides/notesSlide12.xml" Id="R275ad66d7e9e4b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d0c8d0f5740be" /><Relationship Type="http://schemas.openxmlformats.org/officeDocument/2006/relationships/notesSlide" Target="/ppt/notesSlides/notesSlide13.xml" Id="R8027bd8da95b41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12fec7e8b4168" /><Relationship Type="http://schemas.openxmlformats.org/officeDocument/2006/relationships/notesSlide" Target="/ppt/notesSlides/notesSlide14.xml" Id="R2f7d38ffcdca4b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abc170bad4dff" /><Relationship Type="http://schemas.openxmlformats.org/officeDocument/2006/relationships/notesSlide" Target="/ppt/notesSlides/notesSlide15.xml" Id="R393ebf1f952f40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kicker">
            <a:extLst xmlns:a="http://schemas.openxmlformats.org/drawingml/2006/main">
              <a:ext uri="{FF2B5EF4-FFF2-40B4-BE49-F238E27FC236}">
                <a16:creationId xmlns:a16="http://schemas.microsoft.com/office/drawing/2014/main" id="{A02D4D25-787A-4BE3-9336-F651853C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606E"/>
                </a:solidFill>
              </a:defRPr>
            </a:pPr>
            <a:r>
              <a:rPr sz="1350" b="1">
                <a:solidFill>
                  <a:srgbClr val="58606E"/>
                </a:solidFill>
              </a:rPr>
              <a:t>综合汇报版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B693A5F-7548-48EA-9D34-2980703B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合同段落变更类型识别服务</a:t>
            </a:r>
          </a:p>
        </p:txBody>
      </p:sp>
      <p:sp>
        <p:nvSpPr>
          <p:cNvPr id="3" name="cover-sub">
            <a:extLst xmlns:a="http://schemas.openxmlformats.org/drawingml/2006/main">
              <a:ext uri="{FF2B5EF4-FFF2-40B4-BE49-F238E27FC236}">
                <a16:creationId xmlns:a16="http://schemas.microsoft.com/office/drawing/2014/main" id="{D1079BFD-9CEE-4D62-BBBD-39B6C3B8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06E"/>
                </a:solidFill>
              </a:defRPr>
            </a:pPr>
            <a:r>
              <a:rPr sz="1800" b="0">
                <a:solidFill>
                  <a:srgbClr val="58606E"/>
                </a:solidFill>
              </a:rPr>
              <a:t>用历史段落经验辅助新段落识别，并让确认后的新样本继续沉淀</a:t>
            </a:r>
          </a:p>
        </p:txBody>
      </p:sp>
      <p:sp>
        <p:nvSpPr>
          <p:cNvPr id="4" name="cover-band">
            <a:extLst xmlns:a="http://schemas.openxmlformats.org/drawingml/2006/main">
              <a:ext uri="{FF2B5EF4-FFF2-40B4-BE49-F238E27FC236}">
                <a16:creationId xmlns:a16="http://schemas.microsoft.com/office/drawing/2014/main" id="{98536AB0-3055-4635-9565-E758D874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981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cover-band-text">
            <a:extLst xmlns:a="http://schemas.openxmlformats.org/drawingml/2006/main">
              <a:ext uri="{FF2B5EF4-FFF2-40B4-BE49-F238E27FC236}">
                <a16:creationId xmlns:a16="http://schemas.microsoft.com/office/drawing/2014/main" id="{8A214DA8-57AD-4761-919D-1C252FD3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适合业务 + 技术混合汇报：讲清楚价值、流程、实现思路和质量边界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B53746F-4E97-4C8B-975A-6165CD21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455612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F4BDB557-565C-415C-AF69-7FEC1AB6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527E055-40A1-4739-A08D-F552657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这项能力的起点，是历史判断经验没有被充分复用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62B0B61-A6F7-4326-AE21-3A0318DA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col-0">
            <a:extLst xmlns:a="http://schemas.openxmlformats.org/drawingml/2006/main">
              <a:ext uri="{FF2B5EF4-FFF2-40B4-BE49-F238E27FC236}">
                <a16:creationId xmlns:a16="http://schemas.microsoft.com/office/drawing/2014/main" id="{9337FEF2-7AA5-4957-AA9D-B323AADD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31B48BCE-B2AE-46CE-9F38-1BAE4E75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业务场景</a:t>
            </a:r>
          </a:p>
        </p:txBody>
      </p:sp>
      <p:sp>
        <p:nvSpPr>
          <p:cNvPr id="6" name="col-body-0">
            <a:extLst xmlns:a="http://schemas.openxmlformats.org/drawingml/2006/main">
              <a:ext uri="{FF2B5EF4-FFF2-40B4-BE49-F238E27FC236}">
                <a16:creationId xmlns:a16="http://schemas.microsoft.com/office/drawing/2014/main" id="{CA8899B0-E386-462D-9FA8-F6C1D205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合同文档比对后，会产生一批变化段落。业务人员需要判断这些段落分别属于哪些变更类型。</a:t>
            </a:r>
          </a:p>
        </p:txBody>
      </p:sp>
      <p:sp>
        <p:nvSpPr>
          <p:cNvPr id="7" name="col-1">
            <a:extLst xmlns:a="http://schemas.openxmlformats.org/drawingml/2006/main">
              <a:ext uri="{FF2B5EF4-FFF2-40B4-BE49-F238E27FC236}">
                <a16:creationId xmlns:a16="http://schemas.microsoft.com/office/drawing/2014/main" id="{E571B2DF-800A-41FA-B848-B5C9EC37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col-head-1">
            <a:extLst xmlns:a="http://schemas.openxmlformats.org/drawingml/2006/main">
              <a:ext uri="{FF2B5EF4-FFF2-40B4-BE49-F238E27FC236}">
                <a16:creationId xmlns:a16="http://schemas.microsoft.com/office/drawing/2014/main" id="{630ABD1B-DC8B-48C9-8280-5D5A1FEB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现实问题</a:t>
            </a:r>
          </a:p>
        </p:txBody>
      </p:sp>
      <p:sp>
        <p:nvSpPr>
          <p:cNvPr id="9" name="col-body-1">
            <a:extLst xmlns:a="http://schemas.openxmlformats.org/drawingml/2006/main">
              <a:ext uri="{FF2B5EF4-FFF2-40B4-BE49-F238E27FC236}">
                <a16:creationId xmlns:a16="http://schemas.microsoft.com/office/drawing/2014/main" id="{9AE94FB6-CFFD-45AB-9329-E60C68E9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很多相似段落过去其实处理过，但经验散在历史材料里，新一轮判断时不容易马上找到。</a:t>
            </a:r>
          </a:p>
        </p:txBody>
      </p:sp>
      <p:sp>
        <p:nvSpPr>
          <p:cNvPr id="10" name="col-2">
            <a:extLst xmlns:a="http://schemas.openxmlformats.org/drawingml/2006/main">
              <a:ext uri="{FF2B5EF4-FFF2-40B4-BE49-F238E27FC236}">
                <a16:creationId xmlns:a16="http://schemas.microsoft.com/office/drawing/2014/main" id="{2A1CA939-AD86-4DA1-BBBA-7F5DAAF3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col-head-2">
            <a:extLst xmlns:a="http://schemas.openxmlformats.org/drawingml/2006/main">
              <a:ext uri="{FF2B5EF4-FFF2-40B4-BE49-F238E27FC236}">
                <a16:creationId xmlns:a16="http://schemas.microsoft.com/office/drawing/2014/main" id="{650AEDDC-E169-4279-B1B5-327C2670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建设目标</a:t>
            </a:r>
          </a:p>
        </p:txBody>
      </p:sp>
      <p:sp>
        <p:nvSpPr>
          <p:cNvPr id="12" name="col-body-2">
            <a:extLst xmlns:a="http://schemas.openxmlformats.org/drawingml/2006/main">
              <a:ext uri="{FF2B5EF4-FFF2-40B4-BE49-F238E27FC236}">
                <a16:creationId xmlns:a16="http://schemas.microsoft.com/office/drawing/2014/main" id="{71833C7E-7CEC-4E20-A766-4F7C73CC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让系统先找出相似历史段落和候选类型，业务人员再结合上下文做最终确认。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600DA474-D11D-40E4-8D39-FA41EADB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164825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C2751D21-2CCB-4AAB-8DF6-2A171044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9DF63EF-76F8-4BE7-8CC7-4CB3D82E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第一版先做一条简单可用、容易解释的闭环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F2C8D84-F3E3-4A0F-AF86-7C788F46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4528B14D-AC0A-4B50-8312-D6901028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F9A4E31F-92D9-47D8-AFFB-6CEE1703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1</a:t>
            </a:r>
          </a:p>
        </p:txBody>
      </p:sp>
      <p:sp>
        <p:nvSpPr>
          <p:cNvPr id="6" name="step-text-0">
            <a:extLst xmlns:a="http://schemas.openxmlformats.org/drawingml/2006/main">
              <a:ext uri="{FF2B5EF4-FFF2-40B4-BE49-F238E27FC236}">
                <a16:creationId xmlns:a16="http://schemas.microsoft.com/office/drawing/2014/main" id="{C965701B-A92C-4796-A96D-D3F7CD53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导入确认过的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历史样本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C23ABE7A-89B8-49CA-B9CA-478BF373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425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C6A7A45D-DB3C-4665-89E8-1E3F07D5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825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2</a:t>
            </a:r>
          </a:p>
        </p:txBody>
      </p:sp>
      <p:sp>
        <p:nvSpPr>
          <p:cNvPr id="9" name="step-text-1">
            <a:extLst xmlns:a="http://schemas.openxmlformats.org/drawingml/2006/main">
              <a:ext uri="{FF2B5EF4-FFF2-40B4-BE49-F238E27FC236}">
                <a16:creationId xmlns:a16="http://schemas.microsoft.com/office/drawing/2014/main" id="{B6CFCF0E-AFCB-4BD2-9771-6C6321D7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675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生成段落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语义向量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DA8F8CD4-AA0A-4C3E-8AB5-581B4BE6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num-2">
            <a:extLst xmlns:a="http://schemas.openxmlformats.org/drawingml/2006/main">
              <a:ext uri="{FF2B5EF4-FFF2-40B4-BE49-F238E27FC236}">
                <a16:creationId xmlns:a16="http://schemas.microsoft.com/office/drawing/2014/main" id="{4005454E-F139-4997-8027-3BA3ECA3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3</a:t>
            </a:r>
          </a:p>
        </p:txBody>
      </p:sp>
      <p:sp>
        <p:nvSpPr>
          <p:cNvPr id="12" name="step-text-2">
            <a:extLst xmlns:a="http://schemas.openxmlformats.org/drawingml/2006/main">
              <a:ext uri="{FF2B5EF4-FFF2-40B4-BE49-F238E27FC236}">
                <a16:creationId xmlns:a16="http://schemas.microsoft.com/office/drawing/2014/main" id="{A4F62A50-282E-49A5-AD90-1FC83A76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300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保存到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Oracle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50478031-779A-4383-94B6-CEEF6891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4" name="num-3">
            <a:extLst xmlns:a="http://schemas.openxmlformats.org/drawingml/2006/main">
              <a:ext uri="{FF2B5EF4-FFF2-40B4-BE49-F238E27FC236}">
                <a16:creationId xmlns:a16="http://schemas.microsoft.com/office/drawing/2014/main" id="{2AE4B8DC-11B2-4CDC-AEF3-1BA2813D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4</a:t>
            </a:r>
          </a:p>
        </p:txBody>
      </p:sp>
      <p:sp>
        <p:nvSpPr>
          <p:cNvPr id="15" name="step-text-3">
            <a:extLst xmlns:a="http://schemas.openxmlformats.org/drawingml/2006/main">
              <a:ext uri="{FF2B5EF4-FFF2-40B4-BE49-F238E27FC236}">
                <a16:creationId xmlns:a16="http://schemas.microsoft.com/office/drawing/2014/main" id="{ECDE1510-4FD8-4085-BC8A-59364EDB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加载到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内存索引</a:t>
            </a:r>
          </a:p>
        </p:txBody>
      </p:sp>
      <p:sp>
        <p:nvSpPr>
          <p:cNvPr id="16" name="step-4">
            <a:extLst xmlns:a="http://schemas.openxmlformats.org/drawingml/2006/main">
              <a:ext uri="{FF2B5EF4-FFF2-40B4-BE49-F238E27FC236}">
                <a16:creationId xmlns:a16="http://schemas.microsoft.com/office/drawing/2014/main" id="{00DBB2F4-30C6-4D23-B8B3-AE1C64EF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7" name="num-4">
            <a:extLst xmlns:a="http://schemas.openxmlformats.org/drawingml/2006/main">
              <a:ext uri="{FF2B5EF4-FFF2-40B4-BE49-F238E27FC236}">
                <a16:creationId xmlns:a16="http://schemas.microsoft.com/office/drawing/2014/main" id="{71B5B143-5DCE-4785-8454-345EA3A8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5</a:t>
            </a:r>
          </a:p>
        </p:txBody>
      </p:sp>
      <p:sp>
        <p:nvSpPr>
          <p:cNvPr id="18" name="step-text-4">
            <a:extLst xmlns:a="http://schemas.openxmlformats.org/drawingml/2006/main">
              <a:ext uri="{FF2B5EF4-FFF2-40B4-BE49-F238E27FC236}">
                <a16:creationId xmlns:a16="http://schemas.microsoft.com/office/drawing/2014/main" id="{7A6D9BEE-9E1B-40A6-B32D-50F53538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0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新段落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发起预测</a:t>
            </a:r>
          </a:p>
        </p:txBody>
      </p:sp>
      <p:sp>
        <p:nvSpPr>
          <p:cNvPr id="19" name="step-5">
            <a:extLst xmlns:a="http://schemas.openxmlformats.org/drawingml/2006/main">
              <a:ext uri="{FF2B5EF4-FFF2-40B4-BE49-F238E27FC236}">
                <a16:creationId xmlns:a16="http://schemas.microsoft.com/office/drawing/2014/main" id="{FC1A56CE-A29D-400C-98FB-F23B703B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0" name="num-5">
            <a:extLst xmlns:a="http://schemas.openxmlformats.org/drawingml/2006/main">
              <a:ext uri="{FF2B5EF4-FFF2-40B4-BE49-F238E27FC236}">
                <a16:creationId xmlns:a16="http://schemas.microsoft.com/office/drawing/2014/main" id="{78D92FC6-8572-42FC-89C5-97BDABB3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325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6</a:t>
            </a:r>
          </a:p>
        </p:txBody>
      </p:sp>
      <p:sp>
        <p:nvSpPr>
          <p:cNvPr id="21" name="step-text-5">
            <a:extLst xmlns:a="http://schemas.openxmlformats.org/drawingml/2006/main">
              <a:ext uri="{FF2B5EF4-FFF2-40B4-BE49-F238E27FC236}">
                <a16:creationId xmlns:a16="http://schemas.microsoft.com/office/drawing/2014/main" id="{2A233147-0529-41B2-B194-D79F36E7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175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返回类型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和参考依据</a:t>
            </a:r>
          </a:p>
        </p:txBody>
      </p:sp>
      <p:sp>
        <p:nvSpPr>
          <p:cNvPr id="22" name="explain">
            <a:extLst xmlns:a="http://schemas.openxmlformats.org/drawingml/2006/main">
              <a:ext uri="{FF2B5EF4-FFF2-40B4-BE49-F238E27FC236}">
                <a16:creationId xmlns:a16="http://schemas.microsoft.com/office/drawing/2014/main" id="{B6E2BD48-78AD-4797-B17A-3F61DF0D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业务上看到的是“历史经验被复用”；技术上做的是“段落向量化 + 相似检索 + 多标签投票”。</a:t>
            </a:r>
          </a:p>
        </p:txBody>
      </p:sp>
      <p:sp>
        <p:nvSpPr>
          <p:cNvPr id="23" name="note-box">
            <a:extLst xmlns:a="http://schemas.openxmlformats.org/drawingml/2006/main">
              <a:ext uri="{FF2B5EF4-FFF2-40B4-BE49-F238E27FC236}">
                <a16:creationId xmlns:a16="http://schemas.microsoft.com/office/drawing/2014/main" id="{46BE6708-15B3-4893-ABBB-C2F4CF51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4C783"/>
            </a:solidFill>
            <a:prstDash val="solid"/>
          </a:ln>
        </p:spPr>
      </p:sp>
      <p:sp>
        <p:nvSpPr>
          <p:cNvPr id="24" name="note-text">
            <a:extLst xmlns:a="http://schemas.openxmlformats.org/drawingml/2006/main">
              <a:ext uri="{FF2B5EF4-FFF2-40B4-BE49-F238E27FC236}">
                <a16:creationId xmlns:a16="http://schemas.microsoft.com/office/drawing/2014/main" id="{C93D99C7-7991-44BF-BAB0-EA80AB24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14900"/>
            <a:ext cx="899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46300"/>
                </a:solidFill>
              </a:defRPr>
            </a:pPr>
            <a:r>
              <a:rPr sz="1575" b="1">
                <a:solidFill>
                  <a:srgbClr val="A46300"/>
                </a:solidFill>
              </a:rPr>
              <a:t>第一版先把核心闭环跑通，不急着引入更重的组件。</a:t>
            </a:r>
          </a:p>
        </p:txBody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DD3FFC0F-60D1-4508-A58E-74A29CB1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8624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5A8F860A-C865-4502-87E2-C5A20A26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35CB7C-30CA-4126-827F-86F52CC3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历史样本导入时，系统把段落变成可比较的知识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4F02973-8E73-437C-8219-2B55B51A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col-0">
            <a:extLst xmlns:a="http://schemas.openxmlformats.org/drawingml/2006/main">
              <a:ext uri="{FF2B5EF4-FFF2-40B4-BE49-F238E27FC236}">
                <a16:creationId xmlns:a16="http://schemas.microsoft.com/office/drawing/2014/main" id="{EF8A0AA7-708B-4EE3-B36D-0E75F9A9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6D67C9D6-18F2-49F3-816F-E85489C3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Excel 输入</a:t>
            </a:r>
          </a:p>
        </p:txBody>
      </p:sp>
      <p:sp>
        <p:nvSpPr>
          <p:cNvPr id="6" name="col-body-0">
            <a:extLst xmlns:a="http://schemas.openxmlformats.org/drawingml/2006/main">
              <a:ext uri="{FF2B5EF4-FFF2-40B4-BE49-F238E27FC236}">
                <a16:creationId xmlns:a16="http://schemas.microsoft.com/office/drawing/2014/main" id="{CC28DEAE-44E8-46FE-910E-822A8C1A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每行是一段历史合同段落，以及人工确认过的一个或多个变更类型编码。</a:t>
            </a:r>
          </a:p>
        </p:txBody>
      </p:sp>
      <p:sp>
        <p:nvSpPr>
          <p:cNvPr id="7" name="col-1">
            <a:extLst xmlns:a="http://schemas.openxmlformats.org/drawingml/2006/main">
              <a:ext uri="{FF2B5EF4-FFF2-40B4-BE49-F238E27FC236}">
                <a16:creationId xmlns:a16="http://schemas.microsoft.com/office/drawing/2014/main" id="{E91A3BDC-3935-4FBC-B982-5652A0EB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col-head-1">
            <a:extLst xmlns:a="http://schemas.openxmlformats.org/drawingml/2006/main">
              <a:ext uri="{FF2B5EF4-FFF2-40B4-BE49-F238E27FC236}">
                <a16:creationId xmlns:a16="http://schemas.microsoft.com/office/drawing/2014/main" id="{6CEA679A-0190-4D42-AB43-90FB18F1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文本处理</a:t>
            </a:r>
          </a:p>
        </p:txBody>
      </p:sp>
      <p:sp>
        <p:nvSpPr>
          <p:cNvPr id="9" name="col-body-1">
            <a:extLst xmlns:a="http://schemas.openxmlformats.org/drawingml/2006/main">
              <a:ext uri="{FF2B5EF4-FFF2-40B4-BE49-F238E27FC236}">
                <a16:creationId xmlns:a16="http://schemas.microsoft.com/office/drawing/2014/main" id="{711B372F-EA0C-4DA6-B4F6-1E1FDF70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系统会规范化文本并计算 Hash。完全相同的段落可以快速识别，也能避免重复沉淀。</a:t>
            </a:r>
          </a:p>
        </p:txBody>
      </p:sp>
      <p:sp>
        <p:nvSpPr>
          <p:cNvPr id="10" name="col-2">
            <a:extLst xmlns:a="http://schemas.openxmlformats.org/drawingml/2006/main">
              <a:ext uri="{FF2B5EF4-FFF2-40B4-BE49-F238E27FC236}">
                <a16:creationId xmlns:a16="http://schemas.microsoft.com/office/drawing/2014/main" id="{EA850D26-1193-441A-8F88-FB349688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col-head-2">
            <a:extLst xmlns:a="http://schemas.openxmlformats.org/drawingml/2006/main">
              <a:ext uri="{FF2B5EF4-FFF2-40B4-BE49-F238E27FC236}">
                <a16:creationId xmlns:a16="http://schemas.microsoft.com/office/drawing/2014/main" id="{E76EBE8C-4349-48AC-8115-4EEBAAF6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向量生成</a:t>
            </a:r>
          </a:p>
        </p:txBody>
      </p:sp>
      <p:sp>
        <p:nvSpPr>
          <p:cNvPr id="12" name="col-body-2">
            <a:extLst xmlns:a="http://schemas.openxmlformats.org/drawingml/2006/main">
              <a:ext uri="{FF2B5EF4-FFF2-40B4-BE49-F238E27FC236}">
                <a16:creationId xmlns:a16="http://schemas.microsoft.com/office/drawing/2014/main" id="{8F34CE76-EEE8-408D-A3DC-BC980A08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调用公司统一 Embedding 网关，把段落转成 1024 维向量，再保存为历史样本。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4CEBDAD-6F17-40FE-98A6-A8746E17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99344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85DE87F3-1377-4004-AEE5-EABE9A01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A7F116-07BE-4A20-B864-C7535383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模型只负责理解文字，不直接决定变更类型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B24AA7A-0C87-4DA0-9045-4CF25A01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col-0">
            <a:extLst xmlns:a="http://schemas.openxmlformats.org/drawingml/2006/main">
              <a:ext uri="{FF2B5EF4-FFF2-40B4-BE49-F238E27FC236}">
                <a16:creationId xmlns:a16="http://schemas.microsoft.com/office/drawing/2014/main" id="{ED444D9C-1E08-44BC-A3C9-15473B32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C645D6C9-5187-419C-927F-7470EBB1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准备请求</a:t>
            </a:r>
          </a:p>
        </p:txBody>
      </p:sp>
      <p:sp>
        <p:nvSpPr>
          <p:cNvPr id="6" name="col-body-0">
            <a:extLst xmlns:a="http://schemas.openxmlformats.org/drawingml/2006/main">
              <a:ext uri="{FF2B5EF4-FFF2-40B4-BE49-F238E27FC236}">
                <a16:creationId xmlns:a16="http://schemas.microsoft.com/office/drawing/2014/main" id="{82BCE32C-C692-488B-A35D-A78934A0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段落经过规范化后送往公司统一 Embedding 网关。请求携带业务 UserId，并明确指定模型、1024 维和 float 格式。</a:t>
            </a:r>
          </a:p>
        </p:txBody>
      </p:sp>
      <p:sp>
        <p:nvSpPr>
          <p:cNvPr id="7" name="col-1">
            <a:extLst xmlns:a="http://schemas.openxmlformats.org/drawingml/2006/main">
              <a:ext uri="{FF2B5EF4-FFF2-40B4-BE49-F238E27FC236}">
                <a16:creationId xmlns:a16="http://schemas.microsoft.com/office/drawing/2014/main" id="{6590D4A4-0D1D-49B3-A27A-FE857851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col-head-1">
            <a:extLst xmlns:a="http://schemas.openxmlformats.org/drawingml/2006/main">
              <a:ext uri="{FF2B5EF4-FFF2-40B4-BE49-F238E27FC236}">
                <a16:creationId xmlns:a16="http://schemas.microsoft.com/office/drawing/2014/main" id="{331D9229-02C6-4359-846A-43BA0280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生成向量</a:t>
            </a:r>
          </a:p>
        </p:txBody>
      </p:sp>
      <p:sp>
        <p:nvSpPr>
          <p:cNvPr id="9" name="col-body-1">
            <a:extLst xmlns:a="http://schemas.openxmlformats.org/drawingml/2006/main">
              <a:ext uri="{FF2B5EF4-FFF2-40B4-BE49-F238E27FC236}">
                <a16:creationId xmlns:a16="http://schemas.microsoft.com/office/drawing/2014/main" id="{F3ADD1A4-E921-4A8D-BE7B-DBBAC076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模型把一段文字转换成 1024 个浮点数。它表达的是段落语义位置，不会直接输出 20、25、43 这类业务编码。</a:t>
            </a:r>
          </a:p>
        </p:txBody>
      </p:sp>
      <p:sp>
        <p:nvSpPr>
          <p:cNvPr id="10" name="col-2">
            <a:extLst xmlns:a="http://schemas.openxmlformats.org/drawingml/2006/main">
              <a:ext uri="{FF2B5EF4-FFF2-40B4-BE49-F238E27FC236}">
                <a16:creationId xmlns:a16="http://schemas.microsoft.com/office/drawing/2014/main" id="{8D15F7D8-A731-41E1-913B-0EF81D29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col-head-2">
            <a:extLst xmlns:a="http://schemas.openxmlformats.org/drawingml/2006/main">
              <a:ext uri="{FF2B5EF4-FFF2-40B4-BE49-F238E27FC236}">
                <a16:creationId xmlns:a16="http://schemas.microsoft.com/office/drawing/2014/main" id="{4505F032-AF1C-4E6E-8B93-7BA6261C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校验结果</a:t>
            </a:r>
          </a:p>
        </p:txBody>
      </p:sp>
      <p:sp>
        <p:nvSpPr>
          <p:cNvPr id="12" name="col-body-2">
            <a:extLst xmlns:a="http://schemas.openxmlformats.org/drawingml/2006/main">
              <a:ext uri="{FF2B5EF4-FFF2-40B4-BE49-F238E27FC236}">
                <a16:creationId xmlns:a16="http://schemas.microsoft.com/office/drawing/2014/main" id="{A0D185BD-0536-4EA3-B263-F4061EFF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服务会校验返回数量、顺序、维度和非法数值，再做 L2 归一化，让后续点积可以直接表示余弦相似度。</a:t>
            </a:r>
          </a:p>
        </p:txBody>
      </p:sp>
      <p:sp>
        <p:nvSpPr>
          <p:cNvPr id="13" name="note-box">
            <a:extLst xmlns:a="http://schemas.openxmlformats.org/drawingml/2006/main">
              <a:ext uri="{FF2B5EF4-FFF2-40B4-BE49-F238E27FC236}">
                <a16:creationId xmlns:a16="http://schemas.microsoft.com/office/drawing/2014/main" id="{2FDE6012-0C3F-42B9-B0D8-F707D5AD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4C783"/>
            </a:solidFill>
            <a:prstDash val="solid"/>
          </a:ln>
        </p:spPr>
      </p:sp>
      <p:sp>
        <p:nvSpPr>
          <p:cNvPr id="14" name="note-text">
            <a:extLst xmlns:a="http://schemas.openxmlformats.org/drawingml/2006/main">
              <a:ext uri="{FF2B5EF4-FFF2-40B4-BE49-F238E27FC236}">
                <a16:creationId xmlns:a16="http://schemas.microsoft.com/office/drawing/2014/main" id="{C1056611-2093-47E7-836A-D8CCFD3B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899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8A5A"/>
                </a:solidFill>
              </a:defRPr>
            </a:pPr>
            <a:r>
              <a:rPr sz="1575" b="1">
                <a:solidFill>
                  <a:srgbClr val="1B8A5A"/>
                </a:solidFill>
              </a:rPr>
              <a:t>模型解决“文字怎样比较”，业务类型仍由历史证据和投票规则决定。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5CA917D4-7285-42C2-9F51-209B4E0C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123590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2363741D-A5B9-4127-8DC5-88BCBDDA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697C386-3231-4ADA-AABA-306D4BFC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向量入库后，查询依靠一份完整、稳定的内存快照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B33C88E-CE5A-4D7C-8B33-5707770A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7EB20C86-92C2-48D5-A114-2F65EF6F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57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446811DA-A52F-417D-8E9D-16D4B33D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1</a:t>
            </a:r>
          </a:p>
        </p:txBody>
      </p:sp>
      <p:sp>
        <p:nvSpPr>
          <p:cNvPr id="6" name="step-text-0">
            <a:extLst xmlns:a="http://schemas.openxmlformats.org/drawingml/2006/main">
              <a:ext uri="{FF2B5EF4-FFF2-40B4-BE49-F238E27FC236}">
                <a16:creationId xmlns:a16="http://schemas.microsoft.com/office/drawing/2014/main" id="{A1EC0A09-6462-4616-9C78-F7E41901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Oracle 保存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历史知识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4E1D3831-91E0-4745-A62A-D105133B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52650"/>
            <a:ext cx="2057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DF2EE68F-B13E-4998-AE2F-4FE84195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2</a:t>
            </a:r>
          </a:p>
        </p:txBody>
      </p:sp>
      <p:sp>
        <p:nvSpPr>
          <p:cNvPr id="9" name="step-text-1">
            <a:extLst xmlns:a="http://schemas.openxmlformats.org/drawingml/2006/main">
              <a:ext uri="{FF2B5EF4-FFF2-40B4-BE49-F238E27FC236}">
                <a16:creationId xmlns:a16="http://schemas.microsoft.com/office/drawing/2014/main" id="{C2A4B26B-BFF9-4C57-97FB-9F391C31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0505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读取当前模型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有效样本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0D944F6B-4D9C-4442-9BE7-9EDE0E53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057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num-2">
            <a:extLst xmlns:a="http://schemas.openxmlformats.org/drawingml/2006/main">
              <a:ext uri="{FF2B5EF4-FFF2-40B4-BE49-F238E27FC236}">
                <a16:creationId xmlns:a16="http://schemas.microsoft.com/office/drawing/2014/main" id="{181AEC48-8D41-4239-AA4E-5386E564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3</a:t>
            </a:r>
          </a:p>
        </p:txBody>
      </p:sp>
      <p:sp>
        <p:nvSpPr>
          <p:cNvPr id="12" name="step-text-2">
            <a:extLst xmlns:a="http://schemas.openxmlformats.org/drawingml/2006/main">
              <a:ext uri="{FF2B5EF4-FFF2-40B4-BE49-F238E27FC236}">
                <a16:creationId xmlns:a16="http://schemas.microsoft.com/office/drawing/2014/main" id="{57826639-225A-4A47-9525-B24FB25B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0505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BLOB 还原为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float[1024]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202A614C-8678-4E94-8F05-5E65A1D8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52650"/>
            <a:ext cx="2057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4" name="num-3">
            <a:extLst xmlns:a="http://schemas.openxmlformats.org/drawingml/2006/main">
              <a:ext uri="{FF2B5EF4-FFF2-40B4-BE49-F238E27FC236}">
                <a16:creationId xmlns:a16="http://schemas.microsoft.com/office/drawing/2014/main" id="{FF5847E9-A3D8-4380-9776-701FBEFF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4</a:t>
            </a:r>
          </a:p>
        </p:txBody>
      </p:sp>
      <p:sp>
        <p:nvSpPr>
          <p:cNvPr id="15" name="step-text-3">
            <a:extLst xmlns:a="http://schemas.openxmlformats.org/drawingml/2006/main">
              <a:ext uri="{FF2B5EF4-FFF2-40B4-BE49-F238E27FC236}">
                <a16:creationId xmlns:a16="http://schemas.microsoft.com/office/drawing/2014/main" id="{17616313-9993-4D03-A78C-C3104918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0505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构建列表和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Hash 查找表</a:t>
            </a:r>
          </a:p>
        </p:txBody>
      </p:sp>
      <p:sp>
        <p:nvSpPr>
          <p:cNvPr id="16" name="step-4">
            <a:extLst xmlns:a="http://schemas.openxmlformats.org/drawingml/2006/main">
              <a:ext uri="{FF2B5EF4-FFF2-40B4-BE49-F238E27FC236}">
                <a16:creationId xmlns:a16="http://schemas.microsoft.com/office/drawing/2014/main" id="{609C235D-689B-462D-9F12-2EA3DEAF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52650"/>
            <a:ext cx="2057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7" name="num-4">
            <a:extLst xmlns:a="http://schemas.openxmlformats.org/drawingml/2006/main">
              <a:ext uri="{FF2B5EF4-FFF2-40B4-BE49-F238E27FC236}">
                <a16:creationId xmlns:a16="http://schemas.microsoft.com/office/drawing/2014/main" id="{8321520F-060B-4AE2-899D-9386D5A7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5</a:t>
            </a:r>
          </a:p>
        </p:txBody>
      </p:sp>
      <p:sp>
        <p:nvSpPr>
          <p:cNvPr id="18" name="step-text-4">
            <a:extLst xmlns:a="http://schemas.openxmlformats.org/drawingml/2006/main">
              <a:ext uri="{FF2B5EF4-FFF2-40B4-BE49-F238E27FC236}">
                <a16:creationId xmlns:a16="http://schemas.microsoft.com/office/drawing/2014/main" id="{38C0A570-7BEE-4FA0-821D-B0EB7A5B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0505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完整后一次性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替换旧快照</a:t>
            </a:r>
          </a:p>
        </p:txBody>
      </p:sp>
      <p:sp>
        <p:nvSpPr>
          <p:cNvPr id="19" name="dot-0">
            <a:extLst xmlns:a="http://schemas.openxmlformats.org/drawingml/2006/main">
              <a:ext uri="{FF2B5EF4-FFF2-40B4-BE49-F238E27FC236}">
                <a16:creationId xmlns:a16="http://schemas.microsoft.com/office/drawing/2014/main" id="{AFA99CC8-3B17-4AB6-B173-26767550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20" name="bullet-0">
            <a:extLst xmlns:a="http://schemas.openxmlformats.org/drawingml/2006/main">
              <a:ext uri="{FF2B5EF4-FFF2-40B4-BE49-F238E27FC236}">
                <a16:creationId xmlns:a16="http://schemas.microsoft.com/office/drawing/2014/main" id="{078E911D-3B64-4EE1-A281-9E55965D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9050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Oracle 负责持久保存，服务重启后知识仍然存在</a:t>
            </a:r>
          </a:p>
        </p:txBody>
      </p:sp>
      <p:sp>
        <p:nvSpPr>
          <p:cNvPr id="21" name="dot-1">
            <a:extLst xmlns:a="http://schemas.openxmlformats.org/drawingml/2006/main">
              <a:ext uri="{FF2B5EF4-FFF2-40B4-BE49-F238E27FC236}">
                <a16:creationId xmlns:a16="http://schemas.microsoft.com/office/drawing/2014/main" id="{332666FD-4C1C-48E0-9F61-25389419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22" name="bullet-1">
            <a:extLst xmlns:a="http://schemas.openxmlformats.org/drawingml/2006/main">
              <a:ext uri="{FF2B5EF4-FFF2-40B4-BE49-F238E27FC236}">
                <a16:creationId xmlns:a16="http://schemas.microsoft.com/office/drawing/2014/main" id="{59CD1D20-9C74-4529-A69C-13523C54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24350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Hash 查找表处理完全相同段落，向量列表处理语义相似段落</a:t>
            </a:r>
          </a:p>
        </p:txBody>
      </p:sp>
      <p:sp>
        <p:nvSpPr>
          <p:cNvPr id="23" name="dot-2">
            <a:extLst xmlns:a="http://schemas.openxmlformats.org/drawingml/2006/main">
              <a:ext uri="{FF2B5EF4-FFF2-40B4-BE49-F238E27FC236}">
                <a16:creationId xmlns:a16="http://schemas.microsoft.com/office/drawing/2014/main" id="{CC8E2856-4B3D-4F8F-8826-D5F0C49F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24" name="bullet-2">
            <a:extLst xmlns:a="http://schemas.openxmlformats.org/drawingml/2006/main">
              <a:ext uri="{FF2B5EF4-FFF2-40B4-BE49-F238E27FC236}">
                <a16:creationId xmlns:a16="http://schemas.microsoft.com/office/drawing/2014/main" id="{BEAD5709-FC61-49F9-AE6E-FD1AF8CE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19650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重新加载期间继续使用旧快照，避免预测请求读到一半数据</a:t>
            </a:r>
          </a:p>
        </p:txBody>
      </p:sp>
      <p:sp>
        <p:nvSpPr>
          <p:cNvPr id="25" name="note-box">
            <a:extLst xmlns:a="http://schemas.openxmlformats.org/drawingml/2006/main">
              <a:ext uri="{FF2B5EF4-FFF2-40B4-BE49-F238E27FC236}">
                <a16:creationId xmlns:a16="http://schemas.microsoft.com/office/drawing/2014/main" id="{39F5ADBF-2E13-440C-9781-C25F0CBA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4C783"/>
            </a:solidFill>
            <a:prstDash val="solid"/>
          </a:ln>
        </p:spPr>
      </p:sp>
      <p:sp>
        <p:nvSpPr>
          <p:cNvPr id="26" name="note-text">
            <a:extLst xmlns:a="http://schemas.openxmlformats.org/drawingml/2006/main">
              <a:ext uri="{FF2B5EF4-FFF2-40B4-BE49-F238E27FC236}">
                <a16:creationId xmlns:a16="http://schemas.microsoft.com/office/drawing/2014/main" id="{5063EEC0-5075-4601-AA86-AD7DC8AC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81650"/>
            <a:ext cx="899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8A5A"/>
                </a:solidFill>
              </a:defRPr>
            </a:pPr>
            <a:r>
              <a:rPr sz="1575" b="1">
                <a:solidFill>
                  <a:srgbClr val="1B8A5A"/>
                </a:solidFill>
              </a:rPr>
              <a:t>可以把 Oracle 理解为知识仓库，把 JVM 快照理解为预测时的工作台。</a:t>
            </a:r>
          </a:p>
        </p:txBody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D596C92F-3EFD-4D04-8B5F-B0379DFA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872852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F5012E2A-91E5-4789-AB35-753118A6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BBE82D-2648-4E7F-B5E8-F6E3D330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预测时，先找完全相同，再找语义相近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21F031E-824D-46D3-B229-99921B81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D30D07BD-845E-4E5F-9930-63273BE4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9674D0F5-4BE6-4409-8F80-D74C29D8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1</a:t>
            </a:r>
          </a:p>
        </p:txBody>
      </p:sp>
      <p:sp>
        <p:nvSpPr>
          <p:cNvPr id="6" name="step-text-0">
            <a:extLst xmlns:a="http://schemas.openxmlformats.org/drawingml/2006/main">
              <a:ext uri="{FF2B5EF4-FFF2-40B4-BE49-F238E27FC236}">
                <a16:creationId xmlns:a16="http://schemas.microsoft.com/office/drawing/2014/main" id="{94A33B87-F24E-48AF-BF03-55DBDDD9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新段落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规范化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C3CD9064-9542-414D-80BF-56E3577F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425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F5AB7DE9-0440-4B46-87BA-DA16EF70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825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2</a:t>
            </a:r>
          </a:p>
        </p:txBody>
      </p:sp>
      <p:sp>
        <p:nvSpPr>
          <p:cNvPr id="9" name="step-text-1">
            <a:extLst xmlns:a="http://schemas.openxmlformats.org/drawingml/2006/main">
              <a:ext uri="{FF2B5EF4-FFF2-40B4-BE49-F238E27FC236}">
                <a16:creationId xmlns:a16="http://schemas.microsoft.com/office/drawing/2014/main" id="{CDA0CF98-D1F8-4142-8134-69418E2E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675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Hash 精确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命中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AA912130-A844-4693-9F33-05834908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num-2">
            <a:extLst xmlns:a="http://schemas.openxmlformats.org/drawingml/2006/main">
              <a:ext uri="{FF2B5EF4-FFF2-40B4-BE49-F238E27FC236}">
                <a16:creationId xmlns:a16="http://schemas.microsoft.com/office/drawing/2014/main" id="{171A0B2A-E7A9-4D67-9DA4-A1311DDE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3</a:t>
            </a:r>
          </a:p>
        </p:txBody>
      </p:sp>
      <p:sp>
        <p:nvSpPr>
          <p:cNvPr id="12" name="step-text-2">
            <a:extLst xmlns:a="http://schemas.openxmlformats.org/drawingml/2006/main">
              <a:ext uri="{FF2B5EF4-FFF2-40B4-BE49-F238E27FC236}">
                <a16:creationId xmlns:a16="http://schemas.microsoft.com/office/drawing/2014/main" id="{667B387A-2F20-471C-99D6-C4D762FF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300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未命中才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调用模型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2092A556-674D-48CB-8771-64B7FEC3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4" name="num-3">
            <a:extLst xmlns:a="http://schemas.openxmlformats.org/drawingml/2006/main">
              <a:ext uri="{FF2B5EF4-FFF2-40B4-BE49-F238E27FC236}">
                <a16:creationId xmlns:a16="http://schemas.microsoft.com/office/drawing/2014/main" id="{5A7158DB-B8C2-4922-9720-03BBB75B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4</a:t>
            </a:r>
          </a:p>
        </p:txBody>
      </p:sp>
      <p:sp>
        <p:nvSpPr>
          <p:cNvPr id="15" name="step-text-3">
            <a:extLst xmlns:a="http://schemas.openxmlformats.org/drawingml/2006/main">
              <a:ext uri="{FF2B5EF4-FFF2-40B4-BE49-F238E27FC236}">
                <a16:creationId xmlns:a16="http://schemas.microsoft.com/office/drawing/2014/main" id="{4B1D94C2-14CA-45CB-8466-2A9AE750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找 Top 10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相似样本</a:t>
            </a:r>
          </a:p>
        </p:txBody>
      </p:sp>
      <p:sp>
        <p:nvSpPr>
          <p:cNvPr id="16" name="step-4">
            <a:extLst xmlns:a="http://schemas.openxmlformats.org/drawingml/2006/main">
              <a:ext uri="{FF2B5EF4-FFF2-40B4-BE49-F238E27FC236}">
                <a16:creationId xmlns:a16="http://schemas.microsoft.com/office/drawing/2014/main" id="{C00CF728-8833-4490-ADA0-687D1FA7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7" name="num-4">
            <a:extLst xmlns:a="http://schemas.openxmlformats.org/drawingml/2006/main">
              <a:ext uri="{FF2B5EF4-FFF2-40B4-BE49-F238E27FC236}">
                <a16:creationId xmlns:a16="http://schemas.microsoft.com/office/drawing/2014/main" id="{C79DA7F4-215F-4F58-B5CA-237DDC4D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5</a:t>
            </a:r>
          </a:p>
        </p:txBody>
      </p:sp>
      <p:sp>
        <p:nvSpPr>
          <p:cNvPr id="18" name="step-text-4">
            <a:extLst xmlns:a="http://schemas.openxmlformats.org/drawingml/2006/main">
              <a:ext uri="{FF2B5EF4-FFF2-40B4-BE49-F238E27FC236}">
                <a16:creationId xmlns:a16="http://schemas.microsoft.com/office/drawing/2014/main" id="{AC1E1376-D797-4E1A-A683-2C031B15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0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按相似度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加权投票</a:t>
            </a:r>
          </a:p>
        </p:txBody>
      </p:sp>
      <p:sp>
        <p:nvSpPr>
          <p:cNvPr id="19" name="step-5">
            <a:extLst xmlns:a="http://schemas.openxmlformats.org/drawingml/2006/main">
              <a:ext uri="{FF2B5EF4-FFF2-40B4-BE49-F238E27FC236}">
                <a16:creationId xmlns:a16="http://schemas.microsoft.com/office/drawing/2014/main" id="{F7C89CD2-DE86-4870-8617-F50F57A7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0" name="num-5">
            <a:extLst xmlns:a="http://schemas.openxmlformats.org/drawingml/2006/main">
              <a:ext uri="{FF2B5EF4-FFF2-40B4-BE49-F238E27FC236}">
                <a16:creationId xmlns:a16="http://schemas.microsoft.com/office/drawing/2014/main" id="{9F3FDFA5-5731-4C00-B90F-0CB4D519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325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6</a:t>
            </a:r>
          </a:p>
        </p:txBody>
      </p:sp>
      <p:sp>
        <p:nvSpPr>
          <p:cNvPr id="21" name="step-text-5">
            <a:extLst xmlns:a="http://schemas.openxmlformats.org/drawingml/2006/main">
              <a:ext uri="{FF2B5EF4-FFF2-40B4-BE49-F238E27FC236}">
                <a16:creationId xmlns:a16="http://schemas.microsoft.com/office/drawing/2014/main" id="{D0A5A778-37EE-4F9D-9DF3-1BE3B3DD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175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输出候选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变更类型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EEAC0A3B-85A7-4BA7-8076-E2D4D1A0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这套顺序的好处是：能精确复用的先复用，需要语义判断时再调用模型，结果也能追溯到历史参考段落。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6CAB49E0-19CD-4E63-9C22-38993852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027550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CEE5FC4B-4945-4311-81BB-CE92FC66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CD79C10-BCEE-465C-ADBE-BF2399D7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投票不是只看第一条，而是看相似证据能否形成共识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0923371-9EDA-41B5-AC39-1A109F4B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evidence-head">
            <a:extLst xmlns:a="http://schemas.openxmlformats.org/drawingml/2006/main">
              <a:ext uri="{FF2B5EF4-FFF2-40B4-BE49-F238E27FC236}">
                <a16:creationId xmlns:a16="http://schemas.microsoft.com/office/drawing/2014/main" id="{F1D74402-B972-485F-8950-9A36106B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进入投票的历史证据（简化示例）</a:t>
            </a:r>
          </a:p>
        </p:txBody>
      </p:sp>
      <p:sp>
        <p:nvSpPr>
          <p:cNvPr id="5" name="vote-row-0">
            <a:extLst xmlns:a="http://schemas.openxmlformats.org/drawingml/2006/main">
              <a:ext uri="{FF2B5EF4-FFF2-40B4-BE49-F238E27FC236}">
                <a16:creationId xmlns:a16="http://schemas.microsoft.com/office/drawing/2014/main" id="{99C8A095-3D40-43C3-B010-AB22A84C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581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6" name="vote-name-0">
            <a:extLst xmlns:a="http://schemas.openxmlformats.org/drawingml/2006/main">
              <a:ext uri="{FF2B5EF4-FFF2-40B4-BE49-F238E27FC236}">
                <a16:creationId xmlns:a16="http://schemas.microsoft.com/office/drawing/2014/main" id="{C59EA83A-3017-459E-9D47-8934B4C2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样本 A</a:t>
            </a:r>
          </a:p>
        </p:txBody>
      </p:sp>
      <p:sp>
        <p:nvSpPr>
          <p:cNvPr id="7" name="vote-sim-0">
            <a:extLst xmlns:a="http://schemas.openxmlformats.org/drawingml/2006/main">
              <a:ext uri="{FF2B5EF4-FFF2-40B4-BE49-F238E27FC236}">
                <a16:creationId xmlns:a16="http://schemas.microsoft.com/office/drawing/2014/main" id="{A294C5A3-AED3-45F2-8180-689FEACB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860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similarity 0.90</a:t>
            </a:r>
          </a:p>
        </p:txBody>
      </p:sp>
      <p:sp>
        <p:nvSpPr>
          <p:cNvPr id="8" name="vote-weight-0">
            <a:extLst xmlns:a="http://schemas.openxmlformats.org/drawingml/2006/main">
              <a:ext uri="{FF2B5EF4-FFF2-40B4-BE49-F238E27FC236}">
                <a16:creationId xmlns:a16="http://schemas.microsoft.com/office/drawing/2014/main" id="{064069A2-F8D9-4430-809F-17A3F2D4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860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权重 0.90² = 0.81</a:t>
            </a:r>
          </a:p>
        </p:txBody>
      </p:sp>
      <p:sp>
        <p:nvSpPr>
          <p:cNvPr id="9" name="vote-code-0">
            <a:extLst xmlns:a="http://schemas.openxmlformats.org/drawingml/2006/main">
              <a:ext uri="{FF2B5EF4-FFF2-40B4-BE49-F238E27FC236}">
                <a16:creationId xmlns:a16="http://schemas.microsoft.com/office/drawing/2014/main" id="{50A23098-3628-467B-BEC2-07967B7F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860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类型 20、25</a:t>
            </a:r>
          </a:p>
        </p:txBody>
      </p:sp>
      <p:sp>
        <p:nvSpPr>
          <p:cNvPr id="10" name="vote-row-1">
            <a:extLst xmlns:a="http://schemas.openxmlformats.org/drawingml/2006/main">
              <a:ext uri="{FF2B5EF4-FFF2-40B4-BE49-F238E27FC236}">
                <a16:creationId xmlns:a16="http://schemas.microsoft.com/office/drawing/2014/main" id="{B3D787BB-25F6-4CA5-8EB4-D4BFFC79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581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vote-name-1">
            <a:extLst xmlns:a="http://schemas.openxmlformats.org/drawingml/2006/main">
              <a:ext uri="{FF2B5EF4-FFF2-40B4-BE49-F238E27FC236}">
                <a16:creationId xmlns:a16="http://schemas.microsoft.com/office/drawing/2014/main" id="{C59123F6-500C-4763-B048-FE3299EE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样本 B</a:t>
            </a:r>
          </a:p>
        </p:txBody>
      </p:sp>
      <p:sp>
        <p:nvSpPr>
          <p:cNvPr id="12" name="vote-sim-1">
            <a:extLst xmlns:a="http://schemas.openxmlformats.org/drawingml/2006/main">
              <a:ext uri="{FF2B5EF4-FFF2-40B4-BE49-F238E27FC236}">
                <a16:creationId xmlns:a16="http://schemas.microsoft.com/office/drawing/2014/main" id="{9CFE9557-2BD1-4C08-A069-CABF26CC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671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similarity 0.80</a:t>
            </a:r>
          </a:p>
        </p:txBody>
      </p:sp>
      <p:sp>
        <p:nvSpPr>
          <p:cNvPr id="13" name="vote-weight-1">
            <a:extLst xmlns:a="http://schemas.openxmlformats.org/drawingml/2006/main">
              <a:ext uri="{FF2B5EF4-FFF2-40B4-BE49-F238E27FC236}">
                <a16:creationId xmlns:a16="http://schemas.microsoft.com/office/drawing/2014/main" id="{F97EE133-7BB8-473F-A3A0-4F6E7088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671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权重 0.80² = 0.64</a:t>
            </a:r>
          </a:p>
        </p:txBody>
      </p:sp>
      <p:sp>
        <p:nvSpPr>
          <p:cNvPr id="14" name="vote-code-1">
            <a:extLst xmlns:a="http://schemas.openxmlformats.org/drawingml/2006/main">
              <a:ext uri="{FF2B5EF4-FFF2-40B4-BE49-F238E27FC236}">
                <a16:creationId xmlns:a16="http://schemas.microsoft.com/office/drawing/2014/main" id="{304A53FD-42F7-4AB4-8B99-805E8FB3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671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类型 20</a:t>
            </a:r>
          </a:p>
        </p:txBody>
      </p:sp>
      <p:sp>
        <p:nvSpPr>
          <p:cNvPr id="15" name="vote-row-2">
            <a:extLst xmlns:a="http://schemas.openxmlformats.org/drawingml/2006/main">
              <a:ext uri="{FF2B5EF4-FFF2-40B4-BE49-F238E27FC236}">
                <a16:creationId xmlns:a16="http://schemas.microsoft.com/office/drawing/2014/main" id="{8CB87432-A253-4536-A415-F52E7F59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581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6" name="vote-name-2">
            <a:extLst xmlns:a="http://schemas.openxmlformats.org/drawingml/2006/main">
              <a:ext uri="{FF2B5EF4-FFF2-40B4-BE49-F238E27FC236}">
                <a16:creationId xmlns:a16="http://schemas.microsoft.com/office/drawing/2014/main" id="{5472E928-D53E-4885-9FA6-CE93CAA4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样本 C</a:t>
            </a:r>
          </a:p>
        </p:txBody>
      </p:sp>
      <p:sp>
        <p:nvSpPr>
          <p:cNvPr id="17" name="vote-sim-2">
            <a:extLst xmlns:a="http://schemas.openxmlformats.org/drawingml/2006/main">
              <a:ext uri="{FF2B5EF4-FFF2-40B4-BE49-F238E27FC236}">
                <a16:creationId xmlns:a16="http://schemas.microsoft.com/office/drawing/2014/main" id="{E488898B-D3D4-419B-AEAB-D04F9A63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481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similarity 0.70</a:t>
            </a:r>
          </a:p>
        </p:txBody>
      </p:sp>
      <p:sp>
        <p:nvSpPr>
          <p:cNvPr id="18" name="vote-weight-2">
            <a:extLst xmlns:a="http://schemas.openxmlformats.org/drawingml/2006/main">
              <a:ext uri="{FF2B5EF4-FFF2-40B4-BE49-F238E27FC236}">
                <a16:creationId xmlns:a16="http://schemas.microsoft.com/office/drawing/2014/main" id="{BF39D9A2-72BE-4EF1-B0B3-1A8AB913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48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权重 0.70² = 0.49</a:t>
            </a:r>
          </a:p>
        </p:txBody>
      </p:sp>
      <p:sp>
        <p:nvSpPr>
          <p:cNvPr id="19" name="vote-code-2">
            <a:extLst xmlns:a="http://schemas.openxmlformats.org/drawingml/2006/main">
              <a:ext uri="{FF2B5EF4-FFF2-40B4-BE49-F238E27FC236}">
                <a16:creationId xmlns:a16="http://schemas.microsoft.com/office/drawing/2014/main" id="{9DBB40E5-A92C-4857-8AD5-FB47D554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481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类型 28</a:t>
            </a:r>
          </a:p>
        </p:txBody>
      </p:sp>
      <p:sp>
        <p:nvSpPr>
          <p:cNvPr id="20" name="score-panel">
            <a:extLst xmlns:a="http://schemas.openxmlformats.org/drawingml/2006/main">
              <a:ext uri="{FF2B5EF4-FFF2-40B4-BE49-F238E27FC236}">
                <a16:creationId xmlns:a16="http://schemas.microsoft.com/office/drawing/2014/main" id="{00FEFDBF-3B77-430B-A8B0-B599E884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38350"/>
            <a:ext cx="45529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1" name="score-head">
            <a:extLst xmlns:a="http://schemas.openxmlformats.org/drawingml/2006/main">
              <a:ext uri="{FF2B5EF4-FFF2-40B4-BE49-F238E27FC236}">
                <a16:creationId xmlns:a16="http://schemas.microsoft.com/office/drawing/2014/main" id="{B8B6F0AF-66B7-45E8-B4CD-7CD5AE31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050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类型 20 的证据得分</a:t>
            </a:r>
          </a:p>
        </p:txBody>
      </p:sp>
      <p:sp>
        <p:nvSpPr>
          <p:cNvPr id="22" name="score-formula-1">
            <a:extLst xmlns:a="http://schemas.openxmlformats.org/drawingml/2006/main">
              <a:ext uri="{FF2B5EF4-FFF2-40B4-BE49-F238E27FC236}">
                <a16:creationId xmlns:a16="http://schemas.microsoft.com/office/drawing/2014/main" id="{226E8892-A867-4171-899C-B9BBE0AD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52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总权重 = 0.81 + 0.64 + 0.49 = 1.94</a:t>
            </a:r>
          </a:p>
        </p:txBody>
      </p:sp>
      <p:sp>
        <p:nvSpPr>
          <p:cNvPr id="23" name="score-formula-2">
            <a:extLst xmlns:a="http://schemas.openxmlformats.org/drawingml/2006/main">
              <a:ext uri="{FF2B5EF4-FFF2-40B4-BE49-F238E27FC236}">
                <a16:creationId xmlns:a16="http://schemas.microsoft.com/office/drawing/2014/main" id="{FAA8C49F-CD31-496F-AB8B-483A5E95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099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类型20权重 = 0.81 + 0.64 = 1.45</a:t>
            </a:r>
          </a:p>
        </p:txBody>
      </p:sp>
      <p:sp>
        <p:nvSpPr>
          <p:cNvPr id="24" name="score-result">
            <a:extLst xmlns:a="http://schemas.openxmlformats.org/drawingml/2006/main">
              <a:ext uri="{FF2B5EF4-FFF2-40B4-BE49-F238E27FC236}">
                <a16:creationId xmlns:a16="http://schemas.microsoft.com/office/drawing/2014/main" id="{8DCA76D4-AF29-4E8D-B4EA-A2F7EEC8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433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8A5A"/>
                </a:solidFill>
              </a:defRPr>
            </a:pPr>
            <a:r>
              <a:rPr sz="1800" b="1">
                <a:solidFill>
                  <a:srgbClr val="1B8A5A"/>
                </a:solidFill>
              </a:rPr>
              <a:t>score = 1.45 / 1.94 = 0.7474</a:t>
            </a:r>
          </a:p>
        </p:txBody>
      </p:sp>
      <p:sp>
        <p:nvSpPr>
          <p:cNvPr id="25" name="score-support">
            <a:extLst xmlns:a="http://schemas.openxmlformats.org/drawingml/2006/main">
              <a:ext uri="{FF2B5EF4-FFF2-40B4-BE49-F238E27FC236}">
                <a16:creationId xmlns:a16="http://schemas.microsoft.com/office/drawing/2014/main" id="{8771D444-EB1A-4839-8217-655F4BEF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005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supportCount = 2  →  CANDIDATE</a:t>
            </a:r>
          </a:p>
        </p:txBody>
      </p:sp>
      <p:sp>
        <p:nvSpPr>
          <p:cNvPr id="26" name="note-box">
            <a:extLst xmlns:a="http://schemas.openxmlformats.org/drawingml/2006/main">
              <a:ext uri="{FF2B5EF4-FFF2-40B4-BE49-F238E27FC236}">
                <a16:creationId xmlns:a16="http://schemas.microsoft.com/office/drawing/2014/main" id="{4C416FFA-41AC-419F-9F32-AE5756D6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4C783"/>
            </a:solidFill>
            <a:prstDash val="solid"/>
          </a:ln>
        </p:spPr>
      </p:sp>
      <p:sp>
        <p:nvSpPr>
          <p:cNvPr id="27" name="note-text">
            <a:extLst xmlns:a="http://schemas.openxmlformats.org/drawingml/2006/main">
              <a:ext uri="{FF2B5EF4-FFF2-40B4-BE49-F238E27FC236}">
                <a16:creationId xmlns:a16="http://schemas.microsoft.com/office/drawing/2014/main" id="{F2BCAB52-8CBB-4692-B001-E63BE256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29250"/>
            <a:ext cx="899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8A5A"/>
                </a:solidFill>
              </a:defRPr>
            </a:pPr>
            <a:r>
              <a:rPr sz="1575" b="1">
                <a:solidFill>
                  <a:srgbClr val="1B8A5A"/>
                </a:solidFill>
              </a:rPr>
              <a:t>similarity 是两段文字有多像；score 是历史证据对某个类型的综合支持度。</a:t>
            </a:r>
          </a:p>
        </p:txBody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9E85FBCB-51A9-4F75-8332-138D4A59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7825700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7DA450F1-C2D4-43C3-8006-8A9F1E2F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C65000-5D92-421C-B65C-B414AC1C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HIGH 和 CANDIDATE 对应不同的业务使用方式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BE33D23-EBEE-4346-90D9-5786ED9C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10D1B599-E297-4CE1-8252-45CA95B4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57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D1FFBBAD-1632-4DE2-B943-8E0E9C93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43125"/>
            <a:ext cx="958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HIGH：相似历史证据比较集中，可以作为优先判断方向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D90C509D-6DBC-43D2-91B5-D3A690B0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9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78E9380C-3CE6-47E0-8B91-F5B36D76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95575"/>
            <a:ext cx="958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CANDIDATE：有参考价值，但需要结合合同上下文再确认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CF445BAF-3E37-41A4-958B-01E93B8E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62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FF8A4869-53C2-4134-AEAD-6E816684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48025"/>
            <a:ext cx="958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强相似兜底：如果第一条历史段落非常像，即使投票不集中，也先作为候选给业务参考</a:t>
            </a:r>
          </a:p>
        </p:txBody>
      </p:sp>
      <p:sp>
        <p:nvSpPr>
          <p:cNvPr id="10" name="dot-3">
            <a:extLst xmlns:a="http://schemas.openxmlformats.org/drawingml/2006/main">
              <a:ext uri="{FF2B5EF4-FFF2-40B4-BE49-F238E27FC236}">
                <a16:creationId xmlns:a16="http://schemas.microsoft.com/office/drawing/2014/main" id="{25D0D92B-D7DF-4601-ABC6-F505E26D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74C16EEF-447F-4364-87C8-1FBC5745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00475"/>
            <a:ext cx="958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NO_RELIABLE_MATCH：知识库里没有足够依据时，不强行给结论</a:t>
            </a:r>
          </a:p>
        </p:txBody>
      </p:sp>
      <p:sp>
        <p:nvSpPr>
          <p:cNvPr id="12" name="note-box">
            <a:extLst xmlns:a="http://schemas.openxmlformats.org/drawingml/2006/main">
              <a:ext uri="{FF2B5EF4-FFF2-40B4-BE49-F238E27FC236}">
                <a16:creationId xmlns:a16="http://schemas.microsoft.com/office/drawing/2014/main" id="{97E3E99E-8A1E-4BC2-A188-1FD81650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4C783"/>
            </a:solidFill>
            <a:prstDash val="solid"/>
          </a:ln>
        </p:spPr>
      </p:sp>
      <p:sp>
        <p:nvSpPr>
          <p:cNvPr id="13" name="note-text">
            <a:extLst xmlns:a="http://schemas.openxmlformats.org/drawingml/2006/main">
              <a:ext uri="{FF2B5EF4-FFF2-40B4-BE49-F238E27FC236}">
                <a16:creationId xmlns:a16="http://schemas.microsoft.com/office/drawing/2014/main" id="{8B202191-3D79-4184-A749-A1D590F9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48250"/>
            <a:ext cx="899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8A5A"/>
                </a:solidFill>
              </a:defRPr>
            </a:pPr>
            <a:r>
              <a:rPr sz="1575" b="1">
                <a:solidFill>
                  <a:srgbClr val="1B8A5A"/>
                </a:solidFill>
              </a:rPr>
              <a:t>这不是替代人工，而是把“可参考依据”提前摆出来。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F79A0C72-0406-4736-8BCF-8025FDCE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6447932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36CF4865-527E-468A-8FF9-C303FE74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7988DDD-12AC-468E-9EB8-8700D596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为什么第一版不引入向量数据库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1A9629F-0712-4D35-8533-A6633CB1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col-0">
            <a:extLst xmlns:a="http://schemas.openxmlformats.org/drawingml/2006/main">
              <a:ext uri="{FF2B5EF4-FFF2-40B4-BE49-F238E27FC236}">
                <a16:creationId xmlns:a16="http://schemas.microsoft.com/office/drawing/2014/main" id="{B2EA7F4F-5080-489B-B8D2-BFAE3ED9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2D90C4DF-9A5F-4C59-AF7C-DF41E96E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样本规模可控</a:t>
            </a:r>
          </a:p>
        </p:txBody>
      </p:sp>
      <p:sp>
        <p:nvSpPr>
          <p:cNvPr id="6" name="col-body-0">
            <a:extLst xmlns:a="http://schemas.openxmlformats.org/drawingml/2006/main">
              <a:ext uri="{FF2B5EF4-FFF2-40B4-BE49-F238E27FC236}">
                <a16:creationId xmlns:a16="http://schemas.microsoft.com/office/drawing/2014/main" id="{1D6F491F-B03A-4274-BF55-21DFD1FC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第一版最多约 1 万条历史样本。这个规模下，Java 内存里直接比较向量就能满足使用。</a:t>
            </a:r>
          </a:p>
        </p:txBody>
      </p:sp>
      <p:sp>
        <p:nvSpPr>
          <p:cNvPr id="7" name="col-1">
            <a:extLst xmlns:a="http://schemas.openxmlformats.org/drawingml/2006/main">
              <a:ext uri="{FF2B5EF4-FFF2-40B4-BE49-F238E27FC236}">
                <a16:creationId xmlns:a16="http://schemas.microsoft.com/office/drawing/2014/main" id="{4E6E5468-8801-46DC-96F3-4772CC80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col-head-1">
            <a:extLst xmlns:a="http://schemas.openxmlformats.org/drawingml/2006/main">
              <a:ext uri="{FF2B5EF4-FFF2-40B4-BE49-F238E27FC236}">
                <a16:creationId xmlns:a16="http://schemas.microsoft.com/office/drawing/2014/main" id="{8BD82E0A-1E9B-4DC4-97C8-B95F7108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部署更轻</a:t>
            </a:r>
          </a:p>
        </p:txBody>
      </p:sp>
      <p:sp>
        <p:nvSpPr>
          <p:cNvPr id="9" name="col-body-1">
            <a:extLst xmlns:a="http://schemas.openxmlformats.org/drawingml/2006/main">
              <a:ext uri="{FF2B5EF4-FFF2-40B4-BE49-F238E27FC236}">
                <a16:creationId xmlns:a16="http://schemas.microsoft.com/office/drawing/2014/main" id="{4BBE8BA2-5B4F-49FC-A7E6-88B34C8C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少引入一个中间组件，测试、部署、权限、备份和排障都会简单不少。</a:t>
            </a:r>
          </a:p>
        </p:txBody>
      </p:sp>
      <p:sp>
        <p:nvSpPr>
          <p:cNvPr id="10" name="col-2">
            <a:extLst xmlns:a="http://schemas.openxmlformats.org/drawingml/2006/main">
              <a:ext uri="{FF2B5EF4-FFF2-40B4-BE49-F238E27FC236}">
                <a16:creationId xmlns:a16="http://schemas.microsoft.com/office/drawing/2014/main" id="{4BCC1A6F-C0CD-4280-B9AC-0237DAD9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col-head-2">
            <a:extLst xmlns:a="http://schemas.openxmlformats.org/drawingml/2006/main">
              <a:ext uri="{FF2B5EF4-FFF2-40B4-BE49-F238E27FC236}">
                <a16:creationId xmlns:a16="http://schemas.microsoft.com/office/drawing/2014/main" id="{8AFD44DA-70E3-49DD-8AC7-AD35F501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后续可扩展</a:t>
            </a:r>
          </a:p>
        </p:txBody>
      </p:sp>
      <p:sp>
        <p:nvSpPr>
          <p:cNvPr id="12" name="col-body-2">
            <a:extLst xmlns:a="http://schemas.openxmlformats.org/drawingml/2006/main">
              <a:ext uri="{FF2B5EF4-FFF2-40B4-BE49-F238E27FC236}">
                <a16:creationId xmlns:a16="http://schemas.microsoft.com/office/drawing/2014/main" id="{36AACE6C-5C6C-4E0C-8F7B-3FE1840D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如果以后样本量明显变大，或多实例检索压力上来，再评估专门的向量检索组件更合适。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0B70560-0F73-487B-9865-ED9AB8FD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7887198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A1361F27-99EA-423A-9EA5-823A8617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5D06279-E6AC-41E2-A7A9-A83DBE9D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1024 维和 Oracle + JVM，是当前规模下的平衡选择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2D60EEA-00C4-49E9-B9F7-266FE361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col-0">
            <a:extLst xmlns:a="http://schemas.openxmlformats.org/drawingml/2006/main">
              <a:ext uri="{FF2B5EF4-FFF2-40B4-BE49-F238E27FC236}">
                <a16:creationId xmlns:a16="http://schemas.microsoft.com/office/drawing/2014/main" id="{65005D06-7ED5-4728-B76F-B46B2673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FB19616A-399B-4258-A329-FEAB4FC0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1024 维</a:t>
            </a:r>
          </a:p>
        </p:txBody>
      </p:sp>
      <p:sp>
        <p:nvSpPr>
          <p:cNvPr id="6" name="col-body-0">
            <a:extLst xmlns:a="http://schemas.openxmlformats.org/drawingml/2006/main">
              <a:ext uri="{FF2B5EF4-FFF2-40B4-BE49-F238E27FC236}">
                <a16:creationId xmlns:a16="http://schemas.microsoft.com/office/drawing/2014/main" id="{B5D8DD72-B04C-4BD7-9505-F6D191E6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统一模型默认能力更大，但本项目固定请求 1024 维。对当前场景来说，表达能力够用，也能降低存储和计算压力。</a:t>
            </a:r>
          </a:p>
        </p:txBody>
      </p:sp>
      <p:sp>
        <p:nvSpPr>
          <p:cNvPr id="7" name="col-1">
            <a:extLst xmlns:a="http://schemas.openxmlformats.org/drawingml/2006/main">
              <a:ext uri="{FF2B5EF4-FFF2-40B4-BE49-F238E27FC236}">
                <a16:creationId xmlns:a16="http://schemas.microsoft.com/office/drawing/2014/main" id="{9004D5E5-C054-44EE-AA41-102EED75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col-head-1">
            <a:extLst xmlns:a="http://schemas.openxmlformats.org/drawingml/2006/main">
              <a:ext uri="{FF2B5EF4-FFF2-40B4-BE49-F238E27FC236}">
                <a16:creationId xmlns:a16="http://schemas.microsoft.com/office/drawing/2014/main" id="{35602D5C-F21D-45A3-8E54-BB59734B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Oracle 保存</a:t>
            </a:r>
          </a:p>
        </p:txBody>
      </p:sp>
      <p:sp>
        <p:nvSpPr>
          <p:cNvPr id="9" name="col-body-1">
            <a:extLst xmlns:a="http://schemas.openxmlformats.org/drawingml/2006/main">
              <a:ext uri="{FF2B5EF4-FFF2-40B4-BE49-F238E27FC236}">
                <a16:creationId xmlns:a16="http://schemas.microsoft.com/office/drawing/2014/main" id="{472CE998-09D8-42F6-A98E-593B6F6B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历史段落、类型、Hash、模型版本和向量都落在 Oracle，便于和现有系统管理方式保持一致。</a:t>
            </a:r>
          </a:p>
        </p:txBody>
      </p:sp>
      <p:sp>
        <p:nvSpPr>
          <p:cNvPr id="10" name="col-2">
            <a:extLst xmlns:a="http://schemas.openxmlformats.org/drawingml/2006/main">
              <a:ext uri="{FF2B5EF4-FFF2-40B4-BE49-F238E27FC236}">
                <a16:creationId xmlns:a16="http://schemas.microsoft.com/office/drawing/2014/main" id="{38D58895-AB24-4FF4-820F-3E3E7F30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col-head-2">
            <a:extLst xmlns:a="http://schemas.openxmlformats.org/drawingml/2006/main">
              <a:ext uri="{FF2B5EF4-FFF2-40B4-BE49-F238E27FC236}">
                <a16:creationId xmlns:a16="http://schemas.microsoft.com/office/drawing/2014/main" id="{E9647B06-6F03-4044-ABA0-CCFA76DB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JVM 索引</a:t>
            </a:r>
          </a:p>
        </p:txBody>
      </p:sp>
      <p:sp>
        <p:nvSpPr>
          <p:cNvPr id="12" name="col-body-2">
            <a:extLst xmlns:a="http://schemas.openxmlformats.org/drawingml/2006/main">
              <a:ext uri="{FF2B5EF4-FFF2-40B4-BE49-F238E27FC236}">
                <a16:creationId xmlns:a16="http://schemas.microsoft.com/office/drawing/2014/main" id="{D549436C-3B5E-4511-AEB6-6111E523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服务启动或重载时，把当前有效样本加载成只读索引。查询时读稳定快照，导入后再整体刷新。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A2A52F95-7BCB-4115-9997-83D2DC39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6418471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BF211A05-B126-4067-8262-B1E25515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EFE4AE2-1F3F-4F2B-BD90-9E2955EE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模型网关和安全边界按企业接入方式处理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E8EE3B-AB9C-4FF8-988B-BC95EA07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6F172539-6F6C-42C9-A829-70950E39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633BAD3C-2A31-4E3B-8D5B-384647F2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Embedding 调用走公司统一模型网关，不在本服务里自建模型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FC8CA4CD-BA57-4A5E-96F5-31553114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6EAD704E-1C9A-4B11-9D38-02804A3A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请求会携带业务 UserId 给模型平台审计，但服务侧不保存、不输出日志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F70A022A-6EB8-4941-A159-55D33FF0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D2FB3FA6-1257-4DA3-9180-49695ABA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API Key 只通过环境变量提供，不进入代码、Git 或演示材料</a:t>
            </a:r>
          </a:p>
        </p:txBody>
      </p:sp>
      <p:sp>
        <p:nvSpPr>
          <p:cNvPr id="10" name="dot-3">
            <a:extLst xmlns:a="http://schemas.openxmlformats.org/drawingml/2006/main">
              <a:ext uri="{FF2B5EF4-FFF2-40B4-BE49-F238E27FC236}">
                <a16:creationId xmlns:a16="http://schemas.microsoft.com/office/drawing/2014/main" id="{A035F265-6DDB-4E89-A706-BD0FE452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7993D705-75F3-4AF2-AA7B-AB67B301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日志只保留必要的数量、状态和耗时，不打印合同正文和向量</a:t>
            </a:r>
          </a:p>
        </p:txBody>
      </p:sp>
      <p:sp>
        <p:nvSpPr>
          <p:cNvPr id="12" name="dot-4">
            <a:extLst xmlns:a="http://schemas.openxmlformats.org/drawingml/2006/main">
              <a:ext uri="{FF2B5EF4-FFF2-40B4-BE49-F238E27FC236}">
                <a16:creationId xmlns:a16="http://schemas.microsoft.com/office/drawing/2014/main" id="{C266F48B-FFFB-4166-9EF0-C72E7BD9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BA14B040-2353-40BD-AEBE-7D15F11A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模型版本和向量维度会记录下来，避免新旧模型结果混在一起使用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A3B2FD40-5E00-4FEA-A217-7856CAAB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3424045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4C949227-B3E7-4953-97FF-1D2F609F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52FE84F-B54F-44B4-B327-3D68E8E0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知识库完善要走人工确认，避免错误经验被反复引用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E889B7A-7540-4E61-AA4F-E40CE9BF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9145D9FC-878C-44CE-AD8B-9D1C938D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3656E3B5-FF2E-4E50-8CD3-79DD7DA3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1</a:t>
            </a:r>
          </a:p>
        </p:txBody>
      </p:sp>
      <p:sp>
        <p:nvSpPr>
          <p:cNvPr id="6" name="step-text-0">
            <a:extLst xmlns:a="http://schemas.openxmlformats.org/drawingml/2006/main">
              <a:ext uri="{FF2B5EF4-FFF2-40B4-BE49-F238E27FC236}">
                <a16:creationId xmlns:a16="http://schemas.microsoft.com/office/drawing/2014/main" id="{C51AC093-CE33-4F4D-9A47-7EC9DDDB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文档比对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发现新段落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18F50C26-D87A-4186-B377-960BE226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425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C1651319-4FA1-4B00-A192-B570EC67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825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2</a:t>
            </a:r>
          </a:p>
        </p:txBody>
      </p:sp>
      <p:sp>
        <p:nvSpPr>
          <p:cNvPr id="9" name="step-text-1">
            <a:extLst xmlns:a="http://schemas.openxmlformats.org/drawingml/2006/main">
              <a:ext uri="{FF2B5EF4-FFF2-40B4-BE49-F238E27FC236}">
                <a16:creationId xmlns:a16="http://schemas.microsoft.com/office/drawing/2014/main" id="{58F28A62-D313-43E0-9894-528BF321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675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系统给出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候选类型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3AFCD90E-BF45-4BCD-9F87-6AE9EF24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num-2">
            <a:extLst xmlns:a="http://schemas.openxmlformats.org/drawingml/2006/main">
              <a:ext uri="{FF2B5EF4-FFF2-40B4-BE49-F238E27FC236}">
                <a16:creationId xmlns:a16="http://schemas.microsoft.com/office/drawing/2014/main" id="{31223283-2D66-4BA9-A2C4-6D498CE5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3</a:t>
            </a:r>
          </a:p>
        </p:txBody>
      </p:sp>
      <p:sp>
        <p:nvSpPr>
          <p:cNvPr id="12" name="step-text-2">
            <a:extLst xmlns:a="http://schemas.openxmlformats.org/drawingml/2006/main">
              <a:ext uri="{FF2B5EF4-FFF2-40B4-BE49-F238E27FC236}">
                <a16:creationId xmlns:a16="http://schemas.microsoft.com/office/drawing/2014/main" id="{C65F1293-B60E-496C-B883-38DDA84D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300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业务人员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确认或修正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2EDB5662-9452-4449-9E52-F245D655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4" name="num-3">
            <a:extLst xmlns:a="http://schemas.openxmlformats.org/drawingml/2006/main">
              <a:ext uri="{FF2B5EF4-FFF2-40B4-BE49-F238E27FC236}">
                <a16:creationId xmlns:a16="http://schemas.microsoft.com/office/drawing/2014/main" id="{FB591C1B-AB68-441D-A76F-13C85AA2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4</a:t>
            </a:r>
          </a:p>
        </p:txBody>
      </p:sp>
      <p:sp>
        <p:nvSpPr>
          <p:cNvPr id="15" name="step-text-3">
            <a:extLst xmlns:a="http://schemas.openxmlformats.org/drawingml/2006/main">
              <a:ext uri="{FF2B5EF4-FFF2-40B4-BE49-F238E27FC236}">
                <a16:creationId xmlns:a16="http://schemas.microsoft.com/office/drawing/2014/main" id="{5BFFDAFB-58F4-4491-B3D8-4B29E000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整理为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历史样本</a:t>
            </a:r>
          </a:p>
        </p:txBody>
      </p:sp>
      <p:sp>
        <p:nvSpPr>
          <p:cNvPr id="16" name="step-4">
            <a:extLst xmlns:a="http://schemas.openxmlformats.org/drawingml/2006/main">
              <a:ext uri="{FF2B5EF4-FFF2-40B4-BE49-F238E27FC236}">
                <a16:creationId xmlns:a16="http://schemas.microsoft.com/office/drawing/2014/main" id="{399267D2-0EF2-45F8-A404-665DB5C5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7" name="num-4">
            <a:extLst xmlns:a="http://schemas.openxmlformats.org/drawingml/2006/main">
              <a:ext uri="{FF2B5EF4-FFF2-40B4-BE49-F238E27FC236}">
                <a16:creationId xmlns:a16="http://schemas.microsoft.com/office/drawing/2014/main" id="{CF2FC73C-3868-40FA-85A5-A6AF6F97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5</a:t>
            </a:r>
          </a:p>
        </p:txBody>
      </p:sp>
      <p:sp>
        <p:nvSpPr>
          <p:cNvPr id="18" name="step-text-4">
            <a:extLst xmlns:a="http://schemas.openxmlformats.org/drawingml/2006/main">
              <a:ext uri="{FF2B5EF4-FFF2-40B4-BE49-F238E27FC236}">
                <a16:creationId xmlns:a16="http://schemas.microsoft.com/office/drawing/2014/main" id="{7904C236-D017-4AD5-A937-3A69A285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0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导入知识库</a:t>
            </a:r>
          </a:p>
        </p:txBody>
      </p:sp>
      <p:sp>
        <p:nvSpPr>
          <p:cNvPr id="19" name="step-5">
            <a:extLst xmlns:a="http://schemas.openxmlformats.org/drawingml/2006/main">
              <a:ext uri="{FF2B5EF4-FFF2-40B4-BE49-F238E27FC236}">
                <a16:creationId xmlns:a16="http://schemas.microsoft.com/office/drawing/2014/main" id="{D5D82A04-EBA1-4BA4-9864-DDC40000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0" name="num-5">
            <a:extLst xmlns:a="http://schemas.openxmlformats.org/drawingml/2006/main">
              <a:ext uri="{FF2B5EF4-FFF2-40B4-BE49-F238E27FC236}">
                <a16:creationId xmlns:a16="http://schemas.microsoft.com/office/drawing/2014/main" id="{F3270380-996E-4EC9-82ED-DEE93FF1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325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6</a:t>
            </a:r>
          </a:p>
        </p:txBody>
      </p:sp>
      <p:sp>
        <p:nvSpPr>
          <p:cNvPr id="21" name="step-text-5">
            <a:extLst xmlns:a="http://schemas.openxmlformats.org/drawingml/2006/main">
              <a:ext uri="{FF2B5EF4-FFF2-40B4-BE49-F238E27FC236}">
                <a16:creationId xmlns:a16="http://schemas.microsoft.com/office/drawing/2014/main" id="{F4267E0C-ABCD-4172-B4DF-9702F0E8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175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后续识别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继续复用</a:t>
            </a:r>
          </a:p>
        </p:txBody>
      </p:sp>
      <p:sp>
        <p:nvSpPr>
          <p:cNvPr id="22" name="explain">
            <a:extLst xmlns:a="http://schemas.openxmlformats.org/drawingml/2006/main">
              <a:ext uri="{FF2B5EF4-FFF2-40B4-BE49-F238E27FC236}">
                <a16:creationId xmlns:a16="http://schemas.microsoft.com/office/drawing/2014/main" id="{B3AE8F36-05D7-4736-9831-5893C126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预测结果不直接自动入库。只有人工确认过的段落和类型，才适合作为后续识别的历史依据。</a:t>
            </a:r>
          </a:p>
        </p:txBody>
      </p:sp>
      <p:sp>
        <p:nvSpPr>
          <p:cNvPr id="23" name="note-box">
            <a:extLst xmlns:a="http://schemas.openxmlformats.org/drawingml/2006/main">
              <a:ext uri="{FF2B5EF4-FFF2-40B4-BE49-F238E27FC236}">
                <a16:creationId xmlns:a16="http://schemas.microsoft.com/office/drawing/2014/main" id="{CDCCA189-EFF6-4AC7-81C3-04943206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4C783"/>
            </a:solidFill>
            <a:prstDash val="solid"/>
          </a:ln>
        </p:spPr>
      </p:sp>
      <p:sp>
        <p:nvSpPr>
          <p:cNvPr id="24" name="note-text">
            <a:extLst xmlns:a="http://schemas.openxmlformats.org/drawingml/2006/main">
              <a:ext uri="{FF2B5EF4-FFF2-40B4-BE49-F238E27FC236}">
                <a16:creationId xmlns:a16="http://schemas.microsoft.com/office/drawing/2014/main" id="{3DD91FB5-0FDE-477B-877A-3C7C5AB6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14900"/>
            <a:ext cx="899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8A5A"/>
                </a:solidFill>
              </a:defRPr>
            </a:pPr>
            <a:r>
              <a:rPr sz="1575" b="1">
                <a:solidFill>
                  <a:srgbClr val="1B8A5A"/>
                </a:solidFill>
              </a:rPr>
              <a:t>这一步看起来多一道确认，但能保证知识库越用越稳。</a:t>
            </a:r>
          </a:p>
        </p:txBody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BD25811E-54B2-4C7E-BB19-DC86BDD0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80977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E0F4DDD2-89ED-406B-A6AB-3824DF1F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091EB9A-DB40-4102-B5DC-FA837DE9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现场演示按业务流程推进，也顺手证明技术闭环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79BDE51-281D-42F2-8610-CC22D112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64E03654-C282-41C9-8913-06E1D12B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574FADFC-CA42-43B6-A859-03612C17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看索引状态：确认当前知识库是否可用、样本是否已加载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E8697505-2CEE-415C-B9D7-3D6A3A2A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9DA85550-5899-4318-8CC6-CAE8FA10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导入匿名 Excel：展示历史经验如何进入知识库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677A4853-96C4-480B-82FC-FA68F608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37FE96AC-D7F6-4450-8A55-C7C44513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Oracle 只读核验：确认样本、类型、模型版本和向量已保存</a:t>
            </a:r>
          </a:p>
        </p:txBody>
      </p:sp>
      <p:sp>
        <p:nvSpPr>
          <p:cNvPr id="10" name="dot-3">
            <a:extLst xmlns:a="http://schemas.openxmlformats.org/drawingml/2006/main">
              <a:ext uri="{FF2B5EF4-FFF2-40B4-BE49-F238E27FC236}">
                <a16:creationId xmlns:a16="http://schemas.microsoft.com/office/drawing/2014/main" id="{DD334C9D-59DD-4698-BD94-7AF38DF5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6527CA3D-0AF4-4AEC-9EED-07B1A1AD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预测 EXACT / HIGH / CANDIDATE / NO_RELIABLE_MATCH：展示不同业务场景</a:t>
            </a:r>
          </a:p>
        </p:txBody>
      </p:sp>
      <p:sp>
        <p:nvSpPr>
          <p:cNvPr id="12" name="dot-4">
            <a:extLst xmlns:a="http://schemas.openxmlformats.org/drawingml/2006/main">
              <a:ext uri="{FF2B5EF4-FFF2-40B4-BE49-F238E27FC236}">
                <a16:creationId xmlns:a16="http://schemas.microsoft.com/office/drawing/2014/main" id="{55B22879-7EBA-48B0-9458-57EE7AF6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79E0BC63-8C07-4671-AA51-6A7487D6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手工 reload：展示知识库刷新和运维恢复能力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4188F8DB-8032-495C-A837-6D7D643B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3596591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8BA9DD8F-62EC-4BEC-B182-A19D0252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B1ED091-A088-42AD-9216-2DD22DDE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准确性和上线准备，需要用真实样本把结论补齐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40DF7D8-7A3D-443E-8811-39B86E6C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col-0">
            <a:extLst xmlns:a="http://schemas.openxmlformats.org/drawingml/2006/main">
              <a:ext uri="{FF2B5EF4-FFF2-40B4-BE49-F238E27FC236}">
                <a16:creationId xmlns:a16="http://schemas.microsoft.com/office/drawing/2014/main" id="{545E13B1-F31E-400A-90A6-62F847B0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334FAD35-1FF5-4FE7-84AB-0555CD46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演示说明流程</a:t>
            </a:r>
          </a:p>
        </p:txBody>
      </p:sp>
      <p:sp>
        <p:nvSpPr>
          <p:cNvPr id="6" name="col-body-0">
            <a:extLst xmlns:a="http://schemas.openxmlformats.org/drawingml/2006/main">
              <a:ext uri="{FF2B5EF4-FFF2-40B4-BE49-F238E27FC236}">
                <a16:creationId xmlns:a16="http://schemas.microsoft.com/office/drawing/2014/main" id="{69072173-2891-4FB8-BB02-47B19507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演示样本可以证明导入、识别、参考依据和知识库补充这条链路是通的。</a:t>
            </a:r>
          </a:p>
        </p:txBody>
      </p:sp>
      <p:sp>
        <p:nvSpPr>
          <p:cNvPr id="7" name="col-1">
            <a:extLst xmlns:a="http://schemas.openxmlformats.org/drawingml/2006/main">
              <a:ext uri="{FF2B5EF4-FFF2-40B4-BE49-F238E27FC236}">
                <a16:creationId xmlns:a16="http://schemas.microsoft.com/office/drawing/2014/main" id="{9853C6DA-645C-408F-955A-69DC183E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col-head-1">
            <a:extLst xmlns:a="http://schemas.openxmlformats.org/drawingml/2006/main">
              <a:ext uri="{FF2B5EF4-FFF2-40B4-BE49-F238E27FC236}">
                <a16:creationId xmlns:a16="http://schemas.microsoft.com/office/drawing/2014/main" id="{3DB06E94-BF6D-4AE9-A0E3-9D839A87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测试说明效果</a:t>
            </a:r>
          </a:p>
        </p:txBody>
      </p:sp>
      <p:sp>
        <p:nvSpPr>
          <p:cNvPr id="9" name="col-body-1">
            <a:extLst xmlns:a="http://schemas.openxmlformats.org/drawingml/2006/main">
              <a:ext uri="{FF2B5EF4-FFF2-40B4-BE49-F238E27FC236}">
                <a16:creationId xmlns:a16="http://schemas.microsoft.com/office/drawing/2014/main" id="{7D8435D6-7707-494E-BACA-B92BF042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真实效果要用未入库的合同段落验证，建议准备 30 到 100 条人工标注样本。</a:t>
            </a:r>
          </a:p>
        </p:txBody>
      </p:sp>
      <p:sp>
        <p:nvSpPr>
          <p:cNvPr id="10" name="col-2">
            <a:extLst xmlns:a="http://schemas.openxmlformats.org/drawingml/2006/main">
              <a:ext uri="{FF2B5EF4-FFF2-40B4-BE49-F238E27FC236}">
                <a16:creationId xmlns:a16="http://schemas.microsoft.com/office/drawing/2014/main" id="{8540F9E8-242C-48D3-8EF9-08E1E0B9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col-head-2">
            <a:extLst xmlns:a="http://schemas.openxmlformats.org/drawingml/2006/main">
              <a:ext uri="{FF2B5EF4-FFF2-40B4-BE49-F238E27FC236}">
                <a16:creationId xmlns:a16="http://schemas.microsoft.com/office/drawing/2014/main" id="{67D46CD8-6395-4C74-BE84-0269E6D1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上线前确认</a:t>
            </a:r>
          </a:p>
        </p:txBody>
      </p:sp>
      <p:sp>
        <p:nvSpPr>
          <p:cNvPr id="12" name="col-body-2">
            <a:extLst xmlns:a="http://schemas.openxmlformats.org/drawingml/2006/main">
              <a:ext uri="{FF2B5EF4-FFF2-40B4-BE49-F238E27FC236}">
                <a16:creationId xmlns:a16="http://schemas.microsoft.com/office/drawing/2014/main" id="{5A16B9DF-9250-473C-B222-0E7C9A30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完成构建验证、环境连通、匿名演示数据、备用录屏和准确性验证表。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E9BE2DE-BBDA-44BD-9926-9C13BE65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30639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2026-08-31T03:59:29.4940000Z</dcterms:created>
  <dcterms:modified xsi:type="dcterms:W3CDTF">2026-08-31T03:59:29.4940000Z</dcterms:modified>
</coreProperties>
</file>