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30c9dcf3a944c82" /><Relationship Type="http://schemas.openxmlformats.org/officeDocument/2006/relationships/extended-properties" Target="/docProps/app.xml" Id="Rd8a77d3c8d6c4781" /><Relationship Type="http://schemas.openxmlformats.org/officeDocument/2006/relationships/officeDocument" Target="/ppt/presentation.xml" Id="Re265bfd0bd2b4a5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e81e802de264fc6"/>
  </p:sldMasterIdLst>
  <p:notesMasterIdLst>
    <p:notesMasterId xmlns:r="http://schemas.openxmlformats.org/officeDocument/2006/relationships" r:id="R2797b508bf134eb6"/>
  </p:notesMasterIdLst>
  <p:sldIdLst>
    <p:sldId xmlns:r="http://schemas.openxmlformats.org/officeDocument/2006/relationships" id="256" r:id="R9a120f62e23c4606"/>
    <p:sldId xmlns:r="http://schemas.openxmlformats.org/officeDocument/2006/relationships" id="257" r:id="R1c73de1b5ac7442f"/>
    <p:sldId xmlns:r="http://schemas.openxmlformats.org/officeDocument/2006/relationships" id="258" r:id="R0955b9c84f924cff"/>
    <p:sldId xmlns:r="http://schemas.openxmlformats.org/officeDocument/2006/relationships" id="259" r:id="R40577b67fedd42e6"/>
    <p:sldId xmlns:r="http://schemas.openxmlformats.org/officeDocument/2006/relationships" id="260" r:id="R60592909d4a84b24"/>
    <p:sldId xmlns:r="http://schemas.openxmlformats.org/officeDocument/2006/relationships" id="261" r:id="R5b0e73ad03814012"/>
    <p:sldId xmlns:r="http://schemas.openxmlformats.org/officeDocument/2006/relationships" id="262" r:id="R6a15fa4393234e11"/>
    <p:sldId xmlns:r="http://schemas.openxmlformats.org/officeDocument/2006/relationships" id="263" r:id="R3e5fca99db4a45e7"/>
    <p:sldId xmlns:r="http://schemas.openxmlformats.org/officeDocument/2006/relationships" id="264" r:id="R66909ecf50ee4e81"/>
    <p:sldId xmlns:r="http://schemas.openxmlformats.org/officeDocument/2006/relationships" id="265" r:id="Rab00654e68054aa3"/>
    <p:sldId xmlns:r="http://schemas.openxmlformats.org/officeDocument/2006/relationships" id="266" r:id="R61006c61fdc6484d"/>
    <p:sldId xmlns:r="http://schemas.openxmlformats.org/officeDocument/2006/relationships" id="267" r:id="R43336e0a74c44c1d"/>
    <p:sldId xmlns:r="http://schemas.openxmlformats.org/officeDocument/2006/relationships" id="268" r:id="R3bc78316af7d4f5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6f724a559364992" /><Relationship Type="http://schemas.openxmlformats.org/officeDocument/2006/relationships/slideMaster" Target="/ppt/slideMasters/slideMaster1.xml" Id="R8e81e802de264fc6" /><Relationship Type="http://schemas.openxmlformats.org/officeDocument/2006/relationships/notesMaster" Target="/ppt/notesMasters/notesMaster1.xml" Id="R2797b508bf134eb6" /><Relationship Type="http://schemas.openxmlformats.org/officeDocument/2006/relationships/presProps" Target="/ppt/presProps.xml" Id="Rc064d10843c643f3" /><Relationship Type="http://schemas.openxmlformats.org/officeDocument/2006/relationships/tableStyles" Target="/ppt/tableStyles.xml" Id="R5b77f1de6cda41bc" /><Relationship Type="http://schemas.openxmlformats.org/officeDocument/2006/relationships/slide" Target="/ppt/slides/slide1.xml" Id="R9a120f62e23c4606" /><Relationship Type="http://schemas.openxmlformats.org/officeDocument/2006/relationships/slide" Target="/ppt/slides/slide2.xml" Id="R1c73de1b5ac7442f" /><Relationship Type="http://schemas.openxmlformats.org/officeDocument/2006/relationships/slide" Target="/ppt/slides/slide3.xml" Id="R0955b9c84f924cff" /><Relationship Type="http://schemas.openxmlformats.org/officeDocument/2006/relationships/slide" Target="/ppt/slides/slide4.xml" Id="R40577b67fedd42e6" /><Relationship Type="http://schemas.openxmlformats.org/officeDocument/2006/relationships/slide" Target="/ppt/slides/slide5.xml" Id="R60592909d4a84b24" /><Relationship Type="http://schemas.openxmlformats.org/officeDocument/2006/relationships/slide" Target="/ppt/slides/slide6.xml" Id="R5b0e73ad03814012" /><Relationship Type="http://schemas.openxmlformats.org/officeDocument/2006/relationships/slide" Target="/ppt/slides/slide7.xml" Id="R6a15fa4393234e11" /><Relationship Type="http://schemas.openxmlformats.org/officeDocument/2006/relationships/slide" Target="/ppt/slides/slide8.xml" Id="R3e5fca99db4a45e7" /><Relationship Type="http://schemas.openxmlformats.org/officeDocument/2006/relationships/slide" Target="/ppt/slides/slide9.xml" Id="R66909ecf50ee4e81" /><Relationship Type="http://schemas.openxmlformats.org/officeDocument/2006/relationships/slide" Target="/ppt/slides/slide10.xml" Id="Rab00654e68054aa3" /><Relationship Type="http://schemas.openxmlformats.org/officeDocument/2006/relationships/slide" Target="/ppt/slides/slide11.xml" Id="R61006c61fdc6484d" /><Relationship Type="http://schemas.openxmlformats.org/officeDocument/2006/relationships/slide" Target="/ppt/slides/slide12.xml" Id="R43336e0a74c44c1d" /><Relationship Type="http://schemas.openxmlformats.org/officeDocument/2006/relationships/slide" Target="/ppt/slides/slide13.xml" Id="R3bc78316af7d4f5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4c0cf531511440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38042d790744c07" /><Relationship Type="http://schemas.openxmlformats.org/officeDocument/2006/relationships/notesMaster" Target="/ppt/notesMasters/notesMaster1.xml" Id="Rf457d4a537624d8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4154cda47674562" /><Relationship Type="http://schemas.openxmlformats.org/officeDocument/2006/relationships/notesMaster" Target="/ppt/notesMasters/notesMaster1.xml" Id="R2e2ef64dc8f1496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3b10c0b06eb47c1" /><Relationship Type="http://schemas.openxmlformats.org/officeDocument/2006/relationships/notesMaster" Target="/ppt/notesMasters/notesMaster1.xml" Id="R96f10bc0852740c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3d21199617049c3" /><Relationship Type="http://schemas.openxmlformats.org/officeDocument/2006/relationships/notesMaster" Target="/ppt/notesMasters/notesMaster1.xml" Id="Rd03e32f2ab04497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13da8e1f2114ec4" /><Relationship Type="http://schemas.openxmlformats.org/officeDocument/2006/relationships/notesMaster" Target="/ppt/notesMasters/notesMaster1.xml" Id="Ra7e932874eb64e3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3b33f3699f045df" /><Relationship Type="http://schemas.openxmlformats.org/officeDocument/2006/relationships/notesMaster" Target="/ppt/notesMasters/notesMaster1.xml" Id="R53c70c4021534b6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a7180a302374066" /><Relationship Type="http://schemas.openxmlformats.org/officeDocument/2006/relationships/notesMaster" Target="/ppt/notesMasters/notesMaster1.xml" Id="R3d7ff5d07ae44ed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13d48cf366b44ab" /><Relationship Type="http://schemas.openxmlformats.org/officeDocument/2006/relationships/notesMaster" Target="/ppt/notesMasters/notesMaster1.xml" Id="R8c7720bdc61842e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c0013c2bdb64ac0" /><Relationship Type="http://schemas.openxmlformats.org/officeDocument/2006/relationships/notesMaster" Target="/ppt/notesMasters/notesMaster1.xml" Id="R4d09facee809434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ad7935e8328492a" /><Relationship Type="http://schemas.openxmlformats.org/officeDocument/2006/relationships/notesMaster" Target="/ppt/notesMasters/notesMaster1.xml" Id="R4b37d51726bd435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ed2fc182d9f4fb4" /><Relationship Type="http://schemas.openxmlformats.org/officeDocument/2006/relationships/notesMaster" Target="/ppt/notesMasters/notesMaster1.xml" Id="Rb4660abae5a9468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bc5d88a71124222" /><Relationship Type="http://schemas.openxmlformats.org/officeDocument/2006/relationships/notesMaster" Target="/ppt/notesMasters/notesMaster1.xml" Id="R3f915d51312f49c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018b0740f274d56" /><Relationship Type="http://schemas.openxmlformats.org/officeDocument/2006/relationships/notesMaster" Target="/ppt/notesMasters/notesMaster1.xml" Id="Ra4e314f4007e48b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开场不先讲参数，先讲这件事的目标：把过去确认过的经验用起来，帮助新段落判断更快、更有依据。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项目 README、接口文档、Oracle 脚本、当前需求上下文。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这一页讲业务背景。自然表述：我们不是为了做一个模型而做模型，而是为了把历史判断经验变成可复用的依据。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项目 README、接口文档、Oracle 脚本、当前需求上下文。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把业务和技术接起来讲：业务同事理解为经验复用，技术同事理解为语义检索和投票。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项目 README、接口文档、Oracle 脚本、当前需求上下文。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这里可以稍微讲技术，但用业务语言解释：Hash 是为了认出完全相同的段落，向量是为了比较表达相近的段落。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项目 README、接口文档、Oracle 脚本、当前需求上下文。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这一页自然讲算法流程。不要一上来讲阈值，先讲为什么这样排顺序：省调用、可追溯、符合人的判断方式。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项目 README、接口文档、Oracle 脚本、当前需求上下文。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这里要讲清楚 similarity 和 score 的区别。可以说 score 不是概率，而是历史证据支持度。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项目 README、接口文档、Oracle 脚本、当前需求上下文。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这一页面向业务解释输出等级。强相似兜底要说成候选参考，不要说成系统高置信。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项目 README、接口文档、Oracle 脚本、当前需求上下文。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技术选择要讲原因，不要像辩解。核心是第一版规模不大，先轻量落地，未来再按规模升级。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项目 README、接口文档、Oracle 脚本、当前需求上下文。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这里保留核心技术实现，但都加业务解释：1024 是成本和效果平衡，Oracle 是现有管理习惯，JVM 索引是简单快速。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项目 README、接口文档、Oracle 脚本、当前需求上下文。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这页适合技术和管理都听得懂：统一网关、安全、审计、敏感信息保护、模型版本隔离。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项目 README、接口文档、Oracle 脚本、当前需求上下文。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这是用户新增需求的核心页。讲法要自然：不是自动学习，而是有质量把关的经验沉淀。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项目 README、接口文档、Oracle 脚本、当前需求上下文。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演示时别硬念接口名。每一步都讲成一个业务动作，同时让技术同事看到数据确实落库、索引确实可观测。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项目 README、接口文档、Oracle 脚本、当前需求上下文。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最后不要声称准确率。自然讲：流程演示和效果评估是两件事，演示完成后还要用真实样本做验收。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项目 README、接口文档、Oracle 脚本、当前需求上下文。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901a88beed48a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04333f00807428d" /><Relationship Type="http://schemas.openxmlformats.org/officeDocument/2006/relationships/slideLayout" Target="/ppt/slideLayouts/slideLayout1.xml" Id="R41e3b3780527416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1e3b3780527416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96afe57e1643ae" /><Relationship Type="http://schemas.openxmlformats.org/officeDocument/2006/relationships/notesSlide" Target="/ppt/notesSlides/notesSlide1.xml" Id="Rcdb88509bda046a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c06215cefb4164" /><Relationship Type="http://schemas.openxmlformats.org/officeDocument/2006/relationships/notesSlide" Target="/ppt/notesSlides/notesSlide2.xml" Id="Rfd380ee6df774da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f59295306b4f15" /><Relationship Type="http://schemas.openxmlformats.org/officeDocument/2006/relationships/notesSlide" Target="/ppt/notesSlides/notesSlide3.xml" Id="Rfcc4bc41dead45f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ad008f27864d9f" /><Relationship Type="http://schemas.openxmlformats.org/officeDocument/2006/relationships/notesSlide" Target="/ppt/notesSlides/notesSlide4.xml" Id="Rc9a979c93e134cf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32d9d694c34b52" /><Relationship Type="http://schemas.openxmlformats.org/officeDocument/2006/relationships/notesSlide" Target="/ppt/notesSlides/notesSlide5.xml" Id="R45488c3ecca2457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fcf3d6068f4d5e" /><Relationship Type="http://schemas.openxmlformats.org/officeDocument/2006/relationships/notesSlide" Target="/ppt/notesSlides/notesSlide6.xml" Id="R114e2f182669453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78b25d0c3347bf" /><Relationship Type="http://schemas.openxmlformats.org/officeDocument/2006/relationships/notesSlide" Target="/ppt/notesSlides/notesSlide7.xml" Id="R9dc9074e0aa24ca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15b1cf59f741fc" /><Relationship Type="http://schemas.openxmlformats.org/officeDocument/2006/relationships/notesSlide" Target="/ppt/notesSlides/notesSlide8.xml" Id="Rdf775188c5c2406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5776e3b2b54f60" /><Relationship Type="http://schemas.openxmlformats.org/officeDocument/2006/relationships/notesSlide" Target="/ppt/notesSlides/notesSlide9.xml" Id="R0ba93223aecb490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10de6537024c14" /><Relationship Type="http://schemas.openxmlformats.org/officeDocument/2006/relationships/notesSlide" Target="/ppt/notesSlides/notesSlide10.xml" Id="Rd308b14349e440e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724ba5054a410f" /><Relationship Type="http://schemas.openxmlformats.org/officeDocument/2006/relationships/notesSlide" Target="/ppt/notesSlides/notesSlide11.xml" Id="R47eb2ad29412450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0dcbae5b424027" /><Relationship Type="http://schemas.openxmlformats.org/officeDocument/2006/relationships/notesSlide" Target="/ppt/notesSlides/notesSlide12.xml" Id="R4dbae4039f134c8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d3be7965e041fe" /><Relationship Type="http://schemas.openxmlformats.org/officeDocument/2006/relationships/notesSlide" Target="/ppt/notesSlides/notesSlide13.xml" Id="Ra49fa8ecc71b4cb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kicker">
            <a:extLst xmlns:a="http://schemas.openxmlformats.org/drawingml/2006/main">
              <a:ext uri="{FF2B5EF4-FFF2-40B4-BE49-F238E27FC236}">
                <a16:creationId xmlns:a16="http://schemas.microsoft.com/office/drawing/2014/main" id="{7D3BE04E-7516-47A4-9BF7-1AF670022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8606E"/>
                </a:solidFill>
              </a:defRPr>
            </a:pPr>
            <a:r>
              <a:rPr sz="1350" b="1">
                <a:solidFill>
                  <a:srgbClr val="58606E"/>
                </a:solidFill>
              </a:rPr>
              <a:t>综合汇报版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5D2F6F54-690E-49D5-A87D-2A8ADECEB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857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11111"/>
                </a:solidFill>
              </a:defRPr>
            </a:pPr>
            <a:r>
              <a:rPr sz="4050" b="1">
                <a:solidFill>
                  <a:srgbClr val="111111"/>
                </a:solidFill>
              </a:rPr>
              <a:t>合同段落变更类型识别服务</a:t>
            </a:r>
          </a:p>
        </p:txBody>
      </p:sp>
      <p:sp>
        <p:nvSpPr>
          <p:cNvPr id="3" name="cover-sub">
            <a:extLst xmlns:a="http://schemas.openxmlformats.org/drawingml/2006/main">
              <a:ext uri="{FF2B5EF4-FFF2-40B4-BE49-F238E27FC236}">
                <a16:creationId xmlns:a16="http://schemas.microsoft.com/office/drawing/2014/main" id="{50F52A87-723B-4739-A6B7-79D11AE8B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933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8606E"/>
                </a:solidFill>
              </a:defRPr>
            </a:pPr>
            <a:r>
              <a:rPr sz="1800" b="0">
                <a:solidFill>
                  <a:srgbClr val="58606E"/>
                </a:solidFill>
              </a:rPr>
              <a:t>用历史段落经验辅助新段落识别，并让确认后的新样本继续沉淀</a:t>
            </a:r>
          </a:p>
        </p:txBody>
      </p:sp>
      <p:sp>
        <p:nvSpPr>
          <p:cNvPr id="4" name="cover-band">
            <a:extLst xmlns:a="http://schemas.openxmlformats.org/drawingml/2006/main">
              <a:ext uri="{FF2B5EF4-FFF2-40B4-BE49-F238E27FC236}">
                <a16:creationId xmlns:a16="http://schemas.microsoft.com/office/drawing/2014/main" id="{289C24B6-996C-4688-B308-948F2D0E8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52900"/>
            <a:ext cx="98107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0F7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5" name="cover-band-text">
            <a:extLst xmlns:a="http://schemas.openxmlformats.org/drawingml/2006/main">
              <a:ext uri="{FF2B5EF4-FFF2-40B4-BE49-F238E27FC236}">
                <a16:creationId xmlns:a16="http://schemas.microsoft.com/office/drawing/2014/main" id="{05753A54-D4BD-4A0A-8E7D-7D47E943D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38650"/>
            <a:ext cx="914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适合业务 + 技术混合汇报：讲清楚价值、流程、实现思路和质量边界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45F74E63-9340-4BC8-A0CF-A5BC6CBD8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8606E"/>
                </a:solidFill>
              </a:defRPr>
            </a:pPr>
            <a:r>
              <a:rPr sz="1200" b="1">
                <a:solidFill>
                  <a:srgbClr val="58606E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24757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eyebrow">
            <a:extLst xmlns:a="http://schemas.openxmlformats.org/drawingml/2006/main">
              <a:ext uri="{FF2B5EF4-FFF2-40B4-BE49-F238E27FC236}">
                <a16:creationId xmlns:a16="http://schemas.microsoft.com/office/drawing/2014/main" id="{3FFC35E3-0AFB-4DFD-9BFA-C0A1B6636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8606E"/>
                </a:solidFill>
              </a:defRPr>
            </a:pPr>
            <a:r>
              <a:rPr sz="1200" b="1">
                <a:solidFill>
                  <a:srgbClr val="58606E"/>
                </a:solidFill>
              </a:rPr>
              <a:t>合同段落变更类型识别服务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7B9213D6-B275-426C-B776-373320822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10191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这项能力的起点，是历史判断经验没有被充分复用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BC467E1C-E317-4408-8196-BF39EE549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428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9525">
            <a:solidFill>
              <a:srgbClr val="2F80ED"/>
            </a:solidFill>
            <a:prstDash val="solid"/>
          </a:ln>
        </p:spPr>
      </p:sp>
      <p:sp>
        <p:nvSpPr>
          <p:cNvPr id="4" name="col-0">
            <a:extLst xmlns:a="http://schemas.openxmlformats.org/drawingml/2006/main">
              <a:ext uri="{FF2B5EF4-FFF2-40B4-BE49-F238E27FC236}">
                <a16:creationId xmlns:a16="http://schemas.microsoft.com/office/drawing/2014/main" id="{57DFE426-7CB3-4D23-88A3-72230CDCA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34290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5" name="col-head-0">
            <a:extLst xmlns:a="http://schemas.openxmlformats.org/drawingml/2006/main">
              <a:ext uri="{FF2B5EF4-FFF2-40B4-BE49-F238E27FC236}">
                <a16:creationId xmlns:a16="http://schemas.microsoft.com/office/drawing/2014/main" id="{DE98A4B9-077C-432A-9AF1-F7EAE8DF4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19350"/>
            <a:ext cx="297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业务场景</a:t>
            </a:r>
          </a:p>
        </p:txBody>
      </p:sp>
      <p:sp>
        <p:nvSpPr>
          <p:cNvPr id="6" name="col-body-0">
            <a:extLst xmlns:a="http://schemas.openxmlformats.org/drawingml/2006/main">
              <a:ext uri="{FF2B5EF4-FFF2-40B4-BE49-F238E27FC236}">
                <a16:creationId xmlns:a16="http://schemas.microsoft.com/office/drawing/2014/main" id="{AE7C08AC-EF52-443C-A2B0-81235AEC1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90850"/>
            <a:ext cx="29718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06E"/>
                </a:solidFill>
              </a:defRPr>
            </a:pPr>
            <a:r>
              <a:rPr sz="1350" b="0">
                <a:solidFill>
                  <a:srgbClr val="58606E"/>
                </a:solidFill>
              </a:rPr>
              <a:t>合同文档比对后，会产生一批变化段落。业务人员需要判断这些段落分别属于哪些变更类型。</a:t>
            </a:r>
          </a:p>
        </p:txBody>
      </p:sp>
      <p:sp>
        <p:nvSpPr>
          <p:cNvPr id="7" name="col-1">
            <a:extLst xmlns:a="http://schemas.openxmlformats.org/drawingml/2006/main">
              <a:ext uri="{FF2B5EF4-FFF2-40B4-BE49-F238E27FC236}">
                <a16:creationId xmlns:a16="http://schemas.microsoft.com/office/drawing/2014/main" id="{0F143DC7-BFB9-4974-A6B4-B6B99D5D5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190750"/>
            <a:ext cx="34290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0F7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8" name="col-head-1">
            <a:extLst xmlns:a="http://schemas.openxmlformats.org/drawingml/2006/main">
              <a:ext uri="{FF2B5EF4-FFF2-40B4-BE49-F238E27FC236}">
                <a16:creationId xmlns:a16="http://schemas.microsoft.com/office/drawing/2014/main" id="{A1061F26-4939-44C2-8981-2D270C49E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419350"/>
            <a:ext cx="297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现实问题</a:t>
            </a:r>
          </a:p>
        </p:txBody>
      </p:sp>
      <p:sp>
        <p:nvSpPr>
          <p:cNvPr id="9" name="col-body-1">
            <a:extLst xmlns:a="http://schemas.openxmlformats.org/drawingml/2006/main">
              <a:ext uri="{FF2B5EF4-FFF2-40B4-BE49-F238E27FC236}">
                <a16:creationId xmlns:a16="http://schemas.microsoft.com/office/drawing/2014/main" id="{8C95DD01-8C1D-4975-826C-CF11695B0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90850"/>
            <a:ext cx="29718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06E"/>
                </a:solidFill>
              </a:defRPr>
            </a:pPr>
            <a:r>
              <a:rPr sz="1350" b="0">
                <a:solidFill>
                  <a:srgbClr val="58606E"/>
                </a:solidFill>
              </a:rPr>
              <a:t>很多相似段落过去其实处理过，但经验散在历史材料里，新一轮判断时不容易马上找到。</a:t>
            </a:r>
          </a:p>
        </p:txBody>
      </p:sp>
      <p:sp>
        <p:nvSpPr>
          <p:cNvPr id="10" name="col-2">
            <a:extLst xmlns:a="http://schemas.openxmlformats.org/drawingml/2006/main">
              <a:ext uri="{FF2B5EF4-FFF2-40B4-BE49-F238E27FC236}">
                <a16:creationId xmlns:a16="http://schemas.microsoft.com/office/drawing/2014/main" id="{8EED3B26-A849-4158-A75E-27A45555F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190750"/>
            <a:ext cx="34290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11" name="col-head-2">
            <a:extLst xmlns:a="http://schemas.openxmlformats.org/drawingml/2006/main">
              <a:ext uri="{FF2B5EF4-FFF2-40B4-BE49-F238E27FC236}">
                <a16:creationId xmlns:a16="http://schemas.microsoft.com/office/drawing/2014/main" id="{26BC939A-6000-4040-8B19-9DF43EE38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19350"/>
            <a:ext cx="297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建设目标</a:t>
            </a:r>
          </a:p>
        </p:txBody>
      </p:sp>
      <p:sp>
        <p:nvSpPr>
          <p:cNvPr id="12" name="col-body-2">
            <a:extLst xmlns:a="http://schemas.openxmlformats.org/drawingml/2006/main">
              <a:ext uri="{FF2B5EF4-FFF2-40B4-BE49-F238E27FC236}">
                <a16:creationId xmlns:a16="http://schemas.microsoft.com/office/drawing/2014/main" id="{181CEAB2-6D45-4C38-8C8D-58097FAE5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990850"/>
            <a:ext cx="29718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06E"/>
                </a:solidFill>
              </a:defRPr>
            </a:pPr>
            <a:r>
              <a:rPr sz="1350" b="0">
                <a:solidFill>
                  <a:srgbClr val="58606E"/>
                </a:solidFill>
              </a:rPr>
              <a:t>让系统先找出相似历史段落和候选类型，业务人员再结合上下文做最终确认。</a:t>
            </a:r>
          </a:p>
        </p:txBody>
      </p:sp>
      <p:sp>
        <p:nvSpPr>
          <p:cNvPr id="13" name="footer">
            <a:extLst xmlns:a="http://schemas.openxmlformats.org/drawingml/2006/main">
              <a:ext uri="{FF2B5EF4-FFF2-40B4-BE49-F238E27FC236}">
                <a16:creationId xmlns:a16="http://schemas.microsoft.com/office/drawing/2014/main" id="{E8E20B88-D9C7-4055-B90C-8FCD5CF02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8606E"/>
                </a:solidFill>
              </a:defRPr>
            </a:pPr>
            <a:r>
              <a:rPr sz="1200" b="1">
                <a:solidFill>
                  <a:srgbClr val="58606E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7564753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eyebrow">
            <a:extLst xmlns:a="http://schemas.openxmlformats.org/drawingml/2006/main">
              <a:ext uri="{FF2B5EF4-FFF2-40B4-BE49-F238E27FC236}">
                <a16:creationId xmlns:a16="http://schemas.microsoft.com/office/drawing/2014/main" id="{9BD7D0A5-C81B-47D8-9252-6AAEAB538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8606E"/>
                </a:solidFill>
              </a:defRPr>
            </a:pPr>
            <a:r>
              <a:rPr sz="1200" b="1">
                <a:solidFill>
                  <a:srgbClr val="58606E"/>
                </a:solidFill>
              </a:rPr>
              <a:t>合同段落变更类型识别服务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18B2C6B-F434-4610-8AA0-2840DB6B0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10191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第一版先做一条简单可用、容易解释的闭环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9747101E-8EDD-4DC7-B90F-5E9D5B1D8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428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9525">
            <a:solidFill>
              <a:srgbClr val="2F80ED"/>
            </a:solidFill>
            <a:prstDash val="solid"/>
          </a:ln>
        </p:spPr>
      </p:sp>
      <p:sp>
        <p:nvSpPr>
          <p:cNvPr id="4" name="step-0">
            <a:extLst xmlns:a="http://schemas.openxmlformats.org/drawingml/2006/main">
              <a:ext uri="{FF2B5EF4-FFF2-40B4-BE49-F238E27FC236}">
                <a16:creationId xmlns:a16="http://schemas.microsoft.com/office/drawing/2014/main" id="{C69B35C8-5211-4184-8542-FEEFFAA06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16922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5" name="num-0">
            <a:extLst xmlns:a="http://schemas.openxmlformats.org/drawingml/2006/main">
              <a:ext uri="{FF2B5EF4-FFF2-40B4-BE49-F238E27FC236}">
                <a16:creationId xmlns:a16="http://schemas.microsoft.com/office/drawing/2014/main" id="{C78B2757-6C98-47D4-A513-754E917D2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05050"/>
            <a:ext cx="30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80ED"/>
                </a:solidFill>
              </a:defRPr>
            </a:pPr>
            <a:r>
              <a:rPr sz="1650" b="1">
                <a:solidFill>
                  <a:srgbClr val="2F80ED"/>
                </a:solidFill>
              </a:rPr>
              <a:t>1</a:t>
            </a:r>
          </a:p>
        </p:txBody>
      </p:sp>
      <p:sp>
        <p:nvSpPr>
          <p:cNvPr id="6" name="step-text-0">
            <a:extLst xmlns:a="http://schemas.openxmlformats.org/drawingml/2006/main">
              <a:ext uri="{FF2B5EF4-FFF2-40B4-BE49-F238E27FC236}">
                <a16:creationId xmlns:a16="http://schemas.microsoft.com/office/drawing/2014/main" id="{7EE12DAB-BDC2-4E51-9FB9-28D2802B7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305050"/>
            <a:ext cx="11017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导入确认过的</a:t>
            </a:r>
          </a:p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历史样本</a:t>
            </a:r>
          </a:p>
        </p:txBody>
      </p:sp>
      <p:sp>
        <p:nvSpPr>
          <p:cNvPr id="7" name="step-1">
            <a:extLst xmlns:a="http://schemas.openxmlformats.org/drawingml/2006/main">
              <a:ext uri="{FF2B5EF4-FFF2-40B4-BE49-F238E27FC236}">
                <a16:creationId xmlns:a16="http://schemas.microsoft.com/office/drawing/2014/main" id="{40798B13-27A0-453C-8012-18F853B1C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1425" y="2152650"/>
            <a:ext cx="16922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0F7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8" name="num-1">
            <a:extLst xmlns:a="http://schemas.openxmlformats.org/drawingml/2006/main">
              <a:ext uri="{FF2B5EF4-FFF2-40B4-BE49-F238E27FC236}">
                <a16:creationId xmlns:a16="http://schemas.microsoft.com/office/drawing/2014/main" id="{5F4A84FE-EFE9-4DC5-AFCF-6CA46A3A2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3825" y="2305050"/>
            <a:ext cx="30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80ED"/>
                </a:solidFill>
              </a:defRPr>
            </a:pPr>
            <a:r>
              <a:rPr sz="1650" b="1">
                <a:solidFill>
                  <a:srgbClr val="2F80ED"/>
                </a:solidFill>
              </a:rPr>
              <a:t>2</a:t>
            </a:r>
          </a:p>
        </p:txBody>
      </p:sp>
      <p:sp>
        <p:nvSpPr>
          <p:cNvPr id="9" name="step-text-1">
            <a:extLst xmlns:a="http://schemas.openxmlformats.org/drawingml/2006/main">
              <a:ext uri="{FF2B5EF4-FFF2-40B4-BE49-F238E27FC236}">
                <a16:creationId xmlns:a16="http://schemas.microsoft.com/office/drawing/2014/main" id="{8B4E9B36-CD95-4C38-ADDE-8EA7143CA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7675" y="2305050"/>
            <a:ext cx="11017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生成段落</a:t>
            </a:r>
          </a:p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语义向量</a:t>
            </a:r>
          </a:p>
        </p:txBody>
      </p:sp>
      <p:sp>
        <p:nvSpPr>
          <p:cNvPr id="10" name="step-2">
            <a:extLst xmlns:a="http://schemas.openxmlformats.org/drawingml/2006/main">
              <a:ext uri="{FF2B5EF4-FFF2-40B4-BE49-F238E27FC236}">
                <a16:creationId xmlns:a16="http://schemas.microsoft.com/office/drawing/2014/main" id="{51EC643C-CD1C-486C-AB35-2078290B0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7050" y="2152650"/>
            <a:ext cx="16922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11" name="num-2">
            <a:extLst xmlns:a="http://schemas.openxmlformats.org/drawingml/2006/main">
              <a:ext uri="{FF2B5EF4-FFF2-40B4-BE49-F238E27FC236}">
                <a16:creationId xmlns:a16="http://schemas.microsoft.com/office/drawing/2014/main" id="{A2697AFB-0312-420D-8214-016D93A4C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50" y="2305050"/>
            <a:ext cx="30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80ED"/>
                </a:solidFill>
              </a:defRPr>
            </a:pPr>
            <a:r>
              <a:rPr sz="1650" b="1">
                <a:solidFill>
                  <a:srgbClr val="2F80ED"/>
                </a:solidFill>
              </a:rPr>
              <a:t>3</a:t>
            </a:r>
          </a:p>
        </p:txBody>
      </p:sp>
      <p:sp>
        <p:nvSpPr>
          <p:cNvPr id="12" name="step-text-2">
            <a:extLst xmlns:a="http://schemas.openxmlformats.org/drawingml/2006/main">
              <a:ext uri="{FF2B5EF4-FFF2-40B4-BE49-F238E27FC236}">
                <a16:creationId xmlns:a16="http://schemas.microsoft.com/office/drawing/2014/main" id="{B0BA4280-DCDE-4DE7-8600-B43234564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3300" y="2305050"/>
            <a:ext cx="11017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保存到</a:t>
            </a:r>
          </a:p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Oracle</a:t>
            </a:r>
          </a:p>
        </p:txBody>
      </p:sp>
      <p:sp>
        <p:nvSpPr>
          <p:cNvPr id="13" name="step-3">
            <a:extLst xmlns:a="http://schemas.openxmlformats.org/drawingml/2006/main">
              <a:ext uri="{FF2B5EF4-FFF2-40B4-BE49-F238E27FC236}">
                <a16:creationId xmlns:a16="http://schemas.microsoft.com/office/drawing/2014/main" id="{B5C879AB-E3D9-4DDE-959E-137FB186D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152650"/>
            <a:ext cx="16922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0F7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14" name="num-3">
            <a:extLst xmlns:a="http://schemas.openxmlformats.org/drawingml/2006/main">
              <a:ext uri="{FF2B5EF4-FFF2-40B4-BE49-F238E27FC236}">
                <a16:creationId xmlns:a16="http://schemas.microsoft.com/office/drawing/2014/main" id="{750B56AE-5546-47DD-9844-5CEEA61DE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305050"/>
            <a:ext cx="30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80ED"/>
                </a:solidFill>
              </a:defRPr>
            </a:pPr>
            <a:r>
              <a:rPr sz="1650" b="1">
                <a:solidFill>
                  <a:srgbClr val="2F80ED"/>
                </a:solidFill>
              </a:rPr>
              <a:t>4</a:t>
            </a:r>
          </a:p>
        </p:txBody>
      </p:sp>
      <p:sp>
        <p:nvSpPr>
          <p:cNvPr id="15" name="step-text-3">
            <a:extLst xmlns:a="http://schemas.openxmlformats.org/drawingml/2006/main">
              <a:ext uri="{FF2B5EF4-FFF2-40B4-BE49-F238E27FC236}">
                <a16:creationId xmlns:a16="http://schemas.microsoft.com/office/drawing/2014/main" id="{3B100BF6-D14C-4E06-B024-6A7295803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2305050"/>
            <a:ext cx="11017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加载到</a:t>
            </a:r>
          </a:p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内存索引</a:t>
            </a:r>
          </a:p>
        </p:txBody>
      </p:sp>
      <p:sp>
        <p:nvSpPr>
          <p:cNvPr id="16" name="step-4">
            <a:extLst xmlns:a="http://schemas.openxmlformats.org/drawingml/2006/main">
              <a:ext uri="{FF2B5EF4-FFF2-40B4-BE49-F238E27FC236}">
                <a16:creationId xmlns:a16="http://schemas.microsoft.com/office/drawing/2014/main" id="{16B02ECB-1758-4FCE-81BA-FC8E93A50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2152650"/>
            <a:ext cx="16922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17" name="num-4">
            <a:extLst xmlns:a="http://schemas.openxmlformats.org/drawingml/2006/main">
              <a:ext uri="{FF2B5EF4-FFF2-40B4-BE49-F238E27FC236}">
                <a16:creationId xmlns:a16="http://schemas.microsoft.com/office/drawing/2014/main" id="{680DF9D3-94E2-4484-9F0A-E36F38FF3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2305050"/>
            <a:ext cx="30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80ED"/>
                </a:solidFill>
              </a:defRPr>
            </a:pPr>
            <a:r>
              <a:rPr sz="1650" b="1">
                <a:solidFill>
                  <a:srgbClr val="2F80ED"/>
                </a:solidFill>
              </a:rPr>
              <a:t>5</a:t>
            </a:r>
          </a:p>
        </p:txBody>
      </p:sp>
      <p:sp>
        <p:nvSpPr>
          <p:cNvPr id="18" name="step-text-4">
            <a:extLst xmlns:a="http://schemas.openxmlformats.org/drawingml/2006/main">
              <a:ext uri="{FF2B5EF4-FFF2-40B4-BE49-F238E27FC236}">
                <a16:creationId xmlns:a16="http://schemas.microsoft.com/office/drawing/2014/main" id="{71A372AD-541B-4D3D-8C9B-49540EDE6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4550" y="2305050"/>
            <a:ext cx="11017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新段落</a:t>
            </a:r>
          </a:p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发起预测</a:t>
            </a:r>
          </a:p>
        </p:txBody>
      </p:sp>
      <p:sp>
        <p:nvSpPr>
          <p:cNvPr id="19" name="step-5">
            <a:extLst xmlns:a="http://schemas.openxmlformats.org/drawingml/2006/main">
              <a:ext uri="{FF2B5EF4-FFF2-40B4-BE49-F238E27FC236}">
                <a16:creationId xmlns:a16="http://schemas.microsoft.com/office/drawing/2014/main" id="{C6421AD0-6F7D-4E56-AED0-B9707215D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3925" y="2152650"/>
            <a:ext cx="16922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0F7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20" name="num-5">
            <a:extLst xmlns:a="http://schemas.openxmlformats.org/drawingml/2006/main">
              <a:ext uri="{FF2B5EF4-FFF2-40B4-BE49-F238E27FC236}">
                <a16:creationId xmlns:a16="http://schemas.microsoft.com/office/drawing/2014/main" id="{A7BB7DC6-E3CE-4B09-8166-CCF773C5F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6325" y="2305050"/>
            <a:ext cx="30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80ED"/>
                </a:solidFill>
              </a:defRPr>
            </a:pPr>
            <a:r>
              <a:rPr sz="1650" b="1">
                <a:solidFill>
                  <a:srgbClr val="2F80ED"/>
                </a:solidFill>
              </a:rPr>
              <a:t>6</a:t>
            </a:r>
          </a:p>
        </p:txBody>
      </p:sp>
      <p:sp>
        <p:nvSpPr>
          <p:cNvPr id="21" name="step-text-5">
            <a:extLst xmlns:a="http://schemas.openxmlformats.org/drawingml/2006/main">
              <a:ext uri="{FF2B5EF4-FFF2-40B4-BE49-F238E27FC236}">
                <a16:creationId xmlns:a16="http://schemas.microsoft.com/office/drawing/2014/main" id="{485EF002-31C9-4B95-994A-637D409F4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0175" y="2305050"/>
            <a:ext cx="11017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返回类型</a:t>
            </a:r>
          </a:p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和参考依据</a:t>
            </a:r>
          </a:p>
        </p:txBody>
      </p:sp>
      <p:sp>
        <p:nvSpPr>
          <p:cNvPr id="22" name="explain">
            <a:extLst xmlns:a="http://schemas.openxmlformats.org/drawingml/2006/main">
              <a:ext uri="{FF2B5EF4-FFF2-40B4-BE49-F238E27FC236}">
                <a16:creationId xmlns:a16="http://schemas.microsoft.com/office/drawing/2014/main" id="{D3B1D9F9-3D1A-4856-AAEC-8FB622D7E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386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业务上看到的是“历史经验被复用”；技术上做的是“段落向量化 + 相似检索 + 多标签投票”。</a:t>
            </a:r>
          </a:p>
        </p:txBody>
      </p:sp>
      <p:sp>
        <p:nvSpPr>
          <p:cNvPr id="23" name="note-box">
            <a:extLst xmlns:a="http://schemas.openxmlformats.org/drawingml/2006/main">
              <a:ext uri="{FF2B5EF4-FFF2-40B4-BE49-F238E27FC236}">
                <a16:creationId xmlns:a16="http://schemas.microsoft.com/office/drawing/2014/main" id="{4C11F276-010F-4D66-B722-59F21D54E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62500"/>
            <a:ext cx="9525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E4C783"/>
            </a:solidFill>
            <a:prstDash val="solid"/>
          </a:ln>
        </p:spPr>
      </p:sp>
      <p:sp>
        <p:nvSpPr>
          <p:cNvPr id="24" name="note-text">
            <a:extLst xmlns:a="http://schemas.openxmlformats.org/drawingml/2006/main">
              <a:ext uri="{FF2B5EF4-FFF2-40B4-BE49-F238E27FC236}">
                <a16:creationId xmlns:a16="http://schemas.microsoft.com/office/drawing/2014/main" id="{CEC46385-2613-4082-8687-65F85CBDF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914900"/>
            <a:ext cx="899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A46300"/>
                </a:solidFill>
              </a:defRPr>
            </a:pPr>
            <a:r>
              <a:rPr sz="1575" b="1">
                <a:solidFill>
                  <a:srgbClr val="A46300"/>
                </a:solidFill>
              </a:rPr>
              <a:t>第一版先把核心闭环跑通，不急着引入更重的组件。</a:t>
            </a:r>
          </a:p>
        </p:txBody>
      </p:sp>
      <p:sp>
        <p:nvSpPr>
          <p:cNvPr id="25" name="footer">
            <a:extLst xmlns:a="http://schemas.openxmlformats.org/drawingml/2006/main">
              <a:ext uri="{FF2B5EF4-FFF2-40B4-BE49-F238E27FC236}">
                <a16:creationId xmlns:a16="http://schemas.microsoft.com/office/drawing/2014/main" id="{A03EC6B4-9F85-4F53-B93C-333B3CDF3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8606E"/>
                </a:solidFill>
              </a:defRPr>
            </a:pPr>
            <a:r>
              <a:rPr sz="1200" b="1">
                <a:solidFill>
                  <a:srgbClr val="58606E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31790983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eyebrow">
            <a:extLst xmlns:a="http://schemas.openxmlformats.org/drawingml/2006/main">
              <a:ext uri="{FF2B5EF4-FFF2-40B4-BE49-F238E27FC236}">
                <a16:creationId xmlns:a16="http://schemas.microsoft.com/office/drawing/2014/main" id="{0F1BACBB-3C36-4E61-A534-E6BAE4EA6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8606E"/>
                </a:solidFill>
              </a:defRPr>
            </a:pPr>
            <a:r>
              <a:rPr sz="1200" b="1">
                <a:solidFill>
                  <a:srgbClr val="58606E"/>
                </a:solidFill>
              </a:rPr>
              <a:t>合同段落变更类型识别服务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10D3F2-AB31-45BE-9621-2528AE3B5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10191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历史样本导入时，系统把段落变成可比较的知识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B194CF97-0171-48CE-B915-9D36F1C9D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428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9525">
            <a:solidFill>
              <a:srgbClr val="2F80ED"/>
            </a:solidFill>
            <a:prstDash val="solid"/>
          </a:ln>
        </p:spPr>
      </p:sp>
      <p:sp>
        <p:nvSpPr>
          <p:cNvPr id="4" name="col-0">
            <a:extLst xmlns:a="http://schemas.openxmlformats.org/drawingml/2006/main">
              <a:ext uri="{FF2B5EF4-FFF2-40B4-BE49-F238E27FC236}">
                <a16:creationId xmlns:a16="http://schemas.microsoft.com/office/drawing/2014/main" id="{0701F795-9105-46FF-A890-8B62A7B6B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34290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5" name="col-head-0">
            <a:extLst xmlns:a="http://schemas.openxmlformats.org/drawingml/2006/main">
              <a:ext uri="{FF2B5EF4-FFF2-40B4-BE49-F238E27FC236}">
                <a16:creationId xmlns:a16="http://schemas.microsoft.com/office/drawing/2014/main" id="{B15D903D-8FB6-4F26-B114-579C0AE3E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19350"/>
            <a:ext cx="297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Excel 输入</a:t>
            </a:r>
          </a:p>
        </p:txBody>
      </p:sp>
      <p:sp>
        <p:nvSpPr>
          <p:cNvPr id="6" name="col-body-0">
            <a:extLst xmlns:a="http://schemas.openxmlformats.org/drawingml/2006/main">
              <a:ext uri="{FF2B5EF4-FFF2-40B4-BE49-F238E27FC236}">
                <a16:creationId xmlns:a16="http://schemas.microsoft.com/office/drawing/2014/main" id="{D46A566C-93D9-4208-9322-ED6F9A295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90850"/>
            <a:ext cx="29718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06E"/>
                </a:solidFill>
              </a:defRPr>
            </a:pPr>
            <a:r>
              <a:rPr sz="1350" b="0">
                <a:solidFill>
                  <a:srgbClr val="58606E"/>
                </a:solidFill>
              </a:rPr>
              <a:t>每行是一段历史合同段落，以及人工确认过的一个或多个变更类型编码。</a:t>
            </a:r>
          </a:p>
        </p:txBody>
      </p:sp>
      <p:sp>
        <p:nvSpPr>
          <p:cNvPr id="7" name="col-1">
            <a:extLst xmlns:a="http://schemas.openxmlformats.org/drawingml/2006/main">
              <a:ext uri="{FF2B5EF4-FFF2-40B4-BE49-F238E27FC236}">
                <a16:creationId xmlns:a16="http://schemas.microsoft.com/office/drawing/2014/main" id="{C99C7CE2-C4F8-4E70-9249-CFB694919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190750"/>
            <a:ext cx="34290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0F7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8" name="col-head-1">
            <a:extLst xmlns:a="http://schemas.openxmlformats.org/drawingml/2006/main">
              <a:ext uri="{FF2B5EF4-FFF2-40B4-BE49-F238E27FC236}">
                <a16:creationId xmlns:a16="http://schemas.microsoft.com/office/drawing/2014/main" id="{E6E12796-F498-47C9-B783-3A2A67853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419350"/>
            <a:ext cx="297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文本处理</a:t>
            </a:r>
          </a:p>
        </p:txBody>
      </p:sp>
      <p:sp>
        <p:nvSpPr>
          <p:cNvPr id="9" name="col-body-1">
            <a:extLst xmlns:a="http://schemas.openxmlformats.org/drawingml/2006/main">
              <a:ext uri="{FF2B5EF4-FFF2-40B4-BE49-F238E27FC236}">
                <a16:creationId xmlns:a16="http://schemas.microsoft.com/office/drawing/2014/main" id="{2C0E4877-7288-47E8-B393-C4FA965B2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90850"/>
            <a:ext cx="29718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06E"/>
                </a:solidFill>
              </a:defRPr>
            </a:pPr>
            <a:r>
              <a:rPr sz="1350" b="0">
                <a:solidFill>
                  <a:srgbClr val="58606E"/>
                </a:solidFill>
              </a:rPr>
              <a:t>系统会规范化文本并计算 Hash。完全相同的段落可以快速识别，也能避免重复沉淀。</a:t>
            </a:r>
          </a:p>
        </p:txBody>
      </p:sp>
      <p:sp>
        <p:nvSpPr>
          <p:cNvPr id="10" name="col-2">
            <a:extLst xmlns:a="http://schemas.openxmlformats.org/drawingml/2006/main">
              <a:ext uri="{FF2B5EF4-FFF2-40B4-BE49-F238E27FC236}">
                <a16:creationId xmlns:a16="http://schemas.microsoft.com/office/drawing/2014/main" id="{45262D33-CB18-4E05-A230-E3B057523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190750"/>
            <a:ext cx="34290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11" name="col-head-2">
            <a:extLst xmlns:a="http://schemas.openxmlformats.org/drawingml/2006/main">
              <a:ext uri="{FF2B5EF4-FFF2-40B4-BE49-F238E27FC236}">
                <a16:creationId xmlns:a16="http://schemas.microsoft.com/office/drawing/2014/main" id="{A9670C7A-F744-4A89-B4A4-1F775DCD9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19350"/>
            <a:ext cx="297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向量生成</a:t>
            </a:r>
          </a:p>
        </p:txBody>
      </p:sp>
      <p:sp>
        <p:nvSpPr>
          <p:cNvPr id="12" name="col-body-2">
            <a:extLst xmlns:a="http://schemas.openxmlformats.org/drawingml/2006/main">
              <a:ext uri="{FF2B5EF4-FFF2-40B4-BE49-F238E27FC236}">
                <a16:creationId xmlns:a16="http://schemas.microsoft.com/office/drawing/2014/main" id="{4617A4A0-BA2A-4B3A-989C-AA6A63D64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990850"/>
            <a:ext cx="29718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06E"/>
                </a:solidFill>
              </a:defRPr>
            </a:pPr>
            <a:r>
              <a:rPr sz="1350" b="0">
                <a:solidFill>
                  <a:srgbClr val="58606E"/>
                </a:solidFill>
              </a:rPr>
              <a:t>调用公司统一 Embedding 网关，把段落转成 1024 维向量，再保存为历史样本。</a:t>
            </a:r>
          </a:p>
        </p:txBody>
      </p:sp>
      <p:sp>
        <p:nvSpPr>
          <p:cNvPr id="13" name="footer">
            <a:extLst xmlns:a="http://schemas.openxmlformats.org/drawingml/2006/main">
              <a:ext uri="{FF2B5EF4-FFF2-40B4-BE49-F238E27FC236}">
                <a16:creationId xmlns:a16="http://schemas.microsoft.com/office/drawing/2014/main" id="{92F4E969-0208-48CD-932A-6AF2C45EB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8606E"/>
                </a:solidFill>
              </a:defRPr>
            </a:pPr>
            <a:r>
              <a:rPr sz="1200" b="1">
                <a:solidFill>
                  <a:srgbClr val="58606E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89575082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eyebrow">
            <a:extLst xmlns:a="http://schemas.openxmlformats.org/drawingml/2006/main">
              <a:ext uri="{FF2B5EF4-FFF2-40B4-BE49-F238E27FC236}">
                <a16:creationId xmlns:a16="http://schemas.microsoft.com/office/drawing/2014/main" id="{998D99EA-3B76-44CC-8D0C-8D0CBF644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8606E"/>
                </a:solidFill>
              </a:defRPr>
            </a:pPr>
            <a:r>
              <a:rPr sz="1200" b="1">
                <a:solidFill>
                  <a:srgbClr val="58606E"/>
                </a:solidFill>
              </a:rPr>
              <a:t>合同段落变更类型识别服务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BB8F80B-C031-4AFA-9FFD-107498005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10191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预测时，先找完全相同，再找语义相近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A6AFB698-0BA0-45E3-9BDA-DA97BAE29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428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9525">
            <a:solidFill>
              <a:srgbClr val="2F80ED"/>
            </a:solidFill>
            <a:prstDash val="solid"/>
          </a:ln>
        </p:spPr>
      </p:sp>
      <p:sp>
        <p:nvSpPr>
          <p:cNvPr id="4" name="step-0">
            <a:extLst xmlns:a="http://schemas.openxmlformats.org/drawingml/2006/main">
              <a:ext uri="{FF2B5EF4-FFF2-40B4-BE49-F238E27FC236}">
                <a16:creationId xmlns:a16="http://schemas.microsoft.com/office/drawing/2014/main" id="{163FBBFD-1C7A-487C-904D-FA103E196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16922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5" name="num-0">
            <a:extLst xmlns:a="http://schemas.openxmlformats.org/drawingml/2006/main">
              <a:ext uri="{FF2B5EF4-FFF2-40B4-BE49-F238E27FC236}">
                <a16:creationId xmlns:a16="http://schemas.microsoft.com/office/drawing/2014/main" id="{EE7C902B-D346-45E2-89BE-652696FAE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05050"/>
            <a:ext cx="30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80ED"/>
                </a:solidFill>
              </a:defRPr>
            </a:pPr>
            <a:r>
              <a:rPr sz="1650" b="1">
                <a:solidFill>
                  <a:srgbClr val="2F80ED"/>
                </a:solidFill>
              </a:rPr>
              <a:t>1</a:t>
            </a:r>
          </a:p>
        </p:txBody>
      </p:sp>
      <p:sp>
        <p:nvSpPr>
          <p:cNvPr id="6" name="step-text-0">
            <a:extLst xmlns:a="http://schemas.openxmlformats.org/drawingml/2006/main">
              <a:ext uri="{FF2B5EF4-FFF2-40B4-BE49-F238E27FC236}">
                <a16:creationId xmlns:a16="http://schemas.microsoft.com/office/drawing/2014/main" id="{C64786E4-DAFC-4B4F-8C3B-7678650BF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305050"/>
            <a:ext cx="11017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新段落</a:t>
            </a:r>
          </a:p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规范化</a:t>
            </a:r>
          </a:p>
        </p:txBody>
      </p:sp>
      <p:sp>
        <p:nvSpPr>
          <p:cNvPr id="7" name="step-1">
            <a:extLst xmlns:a="http://schemas.openxmlformats.org/drawingml/2006/main">
              <a:ext uri="{FF2B5EF4-FFF2-40B4-BE49-F238E27FC236}">
                <a16:creationId xmlns:a16="http://schemas.microsoft.com/office/drawing/2014/main" id="{CE632A54-CC12-452B-8765-2D1B9AD9A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1425" y="2152650"/>
            <a:ext cx="16922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0F7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8" name="num-1">
            <a:extLst xmlns:a="http://schemas.openxmlformats.org/drawingml/2006/main">
              <a:ext uri="{FF2B5EF4-FFF2-40B4-BE49-F238E27FC236}">
                <a16:creationId xmlns:a16="http://schemas.microsoft.com/office/drawing/2014/main" id="{2A99C4DA-7AB0-4A7C-8EAE-A022B91ED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3825" y="2305050"/>
            <a:ext cx="30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80ED"/>
                </a:solidFill>
              </a:defRPr>
            </a:pPr>
            <a:r>
              <a:rPr sz="1650" b="1">
                <a:solidFill>
                  <a:srgbClr val="2F80ED"/>
                </a:solidFill>
              </a:rPr>
              <a:t>2</a:t>
            </a:r>
          </a:p>
        </p:txBody>
      </p:sp>
      <p:sp>
        <p:nvSpPr>
          <p:cNvPr id="9" name="step-text-1">
            <a:extLst xmlns:a="http://schemas.openxmlformats.org/drawingml/2006/main">
              <a:ext uri="{FF2B5EF4-FFF2-40B4-BE49-F238E27FC236}">
                <a16:creationId xmlns:a16="http://schemas.microsoft.com/office/drawing/2014/main" id="{EA07E8D0-B6EB-4A43-81D9-1E50438BF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7675" y="2305050"/>
            <a:ext cx="11017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Hash 精确</a:t>
            </a:r>
          </a:p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命中</a:t>
            </a:r>
          </a:p>
        </p:txBody>
      </p:sp>
      <p:sp>
        <p:nvSpPr>
          <p:cNvPr id="10" name="step-2">
            <a:extLst xmlns:a="http://schemas.openxmlformats.org/drawingml/2006/main">
              <a:ext uri="{FF2B5EF4-FFF2-40B4-BE49-F238E27FC236}">
                <a16:creationId xmlns:a16="http://schemas.microsoft.com/office/drawing/2014/main" id="{CC3B4430-6B06-4FB6-9F92-451959D73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7050" y="2152650"/>
            <a:ext cx="16922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11" name="num-2">
            <a:extLst xmlns:a="http://schemas.openxmlformats.org/drawingml/2006/main">
              <a:ext uri="{FF2B5EF4-FFF2-40B4-BE49-F238E27FC236}">
                <a16:creationId xmlns:a16="http://schemas.microsoft.com/office/drawing/2014/main" id="{41F000A2-5692-413A-BD3B-612546082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50" y="2305050"/>
            <a:ext cx="30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80ED"/>
                </a:solidFill>
              </a:defRPr>
            </a:pPr>
            <a:r>
              <a:rPr sz="1650" b="1">
                <a:solidFill>
                  <a:srgbClr val="2F80ED"/>
                </a:solidFill>
              </a:rPr>
              <a:t>3</a:t>
            </a:r>
          </a:p>
        </p:txBody>
      </p:sp>
      <p:sp>
        <p:nvSpPr>
          <p:cNvPr id="12" name="step-text-2">
            <a:extLst xmlns:a="http://schemas.openxmlformats.org/drawingml/2006/main">
              <a:ext uri="{FF2B5EF4-FFF2-40B4-BE49-F238E27FC236}">
                <a16:creationId xmlns:a16="http://schemas.microsoft.com/office/drawing/2014/main" id="{B8F9A454-0C53-4FB1-A406-C348F8D05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3300" y="2305050"/>
            <a:ext cx="11017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未命中才</a:t>
            </a:r>
          </a:p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调用模型</a:t>
            </a:r>
          </a:p>
        </p:txBody>
      </p:sp>
      <p:sp>
        <p:nvSpPr>
          <p:cNvPr id="13" name="step-3">
            <a:extLst xmlns:a="http://schemas.openxmlformats.org/drawingml/2006/main">
              <a:ext uri="{FF2B5EF4-FFF2-40B4-BE49-F238E27FC236}">
                <a16:creationId xmlns:a16="http://schemas.microsoft.com/office/drawing/2014/main" id="{AA19ADEC-F945-4340-838E-98C6B4215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152650"/>
            <a:ext cx="16922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0F7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14" name="num-3">
            <a:extLst xmlns:a="http://schemas.openxmlformats.org/drawingml/2006/main">
              <a:ext uri="{FF2B5EF4-FFF2-40B4-BE49-F238E27FC236}">
                <a16:creationId xmlns:a16="http://schemas.microsoft.com/office/drawing/2014/main" id="{3C2A6103-9903-4A07-AD7C-A0BA8A1E2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305050"/>
            <a:ext cx="30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80ED"/>
                </a:solidFill>
              </a:defRPr>
            </a:pPr>
            <a:r>
              <a:rPr sz="1650" b="1">
                <a:solidFill>
                  <a:srgbClr val="2F80ED"/>
                </a:solidFill>
              </a:rPr>
              <a:t>4</a:t>
            </a:r>
          </a:p>
        </p:txBody>
      </p:sp>
      <p:sp>
        <p:nvSpPr>
          <p:cNvPr id="15" name="step-text-3">
            <a:extLst xmlns:a="http://schemas.openxmlformats.org/drawingml/2006/main">
              <a:ext uri="{FF2B5EF4-FFF2-40B4-BE49-F238E27FC236}">
                <a16:creationId xmlns:a16="http://schemas.microsoft.com/office/drawing/2014/main" id="{269C0583-9FF3-4F4B-BD45-4820AD0EC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2305050"/>
            <a:ext cx="11017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找 Top 10</a:t>
            </a:r>
          </a:p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相似样本</a:t>
            </a:r>
          </a:p>
        </p:txBody>
      </p:sp>
      <p:sp>
        <p:nvSpPr>
          <p:cNvPr id="16" name="step-4">
            <a:extLst xmlns:a="http://schemas.openxmlformats.org/drawingml/2006/main">
              <a:ext uri="{FF2B5EF4-FFF2-40B4-BE49-F238E27FC236}">
                <a16:creationId xmlns:a16="http://schemas.microsoft.com/office/drawing/2014/main" id="{69116F89-4F0F-4D87-BB0E-44405195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2152650"/>
            <a:ext cx="16922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17" name="num-4">
            <a:extLst xmlns:a="http://schemas.openxmlformats.org/drawingml/2006/main">
              <a:ext uri="{FF2B5EF4-FFF2-40B4-BE49-F238E27FC236}">
                <a16:creationId xmlns:a16="http://schemas.microsoft.com/office/drawing/2014/main" id="{EC767725-0126-4BBD-90E3-60FAE1492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2305050"/>
            <a:ext cx="30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80ED"/>
                </a:solidFill>
              </a:defRPr>
            </a:pPr>
            <a:r>
              <a:rPr sz="1650" b="1">
                <a:solidFill>
                  <a:srgbClr val="2F80ED"/>
                </a:solidFill>
              </a:rPr>
              <a:t>5</a:t>
            </a:r>
          </a:p>
        </p:txBody>
      </p:sp>
      <p:sp>
        <p:nvSpPr>
          <p:cNvPr id="18" name="step-text-4">
            <a:extLst xmlns:a="http://schemas.openxmlformats.org/drawingml/2006/main">
              <a:ext uri="{FF2B5EF4-FFF2-40B4-BE49-F238E27FC236}">
                <a16:creationId xmlns:a16="http://schemas.microsoft.com/office/drawing/2014/main" id="{94E5B3ED-9D02-4506-9F5E-828CA0369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4550" y="2305050"/>
            <a:ext cx="11017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按相似度</a:t>
            </a:r>
          </a:p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加权投票</a:t>
            </a:r>
          </a:p>
        </p:txBody>
      </p:sp>
      <p:sp>
        <p:nvSpPr>
          <p:cNvPr id="19" name="step-5">
            <a:extLst xmlns:a="http://schemas.openxmlformats.org/drawingml/2006/main">
              <a:ext uri="{FF2B5EF4-FFF2-40B4-BE49-F238E27FC236}">
                <a16:creationId xmlns:a16="http://schemas.microsoft.com/office/drawing/2014/main" id="{E4B31CE6-AA0F-48AE-A9BD-F8089D3D6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3925" y="2152650"/>
            <a:ext cx="16922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0F7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20" name="num-5">
            <a:extLst xmlns:a="http://schemas.openxmlformats.org/drawingml/2006/main">
              <a:ext uri="{FF2B5EF4-FFF2-40B4-BE49-F238E27FC236}">
                <a16:creationId xmlns:a16="http://schemas.microsoft.com/office/drawing/2014/main" id="{2430BF0E-BCDC-4B9E-BF00-68CB0F3DC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6325" y="2305050"/>
            <a:ext cx="30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80ED"/>
                </a:solidFill>
              </a:defRPr>
            </a:pPr>
            <a:r>
              <a:rPr sz="1650" b="1">
                <a:solidFill>
                  <a:srgbClr val="2F80ED"/>
                </a:solidFill>
              </a:rPr>
              <a:t>6</a:t>
            </a:r>
          </a:p>
        </p:txBody>
      </p:sp>
      <p:sp>
        <p:nvSpPr>
          <p:cNvPr id="21" name="step-text-5">
            <a:extLst xmlns:a="http://schemas.openxmlformats.org/drawingml/2006/main">
              <a:ext uri="{FF2B5EF4-FFF2-40B4-BE49-F238E27FC236}">
                <a16:creationId xmlns:a16="http://schemas.microsoft.com/office/drawing/2014/main" id="{0813F25A-B2DD-4C0E-B49C-CEF0AFE14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0175" y="2305050"/>
            <a:ext cx="11017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输出候选</a:t>
            </a:r>
          </a:p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变更类型</a:t>
            </a:r>
          </a:p>
        </p:txBody>
      </p:sp>
      <p:sp>
        <p:nvSpPr>
          <p:cNvPr id="22" name="rule">
            <a:extLst xmlns:a="http://schemas.openxmlformats.org/drawingml/2006/main">
              <a:ext uri="{FF2B5EF4-FFF2-40B4-BE49-F238E27FC236}">
                <a16:creationId xmlns:a16="http://schemas.microsoft.com/office/drawing/2014/main" id="{803405DA-4FFC-46CB-9DEA-744E016F1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0957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这套顺序的好处是：能精确复用的先复用，需要语义判断时再调用模型，结果也能追溯到历史参考段落。</a:t>
            </a:r>
          </a:p>
        </p:txBody>
      </p:sp>
      <p:sp>
        <p:nvSpPr>
          <p:cNvPr id="23" name="footer">
            <a:extLst xmlns:a="http://schemas.openxmlformats.org/drawingml/2006/main">
              <a:ext uri="{FF2B5EF4-FFF2-40B4-BE49-F238E27FC236}">
                <a16:creationId xmlns:a16="http://schemas.microsoft.com/office/drawing/2014/main" id="{163E20D4-940A-4418-AA52-D7CAFD05D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8606E"/>
                </a:solidFill>
              </a:defRPr>
            </a:pPr>
            <a:r>
              <a:rPr sz="1200" b="1">
                <a:solidFill>
                  <a:srgbClr val="58606E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10846335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eyebrow">
            <a:extLst xmlns:a="http://schemas.openxmlformats.org/drawingml/2006/main">
              <a:ext uri="{FF2B5EF4-FFF2-40B4-BE49-F238E27FC236}">
                <a16:creationId xmlns:a16="http://schemas.microsoft.com/office/drawing/2014/main" id="{D01A6E03-B92A-4115-80F6-FC7B860AF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8606E"/>
                </a:solidFill>
              </a:defRPr>
            </a:pPr>
            <a:r>
              <a:rPr sz="1200" b="1">
                <a:solidFill>
                  <a:srgbClr val="58606E"/>
                </a:solidFill>
              </a:rPr>
              <a:t>合同段落变更类型识别服务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5584A0E-3F4E-45B0-BEA7-066600008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10191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结果不是一句“模型说了算”，而是带着依据回来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E89DC8BB-564C-4650-BBA3-ADF1B9A40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428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9525">
            <a:solidFill>
              <a:srgbClr val="2F80ED"/>
            </a:solidFill>
            <a:prstDash val="solid"/>
          </a:ln>
        </p:spPr>
      </p:sp>
      <p:sp>
        <p:nvSpPr>
          <p:cNvPr id="4" name="col-0">
            <a:extLst xmlns:a="http://schemas.openxmlformats.org/drawingml/2006/main">
              <a:ext uri="{FF2B5EF4-FFF2-40B4-BE49-F238E27FC236}">
                <a16:creationId xmlns:a16="http://schemas.microsoft.com/office/drawing/2014/main" id="{C1B93124-2921-4308-B416-0C3AA1D94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34290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5" name="col-head-0">
            <a:extLst xmlns:a="http://schemas.openxmlformats.org/drawingml/2006/main">
              <a:ext uri="{FF2B5EF4-FFF2-40B4-BE49-F238E27FC236}">
                <a16:creationId xmlns:a16="http://schemas.microsoft.com/office/drawing/2014/main" id="{B67AC9C9-33BE-45A0-93B9-434AE1EF2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19350"/>
            <a:ext cx="297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similarity</a:t>
            </a:r>
          </a:p>
        </p:txBody>
      </p:sp>
      <p:sp>
        <p:nvSpPr>
          <p:cNvPr id="6" name="col-body-0">
            <a:extLst xmlns:a="http://schemas.openxmlformats.org/drawingml/2006/main">
              <a:ext uri="{FF2B5EF4-FFF2-40B4-BE49-F238E27FC236}">
                <a16:creationId xmlns:a16="http://schemas.microsoft.com/office/drawing/2014/main" id="{FE78B045-6EA5-4163-B68D-2E85682A9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90850"/>
            <a:ext cx="29718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06E"/>
                </a:solidFill>
              </a:defRPr>
            </a:pPr>
            <a:r>
              <a:rPr sz="1350" b="0">
                <a:solidFill>
                  <a:srgbClr val="58606E"/>
                </a:solidFill>
              </a:rPr>
              <a:t>表示新段落和某条历史段落有多像。它回答的是：这两段文本接近吗？</a:t>
            </a:r>
          </a:p>
        </p:txBody>
      </p:sp>
      <p:sp>
        <p:nvSpPr>
          <p:cNvPr id="7" name="col-1">
            <a:extLst xmlns:a="http://schemas.openxmlformats.org/drawingml/2006/main">
              <a:ext uri="{FF2B5EF4-FFF2-40B4-BE49-F238E27FC236}">
                <a16:creationId xmlns:a16="http://schemas.microsoft.com/office/drawing/2014/main" id="{6BF7CC4C-1EA2-4326-BEC5-37F70CD94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190750"/>
            <a:ext cx="34290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0F7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8" name="col-head-1">
            <a:extLst xmlns:a="http://schemas.openxmlformats.org/drawingml/2006/main">
              <a:ext uri="{FF2B5EF4-FFF2-40B4-BE49-F238E27FC236}">
                <a16:creationId xmlns:a16="http://schemas.microsoft.com/office/drawing/2014/main" id="{092260D8-7A05-4353-86D0-399FBF7B1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419350"/>
            <a:ext cx="297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score</a:t>
            </a:r>
          </a:p>
        </p:txBody>
      </p:sp>
      <p:sp>
        <p:nvSpPr>
          <p:cNvPr id="9" name="col-body-1">
            <a:extLst xmlns:a="http://schemas.openxmlformats.org/drawingml/2006/main">
              <a:ext uri="{FF2B5EF4-FFF2-40B4-BE49-F238E27FC236}">
                <a16:creationId xmlns:a16="http://schemas.microsoft.com/office/drawing/2014/main" id="{3D03710D-9842-48B5-9618-B658BA00D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90850"/>
            <a:ext cx="29718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06E"/>
                </a:solidFill>
              </a:defRPr>
            </a:pPr>
            <a:r>
              <a:rPr sz="1350" b="0">
                <a:solidFill>
                  <a:srgbClr val="58606E"/>
                </a:solidFill>
              </a:rPr>
              <a:t>表示历史样本对某个变更类型的支持程度。它回答的是：这些相似历史证据支持哪个类型？</a:t>
            </a:r>
          </a:p>
        </p:txBody>
      </p:sp>
      <p:sp>
        <p:nvSpPr>
          <p:cNvPr id="10" name="col-2">
            <a:extLst xmlns:a="http://schemas.openxmlformats.org/drawingml/2006/main">
              <a:ext uri="{FF2B5EF4-FFF2-40B4-BE49-F238E27FC236}">
                <a16:creationId xmlns:a16="http://schemas.microsoft.com/office/drawing/2014/main" id="{3CAC60B1-5F28-4C27-8475-2DED9CE0D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190750"/>
            <a:ext cx="34290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11" name="col-head-2">
            <a:extLst xmlns:a="http://schemas.openxmlformats.org/drawingml/2006/main">
              <a:ext uri="{FF2B5EF4-FFF2-40B4-BE49-F238E27FC236}">
                <a16:creationId xmlns:a16="http://schemas.microsoft.com/office/drawing/2014/main" id="{C0967FAD-7959-4DA5-B037-2E67017B7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19350"/>
            <a:ext cx="297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参考段落</a:t>
            </a:r>
          </a:p>
        </p:txBody>
      </p:sp>
      <p:sp>
        <p:nvSpPr>
          <p:cNvPr id="12" name="col-body-2">
            <a:extLst xmlns:a="http://schemas.openxmlformats.org/drawingml/2006/main">
              <a:ext uri="{FF2B5EF4-FFF2-40B4-BE49-F238E27FC236}">
                <a16:creationId xmlns:a16="http://schemas.microsoft.com/office/drawing/2014/main" id="{A25DB041-5B97-4F2B-9C67-1BE519425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990850"/>
            <a:ext cx="29718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06E"/>
                </a:solidFill>
              </a:defRPr>
            </a:pPr>
            <a:r>
              <a:rPr sz="1350" b="0">
                <a:solidFill>
                  <a:srgbClr val="58606E"/>
                </a:solidFill>
              </a:rPr>
              <a:t>系统会把相似历史段落一起返回，让业务人员能看到建议来自哪里，而不是只看一个标签。</a:t>
            </a:r>
          </a:p>
        </p:txBody>
      </p:sp>
      <p:sp>
        <p:nvSpPr>
          <p:cNvPr id="13" name="footer">
            <a:extLst xmlns:a="http://schemas.openxmlformats.org/drawingml/2006/main">
              <a:ext uri="{FF2B5EF4-FFF2-40B4-BE49-F238E27FC236}">
                <a16:creationId xmlns:a16="http://schemas.microsoft.com/office/drawing/2014/main" id="{C6AC1BEE-F212-40C9-BA85-3D43B925F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8606E"/>
                </a:solidFill>
              </a:defRPr>
            </a:pPr>
            <a:r>
              <a:rPr sz="1200" b="1">
                <a:solidFill>
                  <a:srgbClr val="58606E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93810356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eyebrow">
            <a:extLst xmlns:a="http://schemas.openxmlformats.org/drawingml/2006/main">
              <a:ext uri="{FF2B5EF4-FFF2-40B4-BE49-F238E27FC236}">
                <a16:creationId xmlns:a16="http://schemas.microsoft.com/office/drawing/2014/main" id="{98C22C6B-9511-41B5-8E2D-A8D5BE9EA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8606E"/>
                </a:solidFill>
              </a:defRPr>
            </a:pPr>
            <a:r>
              <a:rPr sz="1200" b="1">
                <a:solidFill>
                  <a:srgbClr val="58606E"/>
                </a:solidFill>
              </a:rPr>
              <a:t>合同段落变更类型识别服务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9C88956-0414-450F-AF37-FB243E5AC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10191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HIGH 和 CANDIDATE 对应不同的业务使用方式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512260CF-EC5E-45EB-804E-960276457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428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9525">
            <a:solidFill>
              <a:srgbClr val="2F80ED"/>
            </a:solidFill>
            <a:prstDash val="solid"/>
          </a:ln>
        </p:spPr>
      </p:sp>
      <p:sp>
        <p:nvSpPr>
          <p:cNvPr id="4" name="dot-0">
            <a:extLst xmlns:a="http://schemas.openxmlformats.org/drawingml/2006/main">
              <a:ext uri="{FF2B5EF4-FFF2-40B4-BE49-F238E27FC236}">
                <a16:creationId xmlns:a16="http://schemas.microsoft.com/office/drawing/2014/main" id="{1B7821E3-A65D-47C6-941A-5C569F6F8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574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9525">
            <a:solidFill>
              <a:srgbClr val="2F80ED"/>
            </a:solidFill>
            <a:prstDash val="solid"/>
          </a:ln>
        </p:spPr>
      </p:sp>
      <p:sp>
        <p:nvSpPr>
          <p:cNvPr id="5" name="bullet-0">
            <a:extLst xmlns:a="http://schemas.openxmlformats.org/drawingml/2006/main">
              <a:ext uri="{FF2B5EF4-FFF2-40B4-BE49-F238E27FC236}">
                <a16:creationId xmlns:a16="http://schemas.microsoft.com/office/drawing/2014/main" id="{133B55DD-29EF-49DB-B6FC-72675EC02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143125"/>
            <a:ext cx="9582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HIGH：相似历史证据比较集中，可以作为优先判断方向</a:t>
            </a:r>
          </a:p>
        </p:txBody>
      </p:sp>
      <p:sp>
        <p:nvSpPr>
          <p:cNvPr id="6" name="dot-1">
            <a:extLst xmlns:a="http://schemas.openxmlformats.org/drawingml/2006/main">
              <a:ext uri="{FF2B5EF4-FFF2-40B4-BE49-F238E27FC236}">
                <a16:creationId xmlns:a16="http://schemas.microsoft.com/office/drawing/2014/main" id="{DCAC319B-C3A1-4B56-94AA-D1A81C179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098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9525">
            <a:solidFill>
              <a:srgbClr val="2F80ED"/>
            </a:solidFill>
            <a:prstDash val="solid"/>
          </a:ln>
        </p:spPr>
      </p:sp>
      <p:sp>
        <p:nvSpPr>
          <p:cNvPr id="7" name="bullet-1">
            <a:extLst xmlns:a="http://schemas.openxmlformats.org/drawingml/2006/main">
              <a:ext uri="{FF2B5EF4-FFF2-40B4-BE49-F238E27FC236}">
                <a16:creationId xmlns:a16="http://schemas.microsoft.com/office/drawing/2014/main" id="{36F9E13E-C388-4914-825D-9B28D5C6A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95575"/>
            <a:ext cx="9582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CANDIDATE：有参考价值，但需要结合合同上下文再确认</a:t>
            </a:r>
          </a:p>
        </p:txBody>
      </p:sp>
      <p:sp>
        <p:nvSpPr>
          <p:cNvPr id="8" name="dot-2">
            <a:extLst xmlns:a="http://schemas.openxmlformats.org/drawingml/2006/main">
              <a:ext uri="{FF2B5EF4-FFF2-40B4-BE49-F238E27FC236}">
                <a16:creationId xmlns:a16="http://schemas.microsoft.com/office/drawing/2014/main" id="{E520A94D-AE0D-4A20-A831-D5E191732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623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9525">
            <a:solidFill>
              <a:srgbClr val="2F80ED"/>
            </a:solidFill>
            <a:prstDash val="solid"/>
          </a:ln>
        </p:spPr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2851617C-8318-43F7-8719-8F11EF17F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248025"/>
            <a:ext cx="9582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强相似兜底：如果第一条历史段落非常像，即使投票不集中，也先作为候选给业务参考</a:t>
            </a:r>
          </a:p>
        </p:txBody>
      </p:sp>
      <p:sp>
        <p:nvSpPr>
          <p:cNvPr id="10" name="dot-3">
            <a:extLst xmlns:a="http://schemas.openxmlformats.org/drawingml/2006/main">
              <a:ext uri="{FF2B5EF4-FFF2-40B4-BE49-F238E27FC236}">
                <a16:creationId xmlns:a16="http://schemas.microsoft.com/office/drawing/2014/main" id="{3509FDF6-86F1-4AD0-B487-555735408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147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9525">
            <a:solidFill>
              <a:srgbClr val="2F80ED"/>
            </a:solidFill>
            <a:prstDash val="solid"/>
          </a:ln>
        </p:spPr>
      </p:sp>
      <p:sp>
        <p:nvSpPr>
          <p:cNvPr id="11" name="bullet-3">
            <a:extLst xmlns:a="http://schemas.openxmlformats.org/drawingml/2006/main">
              <a:ext uri="{FF2B5EF4-FFF2-40B4-BE49-F238E27FC236}">
                <a16:creationId xmlns:a16="http://schemas.microsoft.com/office/drawing/2014/main" id="{5A04BEF4-D830-46F9-A5CA-18A000157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800475"/>
            <a:ext cx="9582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NO_RELIABLE_MATCH：知识库里没有足够依据时，不强行给结论</a:t>
            </a:r>
          </a:p>
        </p:txBody>
      </p:sp>
      <p:sp>
        <p:nvSpPr>
          <p:cNvPr id="12" name="note-box">
            <a:extLst xmlns:a="http://schemas.openxmlformats.org/drawingml/2006/main">
              <a:ext uri="{FF2B5EF4-FFF2-40B4-BE49-F238E27FC236}">
                <a16:creationId xmlns:a16="http://schemas.microsoft.com/office/drawing/2014/main" id="{CCFEB38E-B163-4639-975E-BF925BE16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9525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E4C783"/>
            </a:solidFill>
            <a:prstDash val="solid"/>
          </a:ln>
        </p:spPr>
      </p:sp>
      <p:sp>
        <p:nvSpPr>
          <p:cNvPr id="13" name="note-text">
            <a:extLst xmlns:a="http://schemas.openxmlformats.org/drawingml/2006/main">
              <a:ext uri="{FF2B5EF4-FFF2-40B4-BE49-F238E27FC236}">
                <a16:creationId xmlns:a16="http://schemas.microsoft.com/office/drawing/2014/main" id="{B471889B-6135-4079-913C-A834E4A2E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048250"/>
            <a:ext cx="899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B8A5A"/>
                </a:solidFill>
              </a:defRPr>
            </a:pPr>
            <a:r>
              <a:rPr sz="1575" b="1">
                <a:solidFill>
                  <a:srgbClr val="1B8A5A"/>
                </a:solidFill>
              </a:rPr>
              <a:t>这不是替代人工，而是把“可参考依据”提前摆出来。</a:t>
            </a:r>
          </a:p>
        </p:txBody>
      </p:sp>
      <p:sp>
        <p:nvSpPr>
          <p:cNvPr id="14" name="footer">
            <a:extLst xmlns:a="http://schemas.openxmlformats.org/drawingml/2006/main">
              <a:ext uri="{FF2B5EF4-FFF2-40B4-BE49-F238E27FC236}">
                <a16:creationId xmlns:a16="http://schemas.microsoft.com/office/drawing/2014/main" id="{E61E9711-3771-48D3-ACC0-ADC6A61A6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8606E"/>
                </a:solidFill>
              </a:defRPr>
            </a:pPr>
            <a:r>
              <a:rPr sz="1200" b="1">
                <a:solidFill>
                  <a:srgbClr val="58606E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44631190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eyebrow">
            <a:extLst xmlns:a="http://schemas.openxmlformats.org/drawingml/2006/main">
              <a:ext uri="{FF2B5EF4-FFF2-40B4-BE49-F238E27FC236}">
                <a16:creationId xmlns:a16="http://schemas.microsoft.com/office/drawing/2014/main" id="{F4427986-5783-4B98-9F0E-45B04430C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8606E"/>
                </a:solidFill>
              </a:defRPr>
            </a:pPr>
            <a:r>
              <a:rPr sz="1200" b="1">
                <a:solidFill>
                  <a:srgbClr val="58606E"/>
                </a:solidFill>
              </a:rPr>
              <a:t>合同段落变更类型识别服务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FBAF674-7193-45A6-BFA5-4F3B0E302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10191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为什么第一版不引入向量数据库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16B22226-36DD-403D-A755-86969C550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428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9525">
            <a:solidFill>
              <a:srgbClr val="2F80ED"/>
            </a:solidFill>
            <a:prstDash val="solid"/>
          </a:ln>
        </p:spPr>
      </p:sp>
      <p:sp>
        <p:nvSpPr>
          <p:cNvPr id="4" name="col-0">
            <a:extLst xmlns:a="http://schemas.openxmlformats.org/drawingml/2006/main">
              <a:ext uri="{FF2B5EF4-FFF2-40B4-BE49-F238E27FC236}">
                <a16:creationId xmlns:a16="http://schemas.microsoft.com/office/drawing/2014/main" id="{108C9257-D888-48EC-85DA-668F8C79D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34290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5" name="col-head-0">
            <a:extLst xmlns:a="http://schemas.openxmlformats.org/drawingml/2006/main">
              <a:ext uri="{FF2B5EF4-FFF2-40B4-BE49-F238E27FC236}">
                <a16:creationId xmlns:a16="http://schemas.microsoft.com/office/drawing/2014/main" id="{7A1CB431-43F4-49F5-AF5D-CCCC65D84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19350"/>
            <a:ext cx="297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样本规模可控</a:t>
            </a:r>
          </a:p>
        </p:txBody>
      </p:sp>
      <p:sp>
        <p:nvSpPr>
          <p:cNvPr id="6" name="col-body-0">
            <a:extLst xmlns:a="http://schemas.openxmlformats.org/drawingml/2006/main">
              <a:ext uri="{FF2B5EF4-FFF2-40B4-BE49-F238E27FC236}">
                <a16:creationId xmlns:a16="http://schemas.microsoft.com/office/drawing/2014/main" id="{4FED303F-AC97-44E2-BE76-B38A9EB1E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90850"/>
            <a:ext cx="29718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06E"/>
                </a:solidFill>
              </a:defRPr>
            </a:pPr>
            <a:r>
              <a:rPr sz="1350" b="0">
                <a:solidFill>
                  <a:srgbClr val="58606E"/>
                </a:solidFill>
              </a:rPr>
              <a:t>第一版最多约 1 万条历史样本。这个规模下，Java 内存里直接比较向量就能满足使用。</a:t>
            </a:r>
          </a:p>
        </p:txBody>
      </p:sp>
      <p:sp>
        <p:nvSpPr>
          <p:cNvPr id="7" name="col-1">
            <a:extLst xmlns:a="http://schemas.openxmlformats.org/drawingml/2006/main">
              <a:ext uri="{FF2B5EF4-FFF2-40B4-BE49-F238E27FC236}">
                <a16:creationId xmlns:a16="http://schemas.microsoft.com/office/drawing/2014/main" id="{4C332B9A-BF06-4C2A-9A7B-9364C77D3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190750"/>
            <a:ext cx="34290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0F7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8" name="col-head-1">
            <a:extLst xmlns:a="http://schemas.openxmlformats.org/drawingml/2006/main">
              <a:ext uri="{FF2B5EF4-FFF2-40B4-BE49-F238E27FC236}">
                <a16:creationId xmlns:a16="http://schemas.microsoft.com/office/drawing/2014/main" id="{B3B0AD77-8152-4FCC-9490-0BC7AA7D2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419350"/>
            <a:ext cx="297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部署更轻</a:t>
            </a:r>
          </a:p>
        </p:txBody>
      </p:sp>
      <p:sp>
        <p:nvSpPr>
          <p:cNvPr id="9" name="col-body-1">
            <a:extLst xmlns:a="http://schemas.openxmlformats.org/drawingml/2006/main">
              <a:ext uri="{FF2B5EF4-FFF2-40B4-BE49-F238E27FC236}">
                <a16:creationId xmlns:a16="http://schemas.microsoft.com/office/drawing/2014/main" id="{B2ED6C10-AFCB-444E-9F67-1D6FE273E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90850"/>
            <a:ext cx="29718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06E"/>
                </a:solidFill>
              </a:defRPr>
            </a:pPr>
            <a:r>
              <a:rPr sz="1350" b="0">
                <a:solidFill>
                  <a:srgbClr val="58606E"/>
                </a:solidFill>
              </a:rPr>
              <a:t>少引入一个中间组件，测试、部署、权限、备份和排障都会简单不少。</a:t>
            </a:r>
          </a:p>
        </p:txBody>
      </p:sp>
      <p:sp>
        <p:nvSpPr>
          <p:cNvPr id="10" name="col-2">
            <a:extLst xmlns:a="http://schemas.openxmlformats.org/drawingml/2006/main">
              <a:ext uri="{FF2B5EF4-FFF2-40B4-BE49-F238E27FC236}">
                <a16:creationId xmlns:a16="http://schemas.microsoft.com/office/drawing/2014/main" id="{58AED380-945E-4528-9AEC-6DBE5DB81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190750"/>
            <a:ext cx="34290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11" name="col-head-2">
            <a:extLst xmlns:a="http://schemas.openxmlformats.org/drawingml/2006/main">
              <a:ext uri="{FF2B5EF4-FFF2-40B4-BE49-F238E27FC236}">
                <a16:creationId xmlns:a16="http://schemas.microsoft.com/office/drawing/2014/main" id="{3FEFFA95-7E08-4E80-A61B-B737D42BA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19350"/>
            <a:ext cx="297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后续可扩展</a:t>
            </a:r>
          </a:p>
        </p:txBody>
      </p:sp>
      <p:sp>
        <p:nvSpPr>
          <p:cNvPr id="12" name="col-body-2">
            <a:extLst xmlns:a="http://schemas.openxmlformats.org/drawingml/2006/main">
              <a:ext uri="{FF2B5EF4-FFF2-40B4-BE49-F238E27FC236}">
                <a16:creationId xmlns:a16="http://schemas.microsoft.com/office/drawing/2014/main" id="{05964420-7997-49FA-9817-8C08E5783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990850"/>
            <a:ext cx="29718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06E"/>
                </a:solidFill>
              </a:defRPr>
            </a:pPr>
            <a:r>
              <a:rPr sz="1350" b="0">
                <a:solidFill>
                  <a:srgbClr val="58606E"/>
                </a:solidFill>
              </a:rPr>
              <a:t>如果以后样本量明显变大，或多实例检索压力上来，再评估专门的向量检索组件更合适。</a:t>
            </a:r>
          </a:p>
        </p:txBody>
      </p:sp>
      <p:sp>
        <p:nvSpPr>
          <p:cNvPr id="13" name="footer">
            <a:extLst xmlns:a="http://schemas.openxmlformats.org/drawingml/2006/main">
              <a:ext uri="{FF2B5EF4-FFF2-40B4-BE49-F238E27FC236}">
                <a16:creationId xmlns:a16="http://schemas.microsoft.com/office/drawing/2014/main" id="{62C0E01F-AB91-48F3-B42F-B8167F94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8606E"/>
                </a:solidFill>
              </a:defRPr>
            </a:pPr>
            <a:r>
              <a:rPr sz="1200" b="1">
                <a:solidFill>
                  <a:srgbClr val="58606E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09541673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eyebrow">
            <a:extLst xmlns:a="http://schemas.openxmlformats.org/drawingml/2006/main">
              <a:ext uri="{FF2B5EF4-FFF2-40B4-BE49-F238E27FC236}">
                <a16:creationId xmlns:a16="http://schemas.microsoft.com/office/drawing/2014/main" id="{C02C7358-4958-4042-97DA-1EF80DCB4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8606E"/>
                </a:solidFill>
              </a:defRPr>
            </a:pPr>
            <a:r>
              <a:rPr sz="1200" b="1">
                <a:solidFill>
                  <a:srgbClr val="58606E"/>
                </a:solidFill>
              </a:rPr>
              <a:t>合同段落变更类型识别服务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34701E2-AE6F-4A63-9D9C-D5A7BEEF2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10191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为什么固定 1024 维，并用 Oracle + JVM 索引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015B5255-2263-4AD1-BAD4-C52AEBF40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428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9525">
            <a:solidFill>
              <a:srgbClr val="2F80ED"/>
            </a:solidFill>
            <a:prstDash val="solid"/>
          </a:ln>
        </p:spPr>
      </p:sp>
      <p:sp>
        <p:nvSpPr>
          <p:cNvPr id="4" name="col-0">
            <a:extLst xmlns:a="http://schemas.openxmlformats.org/drawingml/2006/main">
              <a:ext uri="{FF2B5EF4-FFF2-40B4-BE49-F238E27FC236}">
                <a16:creationId xmlns:a16="http://schemas.microsoft.com/office/drawing/2014/main" id="{27DF3535-25C8-4470-B8C5-1A83A4FFC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34290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5" name="col-head-0">
            <a:extLst xmlns:a="http://schemas.openxmlformats.org/drawingml/2006/main">
              <a:ext uri="{FF2B5EF4-FFF2-40B4-BE49-F238E27FC236}">
                <a16:creationId xmlns:a16="http://schemas.microsoft.com/office/drawing/2014/main" id="{4913691A-FEB8-435E-B6CF-08B59FEB4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19350"/>
            <a:ext cx="297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1024 维</a:t>
            </a:r>
          </a:p>
        </p:txBody>
      </p:sp>
      <p:sp>
        <p:nvSpPr>
          <p:cNvPr id="6" name="col-body-0">
            <a:extLst xmlns:a="http://schemas.openxmlformats.org/drawingml/2006/main">
              <a:ext uri="{FF2B5EF4-FFF2-40B4-BE49-F238E27FC236}">
                <a16:creationId xmlns:a16="http://schemas.microsoft.com/office/drawing/2014/main" id="{0B44738A-64CC-4832-B880-397DF2CDD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90850"/>
            <a:ext cx="29718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06E"/>
                </a:solidFill>
              </a:defRPr>
            </a:pPr>
            <a:r>
              <a:rPr sz="1350" b="0">
                <a:solidFill>
                  <a:srgbClr val="58606E"/>
                </a:solidFill>
              </a:rPr>
              <a:t>统一模型默认能力更大，但本项目固定请求 1024 维。对当前场景来说，表达能力够用，也能降低存储和计算压力。</a:t>
            </a:r>
          </a:p>
        </p:txBody>
      </p:sp>
      <p:sp>
        <p:nvSpPr>
          <p:cNvPr id="7" name="col-1">
            <a:extLst xmlns:a="http://schemas.openxmlformats.org/drawingml/2006/main">
              <a:ext uri="{FF2B5EF4-FFF2-40B4-BE49-F238E27FC236}">
                <a16:creationId xmlns:a16="http://schemas.microsoft.com/office/drawing/2014/main" id="{37440D04-F608-4E2B-B63F-895D95ECA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190750"/>
            <a:ext cx="34290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0F7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8" name="col-head-1">
            <a:extLst xmlns:a="http://schemas.openxmlformats.org/drawingml/2006/main">
              <a:ext uri="{FF2B5EF4-FFF2-40B4-BE49-F238E27FC236}">
                <a16:creationId xmlns:a16="http://schemas.microsoft.com/office/drawing/2014/main" id="{EF1C5D08-FAB4-4F45-93DB-EE003F041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419350"/>
            <a:ext cx="297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Oracle 保存</a:t>
            </a:r>
          </a:p>
        </p:txBody>
      </p:sp>
      <p:sp>
        <p:nvSpPr>
          <p:cNvPr id="9" name="col-body-1">
            <a:extLst xmlns:a="http://schemas.openxmlformats.org/drawingml/2006/main">
              <a:ext uri="{FF2B5EF4-FFF2-40B4-BE49-F238E27FC236}">
                <a16:creationId xmlns:a16="http://schemas.microsoft.com/office/drawing/2014/main" id="{22A73D1D-DB0C-4ED2-B884-648557BD1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90850"/>
            <a:ext cx="29718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06E"/>
                </a:solidFill>
              </a:defRPr>
            </a:pPr>
            <a:r>
              <a:rPr sz="1350" b="0">
                <a:solidFill>
                  <a:srgbClr val="58606E"/>
                </a:solidFill>
              </a:rPr>
              <a:t>历史段落、类型、Hash、模型版本和向量都落在 Oracle，便于和现有系统管理方式保持一致。</a:t>
            </a:r>
          </a:p>
        </p:txBody>
      </p:sp>
      <p:sp>
        <p:nvSpPr>
          <p:cNvPr id="10" name="col-2">
            <a:extLst xmlns:a="http://schemas.openxmlformats.org/drawingml/2006/main">
              <a:ext uri="{FF2B5EF4-FFF2-40B4-BE49-F238E27FC236}">
                <a16:creationId xmlns:a16="http://schemas.microsoft.com/office/drawing/2014/main" id="{EED7EF2C-DC9B-4AC5-B867-41C06A07E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190750"/>
            <a:ext cx="34290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11" name="col-head-2">
            <a:extLst xmlns:a="http://schemas.openxmlformats.org/drawingml/2006/main">
              <a:ext uri="{FF2B5EF4-FFF2-40B4-BE49-F238E27FC236}">
                <a16:creationId xmlns:a16="http://schemas.microsoft.com/office/drawing/2014/main" id="{D582D330-C13C-40CD-8226-451A14976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19350"/>
            <a:ext cx="297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JVM 索引</a:t>
            </a:r>
          </a:p>
        </p:txBody>
      </p:sp>
      <p:sp>
        <p:nvSpPr>
          <p:cNvPr id="12" name="col-body-2">
            <a:extLst xmlns:a="http://schemas.openxmlformats.org/drawingml/2006/main">
              <a:ext uri="{FF2B5EF4-FFF2-40B4-BE49-F238E27FC236}">
                <a16:creationId xmlns:a16="http://schemas.microsoft.com/office/drawing/2014/main" id="{92D36AF5-46C6-4F1A-9CAE-8E6C2FB6D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990850"/>
            <a:ext cx="29718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06E"/>
                </a:solidFill>
              </a:defRPr>
            </a:pPr>
            <a:r>
              <a:rPr sz="1350" b="0">
                <a:solidFill>
                  <a:srgbClr val="58606E"/>
                </a:solidFill>
              </a:rPr>
              <a:t>服务启动或重载时，把当前有效样本加载成只读索引。查询时读稳定快照，导入后再整体刷新。</a:t>
            </a:r>
          </a:p>
        </p:txBody>
      </p:sp>
      <p:sp>
        <p:nvSpPr>
          <p:cNvPr id="13" name="footer">
            <a:extLst xmlns:a="http://schemas.openxmlformats.org/drawingml/2006/main">
              <a:ext uri="{FF2B5EF4-FFF2-40B4-BE49-F238E27FC236}">
                <a16:creationId xmlns:a16="http://schemas.microsoft.com/office/drawing/2014/main" id="{85CBB700-FE3A-49CC-8761-BEB5F6A64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8606E"/>
                </a:solidFill>
              </a:defRPr>
            </a:pPr>
            <a:r>
              <a:rPr sz="1200" b="1">
                <a:solidFill>
                  <a:srgbClr val="58606E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00516549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eyebrow">
            <a:extLst xmlns:a="http://schemas.openxmlformats.org/drawingml/2006/main">
              <a:ext uri="{FF2B5EF4-FFF2-40B4-BE49-F238E27FC236}">
                <a16:creationId xmlns:a16="http://schemas.microsoft.com/office/drawing/2014/main" id="{B33F4806-E0C9-41D6-AB9A-2A36EB1BD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8606E"/>
                </a:solidFill>
              </a:defRPr>
            </a:pPr>
            <a:r>
              <a:rPr sz="1200" b="1">
                <a:solidFill>
                  <a:srgbClr val="58606E"/>
                </a:solidFill>
              </a:rPr>
              <a:t>合同段落变更类型识别服务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8E9F8BC-4AB5-4F64-80A7-745326CBC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10191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模型网关和安全边界按企业接入方式处理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B317B070-E7CB-4384-8651-01B976098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428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9525">
            <a:solidFill>
              <a:srgbClr val="2F80ED"/>
            </a:solidFill>
            <a:prstDash val="solid"/>
          </a:ln>
        </p:spPr>
      </p:sp>
      <p:sp>
        <p:nvSpPr>
          <p:cNvPr id="4" name="dot-0">
            <a:extLst xmlns:a="http://schemas.openxmlformats.org/drawingml/2006/main">
              <a:ext uri="{FF2B5EF4-FFF2-40B4-BE49-F238E27FC236}">
                <a16:creationId xmlns:a16="http://schemas.microsoft.com/office/drawing/2014/main" id="{6AE27C6A-E686-4641-93DE-F6EB6F4D2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717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9525">
            <a:solidFill>
              <a:srgbClr val="2F80ED"/>
            </a:solidFill>
            <a:prstDash val="solid"/>
          </a:ln>
        </p:spPr>
      </p:sp>
      <p:sp>
        <p:nvSpPr>
          <p:cNvPr id="5" name="bullet-0">
            <a:extLst xmlns:a="http://schemas.openxmlformats.org/drawingml/2006/main">
              <a:ext uri="{FF2B5EF4-FFF2-40B4-BE49-F238E27FC236}">
                <a16:creationId xmlns:a16="http://schemas.microsoft.com/office/drawing/2014/main" id="{8253470E-C833-43A7-B66B-27B1B1BB2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57400"/>
            <a:ext cx="9867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Embedding 调用走公司统一模型网关，不在本服务里自建模型</a:t>
            </a:r>
          </a:p>
        </p:txBody>
      </p:sp>
      <p:sp>
        <p:nvSpPr>
          <p:cNvPr id="6" name="dot-1">
            <a:extLst xmlns:a="http://schemas.openxmlformats.org/drawingml/2006/main">
              <a:ext uri="{FF2B5EF4-FFF2-40B4-BE49-F238E27FC236}">
                <a16:creationId xmlns:a16="http://schemas.microsoft.com/office/drawing/2014/main" id="{8054BB4F-47A5-4F7B-A5E7-BED531976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67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9525">
            <a:solidFill>
              <a:srgbClr val="2F80ED"/>
            </a:solidFill>
            <a:prstDash val="solid"/>
          </a:ln>
        </p:spPr>
      </p:sp>
      <p:sp>
        <p:nvSpPr>
          <p:cNvPr id="7" name="bullet-1">
            <a:extLst xmlns:a="http://schemas.openxmlformats.org/drawingml/2006/main">
              <a:ext uri="{FF2B5EF4-FFF2-40B4-BE49-F238E27FC236}">
                <a16:creationId xmlns:a16="http://schemas.microsoft.com/office/drawing/2014/main" id="{F4FD742D-377C-487B-8803-781BFBB0C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52700"/>
            <a:ext cx="9867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请求会携带业务 UserId 给模型平台审计，但服务侧不保存、不输出日志</a:t>
            </a:r>
          </a:p>
        </p:txBody>
      </p:sp>
      <p:sp>
        <p:nvSpPr>
          <p:cNvPr id="8" name="dot-2">
            <a:extLst xmlns:a="http://schemas.openxmlformats.org/drawingml/2006/main">
              <a:ext uri="{FF2B5EF4-FFF2-40B4-BE49-F238E27FC236}">
                <a16:creationId xmlns:a16="http://schemas.microsoft.com/office/drawing/2014/main" id="{DCDD59DA-79CE-4066-BD77-000F8FF5B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9525">
            <a:solidFill>
              <a:srgbClr val="2F80ED"/>
            </a:solidFill>
            <a:prstDash val="solid"/>
          </a:ln>
        </p:spPr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06EAF929-0177-490D-A86E-9A0369320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48000"/>
            <a:ext cx="9867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API Key 只通过环境变量提供，不进入代码、Git 或演示材料</a:t>
            </a:r>
          </a:p>
        </p:txBody>
      </p:sp>
      <p:sp>
        <p:nvSpPr>
          <p:cNvPr id="10" name="dot-3">
            <a:extLst xmlns:a="http://schemas.openxmlformats.org/drawingml/2006/main">
              <a:ext uri="{FF2B5EF4-FFF2-40B4-BE49-F238E27FC236}">
                <a16:creationId xmlns:a16="http://schemas.microsoft.com/office/drawing/2014/main" id="{F075B1BD-7AC9-4C99-9436-B2AFDD0B5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57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9525">
            <a:solidFill>
              <a:srgbClr val="2F80ED"/>
            </a:solidFill>
            <a:prstDash val="solid"/>
          </a:ln>
        </p:spPr>
      </p:sp>
      <p:sp>
        <p:nvSpPr>
          <p:cNvPr id="11" name="bullet-3">
            <a:extLst xmlns:a="http://schemas.openxmlformats.org/drawingml/2006/main">
              <a:ext uri="{FF2B5EF4-FFF2-40B4-BE49-F238E27FC236}">
                <a16:creationId xmlns:a16="http://schemas.microsoft.com/office/drawing/2014/main" id="{F15A2D7D-22AA-4D48-B31B-E6CA2354D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43300"/>
            <a:ext cx="9867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日志只保留必要的数量、状态和耗时，不打印合同正文和向量</a:t>
            </a:r>
          </a:p>
        </p:txBody>
      </p:sp>
      <p:sp>
        <p:nvSpPr>
          <p:cNvPr id="12" name="dot-4">
            <a:extLst xmlns:a="http://schemas.openxmlformats.org/drawingml/2006/main">
              <a:ext uri="{FF2B5EF4-FFF2-40B4-BE49-F238E27FC236}">
                <a16:creationId xmlns:a16="http://schemas.microsoft.com/office/drawing/2014/main" id="{41816FED-9C9F-42C6-9D97-1436BFDD1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529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9525">
            <a:solidFill>
              <a:srgbClr val="2F80ED"/>
            </a:solidFill>
            <a:prstDash val="solid"/>
          </a:ln>
        </p:spPr>
      </p:sp>
      <p:sp>
        <p:nvSpPr>
          <p:cNvPr id="13" name="bullet-4">
            <a:extLst xmlns:a="http://schemas.openxmlformats.org/drawingml/2006/main">
              <a:ext uri="{FF2B5EF4-FFF2-40B4-BE49-F238E27FC236}">
                <a16:creationId xmlns:a16="http://schemas.microsoft.com/office/drawing/2014/main" id="{1612B74E-A03F-47E3-AE99-B56DD371D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38600"/>
            <a:ext cx="9867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模型版本和向量维度会记录下来，避免新旧模型结果混在一起使用</a:t>
            </a:r>
          </a:p>
        </p:txBody>
      </p:sp>
      <p:sp>
        <p:nvSpPr>
          <p:cNvPr id="14" name="footer">
            <a:extLst xmlns:a="http://schemas.openxmlformats.org/drawingml/2006/main">
              <a:ext uri="{FF2B5EF4-FFF2-40B4-BE49-F238E27FC236}">
                <a16:creationId xmlns:a16="http://schemas.microsoft.com/office/drawing/2014/main" id="{F6B96E2B-0E52-4C6E-9B4D-821828287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8606E"/>
                </a:solidFill>
              </a:defRPr>
            </a:pPr>
            <a:r>
              <a:rPr sz="1200" b="1">
                <a:solidFill>
                  <a:srgbClr val="58606E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05707313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eyebrow">
            <a:extLst xmlns:a="http://schemas.openxmlformats.org/drawingml/2006/main">
              <a:ext uri="{FF2B5EF4-FFF2-40B4-BE49-F238E27FC236}">
                <a16:creationId xmlns:a16="http://schemas.microsoft.com/office/drawing/2014/main" id="{DCF6E431-7E31-496F-B533-9EE4D9A46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8606E"/>
                </a:solidFill>
              </a:defRPr>
            </a:pPr>
            <a:r>
              <a:rPr sz="1200" b="1">
                <a:solidFill>
                  <a:srgbClr val="58606E"/>
                </a:solidFill>
              </a:rPr>
              <a:t>合同段落变更类型识别服务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17BC686F-BD45-46CE-B1F2-FA7732E79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10191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知识库完善要走人工确认，避免错误经验被反复引用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2484EE8B-8E7F-4161-BA15-1813D8B32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428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9525">
            <a:solidFill>
              <a:srgbClr val="2F80ED"/>
            </a:solidFill>
            <a:prstDash val="solid"/>
          </a:ln>
        </p:spPr>
      </p:sp>
      <p:sp>
        <p:nvSpPr>
          <p:cNvPr id="4" name="step-0">
            <a:extLst xmlns:a="http://schemas.openxmlformats.org/drawingml/2006/main">
              <a:ext uri="{FF2B5EF4-FFF2-40B4-BE49-F238E27FC236}">
                <a16:creationId xmlns:a16="http://schemas.microsoft.com/office/drawing/2014/main" id="{F3AFDA9F-F1B9-4189-9EFD-A68600185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16922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5" name="num-0">
            <a:extLst xmlns:a="http://schemas.openxmlformats.org/drawingml/2006/main">
              <a:ext uri="{FF2B5EF4-FFF2-40B4-BE49-F238E27FC236}">
                <a16:creationId xmlns:a16="http://schemas.microsoft.com/office/drawing/2014/main" id="{2B3712BA-9E37-45B7-A5B1-6353D588F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05050"/>
            <a:ext cx="30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80ED"/>
                </a:solidFill>
              </a:defRPr>
            </a:pPr>
            <a:r>
              <a:rPr sz="1650" b="1">
                <a:solidFill>
                  <a:srgbClr val="2F80ED"/>
                </a:solidFill>
              </a:rPr>
              <a:t>1</a:t>
            </a:r>
          </a:p>
        </p:txBody>
      </p:sp>
      <p:sp>
        <p:nvSpPr>
          <p:cNvPr id="6" name="step-text-0">
            <a:extLst xmlns:a="http://schemas.openxmlformats.org/drawingml/2006/main">
              <a:ext uri="{FF2B5EF4-FFF2-40B4-BE49-F238E27FC236}">
                <a16:creationId xmlns:a16="http://schemas.microsoft.com/office/drawing/2014/main" id="{930E9208-32EA-4FD6-932D-A1CB28F47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305050"/>
            <a:ext cx="11017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文档比对</a:t>
            </a:r>
          </a:p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发现新段落</a:t>
            </a:r>
          </a:p>
        </p:txBody>
      </p:sp>
      <p:sp>
        <p:nvSpPr>
          <p:cNvPr id="7" name="step-1">
            <a:extLst xmlns:a="http://schemas.openxmlformats.org/drawingml/2006/main">
              <a:ext uri="{FF2B5EF4-FFF2-40B4-BE49-F238E27FC236}">
                <a16:creationId xmlns:a16="http://schemas.microsoft.com/office/drawing/2014/main" id="{CCFB3672-D3BF-409A-8C8E-361472D86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1425" y="2152650"/>
            <a:ext cx="16922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0F7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8" name="num-1">
            <a:extLst xmlns:a="http://schemas.openxmlformats.org/drawingml/2006/main">
              <a:ext uri="{FF2B5EF4-FFF2-40B4-BE49-F238E27FC236}">
                <a16:creationId xmlns:a16="http://schemas.microsoft.com/office/drawing/2014/main" id="{B7688301-3FF9-47B8-9CF4-3FC759128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3825" y="2305050"/>
            <a:ext cx="30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80ED"/>
                </a:solidFill>
              </a:defRPr>
            </a:pPr>
            <a:r>
              <a:rPr sz="1650" b="1">
                <a:solidFill>
                  <a:srgbClr val="2F80ED"/>
                </a:solidFill>
              </a:rPr>
              <a:t>2</a:t>
            </a:r>
          </a:p>
        </p:txBody>
      </p:sp>
      <p:sp>
        <p:nvSpPr>
          <p:cNvPr id="9" name="step-text-1">
            <a:extLst xmlns:a="http://schemas.openxmlformats.org/drawingml/2006/main">
              <a:ext uri="{FF2B5EF4-FFF2-40B4-BE49-F238E27FC236}">
                <a16:creationId xmlns:a16="http://schemas.microsoft.com/office/drawing/2014/main" id="{E5654D72-344E-47C8-9F5B-0DE15444E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7675" y="2305050"/>
            <a:ext cx="11017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系统给出</a:t>
            </a:r>
          </a:p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候选类型</a:t>
            </a:r>
          </a:p>
        </p:txBody>
      </p:sp>
      <p:sp>
        <p:nvSpPr>
          <p:cNvPr id="10" name="step-2">
            <a:extLst xmlns:a="http://schemas.openxmlformats.org/drawingml/2006/main">
              <a:ext uri="{FF2B5EF4-FFF2-40B4-BE49-F238E27FC236}">
                <a16:creationId xmlns:a16="http://schemas.microsoft.com/office/drawing/2014/main" id="{8101E8EA-06F9-44C5-B5A1-EAB4716E8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7050" y="2152650"/>
            <a:ext cx="16922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11" name="num-2">
            <a:extLst xmlns:a="http://schemas.openxmlformats.org/drawingml/2006/main">
              <a:ext uri="{FF2B5EF4-FFF2-40B4-BE49-F238E27FC236}">
                <a16:creationId xmlns:a16="http://schemas.microsoft.com/office/drawing/2014/main" id="{EAD56950-0962-443D-BE0C-3765C8CAC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50" y="2305050"/>
            <a:ext cx="30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80ED"/>
                </a:solidFill>
              </a:defRPr>
            </a:pPr>
            <a:r>
              <a:rPr sz="1650" b="1">
                <a:solidFill>
                  <a:srgbClr val="2F80ED"/>
                </a:solidFill>
              </a:rPr>
              <a:t>3</a:t>
            </a:r>
          </a:p>
        </p:txBody>
      </p:sp>
      <p:sp>
        <p:nvSpPr>
          <p:cNvPr id="12" name="step-text-2">
            <a:extLst xmlns:a="http://schemas.openxmlformats.org/drawingml/2006/main">
              <a:ext uri="{FF2B5EF4-FFF2-40B4-BE49-F238E27FC236}">
                <a16:creationId xmlns:a16="http://schemas.microsoft.com/office/drawing/2014/main" id="{14A45828-B568-4405-B545-4B14CB229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3300" y="2305050"/>
            <a:ext cx="11017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业务人员</a:t>
            </a:r>
          </a:p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确认或修正</a:t>
            </a:r>
          </a:p>
        </p:txBody>
      </p:sp>
      <p:sp>
        <p:nvSpPr>
          <p:cNvPr id="13" name="step-3">
            <a:extLst xmlns:a="http://schemas.openxmlformats.org/drawingml/2006/main">
              <a:ext uri="{FF2B5EF4-FFF2-40B4-BE49-F238E27FC236}">
                <a16:creationId xmlns:a16="http://schemas.microsoft.com/office/drawing/2014/main" id="{5C69EAE3-7429-4B55-AE3D-58B14F176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152650"/>
            <a:ext cx="16922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0F7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14" name="num-3">
            <a:extLst xmlns:a="http://schemas.openxmlformats.org/drawingml/2006/main">
              <a:ext uri="{FF2B5EF4-FFF2-40B4-BE49-F238E27FC236}">
                <a16:creationId xmlns:a16="http://schemas.microsoft.com/office/drawing/2014/main" id="{8E12F61B-C6CC-4801-BD09-6414B82DB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305050"/>
            <a:ext cx="30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80ED"/>
                </a:solidFill>
              </a:defRPr>
            </a:pPr>
            <a:r>
              <a:rPr sz="1650" b="1">
                <a:solidFill>
                  <a:srgbClr val="2F80ED"/>
                </a:solidFill>
              </a:rPr>
              <a:t>4</a:t>
            </a:r>
          </a:p>
        </p:txBody>
      </p:sp>
      <p:sp>
        <p:nvSpPr>
          <p:cNvPr id="15" name="step-text-3">
            <a:extLst xmlns:a="http://schemas.openxmlformats.org/drawingml/2006/main">
              <a:ext uri="{FF2B5EF4-FFF2-40B4-BE49-F238E27FC236}">
                <a16:creationId xmlns:a16="http://schemas.microsoft.com/office/drawing/2014/main" id="{B236C1BA-A49D-4471-85B9-C41A4C11E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2305050"/>
            <a:ext cx="11017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整理为</a:t>
            </a:r>
          </a:p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历史样本</a:t>
            </a:r>
          </a:p>
        </p:txBody>
      </p:sp>
      <p:sp>
        <p:nvSpPr>
          <p:cNvPr id="16" name="step-4">
            <a:extLst xmlns:a="http://schemas.openxmlformats.org/drawingml/2006/main">
              <a:ext uri="{FF2B5EF4-FFF2-40B4-BE49-F238E27FC236}">
                <a16:creationId xmlns:a16="http://schemas.microsoft.com/office/drawing/2014/main" id="{168F5E8D-4021-48BF-84A0-30EAB5F7A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8300" y="2152650"/>
            <a:ext cx="16922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17" name="num-4">
            <a:extLst xmlns:a="http://schemas.openxmlformats.org/drawingml/2006/main">
              <a:ext uri="{FF2B5EF4-FFF2-40B4-BE49-F238E27FC236}">
                <a16:creationId xmlns:a16="http://schemas.microsoft.com/office/drawing/2014/main" id="{9D72FF34-ED30-4F5C-99E4-0CCE66C0A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2305050"/>
            <a:ext cx="30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80ED"/>
                </a:solidFill>
              </a:defRPr>
            </a:pPr>
            <a:r>
              <a:rPr sz="1650" b="1">
                <a:solidFill>
                  <a:srgbClr val="2F80ED"/>
                </a:solidFill>
              </a:rPr>
              <a:t>5</a:t>
            </a:r>
          </a:p>
        </p:txBody>
      </p:sp>
      <p:sp>
        <p:nvSpPr>
          <p:cNvPr id="18" name="step-text-4">
            <a:extLst xmlns:a="http://schemas.openxmlformats.org/drawingml/2006/main">
              <a:ext uri="{FF2B5EF4-FFF2-40B4-BE49-F238E27FC236}">
                <a16:creationId xmlns:a16="http://schemas.microsoft.com/office/drawing/2014/main" id="{43885321-7E05-430C-B375-3CF717E58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4550" y="2305050"/>
            <a:ext cx="11017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导入知识库</a:t>
            </a:r>
          </a:p>
        </p:txBody>
      </p:sp>
      <p:sp>
        <p:nvSpPr>
          <p:cNvPr id="19" name="step-5">
            <a:extLst xmlns:a="http://schemas.openxmlformats.org/drawingml/2006/main">
              <a:ext uri="{FF2B5EF4-FFF2-40B4-BE49-F238E27FC236}">
                <a16:creationId xmlns:a16="http://schemas.microsoft.com/office/drawing/2014/main" id="{E34F9290-8515-4060-AE13-A5603D8DD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3925" y="2152650"/>
            <a:ext cx="16922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0F7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20" name="num-5">
            <a:extLst xmlns:a="http://schemas.openxmlformats.org/drawingml/2006/main">
              <a:ext uri="{FF2B5EF4-FFF2-40B4-BE49-F238E27FC236}">
                <a16:creationId xmlns:a16="http://schemas.microsoft.com/office/drawing/2014/main" id="{22042750-3601-42CA-9048-1AF24E124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6325" y="2305050"/>
            <a:ext cx="304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80ED"/>
                </a:solidFill>
              </a:defRPr>
            </a:pPr>
            <a:r>
              <a:rPr sz="1650" b="1">
                <a:solidFill>
                  <a:srgbClr val="2F80ED"/>
                </a:solidFill>
              </a:rPr>
              <a:t>6</a:t>
            </a:r>
          </a:p>
        </p:txBody>
      </p:sp>
      <p:sp>
        <p:nvSpPr>
          <p:cNvPr id="21" name="step-text-5">
            <a:extLst xmlns:a="http://schemas.openxmlformats.org/drawingml/2006/main">
              <a:ext uri="{FF2B5EF4-FFF2-40B4-BE49-F238E27FC236}">
                <a16:creationId xmlns:a16="http://schemas.microsoft.com/office/drawing/2014/main" id="{1D262C2A-EFF0-4BF2-A570-7101B4AD2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0175" y="2305050"/>
            <a:ext cx="11017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后续识别</a:t>
            </a:r>
          </a:p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继续复用</a:t>
            </a:r>
          </a:p>
        </p:txBody>
      </p:sp>
      <p:sp>
        <p:nvSpPr>
          <p:cNvPr id="22" name="explain">
            <a:extLst xmlns:a="http://schemas.openxmlformats.org/drawingml/2006/main">
              <a:ext uri="{FF2B5EF4-FFF2-40B4-BE49-F238E27FC236}">
                <a16:creationId xmlns:a16="http://schemas.microsoft.com/office/drawing/2014/main" id="{D76234E2-0935-475C-84D0-6CB970D96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3860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预测结果不直接自动入库。只有人工确认过的段落和类型，才适合作为后续识别的历史依据。</a:t>
            </a:r>
          </a:p>
        </p:txBody>
      </p:sp>
      <p:sp>
        <p:nvSpPr>
          <p:cNvPr id="23" name="note-box">
            <a:extLst xmlns:a="http://schemas.openxmlformats.org/drawingml/2006/main">
              <a:ext uri="{FF2B5EF4-FFF2-40B4-BE49-F238E27FC236}">
                <a16:creationId xmlns:a16="http://schemas.microsoft.com/office/drawing/2014/main" id="{05249DAB-E887-4C48-A977-C28FD02B5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62500"/>
            <a:ext cx="9525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E4C783"/>
            </a:solidFill>
            <a:prstDash val="solid"/>
          </a:ln>
        </p:spPr>
      </p:sp>
      <p:sp>
        <p:nvSpPr>
          <p:cNvPr id="24" name="note-text">
            <a:extLst xmlns:a="http://schemas.openxmlformats.org/drawingml/2006/main">
              <a:ext uri="{FF2B5EF4-FFF2-40B4-BE49-F238E27FC236}">
                <a16:creationId xmlns:a16="http://schemas.microsoft.com/office/drawing/2014/main" id="{55399988-8AE3-4895-B37D-C375EA6DF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914900"/>
            <a:ext cx="899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B8A5A"/>
                </a:solidFill>
              </a:defRPr>
            </a:pPr>
            <a:r>
              <a:rPr sz="1575" b="1">
                <a:solidFill>
                  <a:srgbClr val="1B8A5A"/>
                </a:solidFill>
              </a:rPr>
              <a:t>这一步看起来多一道确认，但能保证知识库越用越稳。</a:t>
            </a:r>
          </a:p>
        </p:txBody>
      </p:sp>
      <p:sp>
        <p:nvSpPr>
          <p:cNvPr id="25" name="footer">
            <a:extLst xmlns:a="http://schemas.openxmlformats.org/drawingml/2006/main">
              <a:ext uri="{FF2B5EF4-FFF2-40B4-BE49-F238E27FC236}">
                <a16:creationId xmlns:a16="http://schemas.microsoft.com/office/drawing/2014/main" id="{ED17EF04-8F00-4654-89BE-E795A4E90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8606E"/>
                </a:solidFill>
              </a:defRPr>
            </a:pPr>
            <a:r>
              <a:rPr sz="1200" b="1">
                <a:solidFill>
                  <a:srgbClr val="58606E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03921163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eyebrow">
            <a:extLst xmlns:a="http://schemas.openxmlformats.org/drawingml/2006/main">
              <a:ext uri="{FF2B5EF4-FFF2-40B4-BE49-F238E27FC236}">
                <a16:creationId xmlns:a16="http://schemas.microsoft.com/office/drawing/2014/main" id="{3B5A670E-6F86-4979-A0DD-8D97B45B0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8606E"/>
                </a:solidFill>
              </a:defRPr>
            </a:pPr>
            <a:r>
              <a:rPr sz="1200" b="1">
                <a:solidFill>
                  <a:srgbClr val="58606E"/>
                </a:solidFill>
              </a:rPr>
              <a:t>合同段落变更类型识别服务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1FD0659B-1AF0-4FDC-9ED4-2AEF568A0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10191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现场演示按业务流程推进，也顺手证明技术闭环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53BBEC4B-F41A-4109-9490-2EF4B47AA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428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9525">
            <a:solidFill>
              <a:srgbClr val="2F80ED"/>
            </a:solidFill>
            <a:prstDash val="solid"/>
          </a:ln>
        </p:spPr>
      </p:sp>
      <p:sp>
        <p:nvSpPr>
          <p:cNvPr id="4" name="dot-0">
            <a:extLst xmlns:a="http://schemas.openxmlformats.org/drawingml/2006/main">
              <a:ext uri="{FF2B5EF4-FFF2-40B4-BE49-F238E27FC236}">
                <a16:creationId xmlns:a16="http://schemas.microsoft.com/office/drawing/2014/main" id="{BB28C4CB-92CE-4D2F-A782-EC2991F78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717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9525">
            <a:solidFill>
              <a:srgbClr val="2F80ED"/>
            </a:solidFill>
            <a:prstDash val="solid"/>
          </a:ln>
        </p:spPr>
      </p:sp>
      <p:sp>
        <p:nvSpPr>
          <p:cNvPr id="5" name="bullet-0">
            <a:extLst xmlns:a="http://schemas.openxmlformats.org/drawingml/2006/main">
              <a:ext uri="{FF2B5EF4-FFF2-40B4-BE49-F238E27FC236}">
                <a16:creationId xmlns:a16="http://schemas.microsoft.com/office/drawing/2014/main" id="{B5E50457-2E24-4FD1-8BD3-B97B51714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57400"/>
            <a:ext cx="9867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看索引状态：确认当前知识库是否可用、样本是否已加载</a:t>
            </a:r>
          </a:p>
        </p:txBody>
      </p:sp>
      <p:sp>
        <p:nvSpPr>
          <p:cNvPr id="6" name="dot-1">
            <a:extLst xmlns:a="http://schemas.openxmlformats.org/drawingml/2006/main">
              <a:ext uri="{FF2B5EF4-FFF2-40B4-BE49-F238E27FC236}">
                <a16:creationId xmlns:a16="http://schemas.microsoft.com/office/drawing/2014/main" id="{27F9D027-739B-49E8-A58A-575FBB7D3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67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9525">
            <a:solidFill>
              <a:srgbClr val="2F80ED"/>
            </a:solidFill>
            <a:prstDash val="solid"/>
          </a:ln>
        </p:spPr>
      </p:sp>
      <p:sp>
        <p:nvSpPr>
          <p:cNvPr id="7" name="bullet-1">
            <a:extLst xmlns:a="http://schemas.openxmlformats.org/drawingml/2006/main">
              <a:ext uri="{FF2B5EF4-FFF2-40B4-BE49-F238E27FC236}">
                <a16:creationId xmlns:a16="http://schemas.microsoft.com/office/drawing/2014/main" id="{7E6E1F54-3CC2-492C-B5E7-A34442158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52700"/>
            <a:ext cx="9867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导入匿名 Excel：展示历史经验如何进入知识库</a:t>
            </a:r>
          </a:p>
        </p:txBody>
      </p:sp>
      <p:sp>
        <p:nvSpPr>
          <p:cNvPr id="8" name="dot-2">
            <a:extLst xmlns:a="http://schemas.openxmlformats.org/drawingml/2006/main">
              <a:ext uri="{FF2B5EF4-FFF2-40B4-BE49-F238E27FC236}">
                <a16:creationId xmlns:a16="http://schemas.microsoft.com/office/drawing/2014/main" id="{6E0A710D-5967-4CAD-A18D-0CA655D2F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9525">
            <a:solidFill>
              <a:srgbClr val="2F80ED"/>
            </a:solidFill>
            <a:prstDash val="solid"/>
          </a:ln>
        </p:spPr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3BA1BEA3-035D-49FF-B378-781E7FF48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48000"/>
            <a:ext cx="9867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Oracle 只读核验：确认样本、类型、模型版本和向量已保存</a:t>
            </a:r>
          </a:p>
        </p:txBody>
      </p:sp>
      <p:sp>
        <p:nvSpPr>
          <p:cNvPr id="10" name="dot-3">
            <a:extLst xmlns:a="http://schemas.openxmlformats.org/drawingml/2006/main">
              <a:ext uri="{FF2B5EF4-FFF2-40B4-BE49-F238E27FC236}">
                <a16:creationId xmlns:a16="http://schemas.microsoft.com/office/drawing/2014/main" id="{6490E71E-67F6-4DFF-926A-D93DC715E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57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9525">
            <a:solidFill>
              <a:srgbClr val="2F80ED"/>
            </a:solidFill>
            <a:prstDash val="solid"/>
          </a:ln>
        </p:spPr>
      </p:sp>
      <p:sp>
        <p:nvSpPr>
          <p:cNvPr id="11" name="bullet-3">
            <a:extLst xmlns:a="http://schemas.openxmlformats.org/drawingml/2006/main">
              <a:ext uri="{FF2B5EF4-FFF2-40B4-BE49-F238E27FC236}">
                <a16:creationId xmlns:a16="http://schemas.microsoft.com/office/drawing/2014/main" id="{923E2601-3614-4D01-932B-420F2F6B4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43300"/>
            <a:ext cx="9867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预测 EXACT / HIGH / CANDIDATE / NO_RELIABLE_MATCH：展示不同业务场景</a:t>
            </a:r>
          </a:p>
        </p:txBody>
      </p:sp>
      <p:sp>
        <p:nvSpPr>
          <p:cNvPr id="12" name="dot-4">
            <a:extLst xmlns:a="http://schemas.openxmlformats.org/drawingml/2006/main">
              <a:ext uri="{FF2B5EF4-FFF2-40B4-BE49-F238E27FC236}">
                <a16:creationId xmlns:a16="http://schemas.microsoft.com/office/drawing/2014/main" id="{331FED39-559E-438F-8BE9-D3E039F4B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529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9525">
            <a:solidFill>
              <a:srgbClr val="2F80ED"/>
            </a:solidFill>
            <a:prstDash val="solid"/>
          </a:ln>
        </p:spPr>
      </p:sp>
      <p:sp>
        <p:nvSpPr>
          <p:cNvPr id="13" name="bullet-4">
            <a:extLst xmlns:a="http://schemas.openxmlformats.org/drawingml/2006/main">
              <a:ext uri="{FF2B5EF4-FFF2-40B4-BE49-F238E27FC236}">
                <a16:creationId xmlns:a16="http://schemas.microsoft.com/office/drawing/2014/main" id="{20D30F82-E73E-438A-BE64-411203C1F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38600"/>
            <a:ext cx="9867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手工 reload：展示知识库刷新和运维恢复能力</a:t>
            </a:r>
          </a:p>
        </p:txBody>
      </p:sp>
      <p:sp>
        <p:nvSpPr>
          <p:cNvPr id="14" name="footer">
            <a:extLst xmlns:a="http://schemas.openxmlformats.org/drawingml/2006/main">
              <a:ext uri="{FF2B5EF4-FFF2-40B4-BE49-F238E27FC236}">
                <a16:creationId xmlns:a16="http://schemas.microsoft.com/office/drawing/2014/main" id="{711C5B92-DDB3-4AEE-BCEE-3596ED68F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8606E"/>
                </a:solidFill>
              </a:defRPr>
            </a:pPr>
            <a:r>
              <a:rPr sz="1200" b="1">
                <a:solidFill>
                  <a:srgbClr val="58606E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56850971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eyebrow">
            <a:extLst xmlns:a="http://schemas.openxmlformats.org/drawingml/2006/main">
              <a:ext uri="{FF2B5EF4-FFF2-40B4-BE49-F238E27FC236}">
                <a16:creationId xmlns:a16="http://schemas.microsoft.com/office/drawing/2014/main" id="{B00DD92C-F783-4FEE-BD23-3E34B8E52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8606E"/>
                </a:solidFill>
              </a:defRPr>
            </a:pPr>
            <a:r>
              <a:rPr sz="1200" b="1">
                <a:solidFill>
                  <a:srgbClr val="58606E"/>
                </a:solidFill>
              </a:rPr>
              <a:t>合同段落变更类型识别服务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F74157C-97BA-4487-A692-5490F1DB7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10191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准确性和上线准备，需要用真实样本把结论补齐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E69FF15F-485C-436F-8701-62AE2ED66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428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9525">
            <a:solidFill>
              <a:srgbClr val="2F80ED"/>
            </a:solidFill>
            <a:prstDash val="solid"/>
          </a:ln>
        </p:spPr>
      </p:sp>
      <p:sp>
        <p:nvSpPr>
          <p:cNvPr id="4" name="col-0">
            <a:extLst xmlns:a="http://schemas.openxmlformats.org/drawingml/2006/main">
              <a:ext uri="{FF2B5EF4-FFF2-40B4-BE49-F238E27FC236}">
                <a16:creationId xmlns:a16="http://schemas.microsoft.com/office/drawing/2014/main" id="{CCA74146-89AD-44ED-BDA6-EF34F52B7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34290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5" name="col-head-0">
            <a:extLst xmlns:a="http://schemas.openxmlformats.org/drawingml/2006/main">
              <a:ext uri="{FF2B5EF4-FFF2-40B4-BE49-F238E27FC236}">
                <a16:creationId xmlns:a16="http://schemas.microsoft.com/office/drawing/2014/main" id="{08C69633-B7DD-4E51-A657-BA6217809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19350"/>
            <a:ext cx="297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演示说明流程</a:t>
            </a:r>
          </a:p>
        </p:txBody>
      </p:sp>
      <p:sp>
        <p:nvSpPr>
          <p:cNvPr id="6" name="col-body-0">
            <a:extLst xmlns:a="http://schemas.openxmlformats.org/drawingml/2006/main">
              <a:ext uri="{FF2B5EF4-FFF2-40B4-BE49-F238E27FC236}">
                <a16:creationId xmlns:a16="http://schemas.microsoft.com/office/drawing/2014/main" id="{31B72554-D40E-4D3C-9FF7-CBBA3594E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90850"/>
            <a:ext cx="29718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06E"/>
                </a:solidFill>
              </a:defRPr>
            </a:pPr>
            <a:r>
              <a:rPr sz="1350" b="0">
                <a:solidFill>
                  <a:srgbClr val="58606E"/>
                </a:solidFill>
              </a:rPr>
              <a:t>演示样本可以证明导入、识别、参考依据和知识库补充这条链路是通的。</a:t>
            </a:r>
          </a:p>
        </p:txBody>
      </p:sp>
      <p:sp>
        <p:nvSpPr>
          <p:cNvPr id="7" name="col-1">
            <a:extLst xmlns:a="http://schemas.openxmlformats.org/drawingml/2006/main">
              <a:ext uri="{FF2B5EF4-FFF2-40B4-BE49-F238E27FC236}">
                <a16:creationId xmlns:a16="http://schemas.microsoft.com/office/drawing/2014/main" id="{F7D6E2DF-4AF4-4EF1-BCCD-135EFD37D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190750"/>
            <a:ext cx="34290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0F7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8" name="col-head-1">
            <a:extLst xmlns:a="http://schemas.openxmlformats.org/drawingml/2006/main">
              <a:ext uri="{FF2B5EF4-FFF2-40B4-BE49-F238E27FC236}">
                <a16:creationId xmlns:a16="http://schemas.microsoft.com/office/drawing/2014/main" id="{ADEA1347-4CCF-4BE7-96C2-2D38CFC70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419350"/>
            <a:ext cx="297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测试说明效果</a:t>
            </a:r>
          </a:p>
        </p:txBody>
      </p:sp>
      <p:sp>
        <p:nvSpPr>
          <p:cNvPr id="9" name="col-body-1">
            <a:extLst xmlns:a="http://schemas.openxmlformats.org/drawingml/2006/main">
              <a:ext uri="{FF2B5EF4-FFF2-40B4-BE49-F238E27FC236}">
                <a16:creationId xmlns:a16="http://schemas.microsoft.com/office/drawing/2014/main" id="{EE239F58-C356-4E8E-BEF3-15A4141E4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90850"/>
            <a:ext cx="29718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06E"/>
                </a:solidFill>
              </a:defRPr>
            </a:pPr>
            <a:r>
              <a:rPr sz="1350" b="0">
                <a:solidFill>
                  <a:srgbClr val="58606E"/>
                </a:solidFill>
              </a:rPr>
              <a:t>真实效果要用未入库的合同段落验证，建议准备 30 到 100 条人工标注样本。</a:t>
            </a:r>
          </a:p>
        </p:txBody>
      </p:sp>
      <p:sp>
        <p:nvSpPr>
          <p:cNvPr id="10" name="col-2">
            <a:extLst xmlns:a="http://schemas.openxmlformats.org/drawingml/2006/main">
              <a:ext uri="{FF2B5EF4-FFF2-40B4-BE49-F238E27FC236}">
                <a16:creationId xmlns:a16="http://schemas.microsoft.com/office/drawing/2014/main" id="{85514FE4-AC6B-461C-97A2-B59533179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190750"/>
            <a:ext cx="34290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7DCE3"/>
            </a:solidFill>
            <a:prstDash val="solid"/>
          </a:ln>
        </p:spPr>
      </p:sp>
      <p:sp>
        <p:nvSpPr>
          <p:cNvPr id="11" name="col-head-2">
            <a:extLst xmlns:a="http://schemas.openxmlformats.org/drawingml/2006/main">
              <a:ext uri="{FF2B5EF4-FFF2-40B4-BE49-F238E27FC236}">
                <a16:creationId xmlns:a16="http://schemas.microsoft.com/office/drawing/2014/main" id="{093EFD81-EDCF-4352-8E20-F67A92D8F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19350"/>
            <a:ext cx="297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上线前确认</a:t>
            </a:r>
          </a:p>
        </p:txBody>
      </p:sp>
      <p:sp>
        <p:nvSpPr>
          <p:cNvPr id="12" name="col-body-2">
            <a:extLst xmlns:a="http://schemas.openxmlformats.org/drawingml/2006/main">
              <a:ext uri="{FF2B5EF4-FFF2-40B4-BE49-F238E27FC236}">
                <a16:creationId xmlns:a16="http://schemas.microsoft.com/office/drawing/2014/main" id="{5E3AAA76-159B-437A-B62B-544D89CCA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990850"/>
            <a:ext cx="29718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06E"/>
                </a:solidFill>
              </a:defRPr>
            </a:pPr>
            <a:r>
              <a:rPr sz="1350" b="0">
                <a:solidFill>
                  <a:srgbClr val="58606E"/>
                </a:solidFill>
              </a:rPr>
              <a:t>完成构建验证、环境连通、匿名演示数据、备用录屏和准确性验证表。</a:t>
            </a:r>
          </a:p>
        </p:txBody>
      </p:sp>
      <p:sp>
        <p:nvSpPr>
          <p:cNvPr id="13" name="footer">
            <a:extLst xmlns:a="http://schemas.openxmlformats.org/drawingml/2006/main">
              <a:ext uri="{FF2B5EF4-FFF2-40B4-BE49-F238E27FC236}">
                <a16:creationId xmlns:a16="http://schemas.microsoft.com/office/drawing/2014/main" id="{08BC04EB-84CF-4873-8848-0DFBC381E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43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8606E"/>
                </a:solidFill>
              </a:defRPr>
            </a:pPr>
            <a:r>
              <a:rPr sz="1200" b="1">
                <a:solidFill>
                  <a:srgbClr val="58606E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6620505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2026-08-30T09:39:14.2870000Z</dcterms:created>
  <dcterms:modified xsi:type="dcterms:W3CDTF">2026-08-30T09:39:14.2870000Z</dcterms:modified>
</coreProperties>
</file>