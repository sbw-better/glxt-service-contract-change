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151180cfb74322" /><Relationship Type="http://schemas.openxmlformats.org/officeDocument/2006/relationships/extended-properties" Target="/docProps/app.xml" Id="Rd6d53bb96f9843b7" /><Relationship Type="http://schemas.openxmlformats.org/officeDocument/2006/relationships/officeDocument" Target="/ppt/presentation.xml" Id="R9c221a80338c42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d441851bc94ea9"/>
  </p:sldMasterIdLst>
  <p:notesMasterIdLst>
    <p:notesMasterId xmlns:r="http://schemas.openxmlformats.org/officeDocument/2006/relationships" r:id="Rd54a99fd47614aee"/>
  </p:notesMasterIdLst>
  <p:sldIdLst>
    <p:sldId xmlns:r="http://schemas.openxmlformats.org/officeDocument/2006/relationships" id="256" r:id="R7b5e37ba77af4b26"/>
    <p:sldId xmlns:r="http://schemas.openxmlformats.org/officeDocument/2006/relationships" id="257" r:id="R22762f569aed4b51"/>
    <p:sldId xmlns:r="http://schemas.openxmlformats.org/officeDocument/2006/relationships" id="258" r:id="Rd0d3de6ca5fe4de8"/>
    <p:sldId xmlns:r="http://schemas.openxmlformats.org/officeDocument/2006/relationships" id="259" r:id="R2d1178ca671f414f"/>
    <p:sldId xmlns:r="http://schemas.openxmlformats.org/officeDocument/2006/relationships" id="260" r:id="R435a973251474c30"/>
    <p:sldId xmlns:r="http://schemas.openxmlformats.org/officeDocument/2006/relationships" id="261" r:id="Rfe057385e7be4421"/>
    <p:sldId xmlns:r="http://schemas.openxmlformats.org/officeDocument/2006/relationships" id="262" r:id="Rd7d96cce422d4a73"/>
    <p:sldId xmlns:r="http://schemas.openxmlformats.org/officeDocument/2006/relationships" id="263" r:id="R664677b0f06e4b4b"/>
    <p:sldId xmlns:r="http://schemas.openxmlformats.org/officeDocument/2006/relationships" id="264" r:id="Re70bbdc00cf74334"/>
    <p:sldId xmlns:r="http://schemas.openxmlformats.org/officeDocument/2006/relationships" id="265" r:id="Re00b75465fb44489"/>
    <p:sldId xmlns:r="http://schemas.openxmlformats.org/officeDocument/2006/relationships" id="266" r:id="R2843b0925cc444d4"/>
    <p:sldId xmlns:r="http://schemas.openxmlformats.org/officeDocument/2006/relationships" id="267" r:id="Rf337fde2f8874188"/>
    <p:sldId xmlns:r="http://schemas.openxmlformats.org/officeDocument/2006/relationships" id="268" r:id="Rde4a46a09f0f424f"/>
    <p:sldId xmlns:r="http://schemas.openxmlformats.org/officeDocument/2006/relationships" id="269" r:id="Rb2977da1d25c4b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54f01d548347e5" /><Relationship Type="http://schemas.openxmlformats.org/officeDocument/2006/relationships/slideMaster" Target="/ppt/slideMasters/slideMaster1.xml" Id="R32d441851bc94ea9" /><Relationship Type="http://schemas.openxmlformats.org/officeDocument/2006/relationships/notesMaster" Target="/ppt/notesMasters/notesMaster1.xml" Id="Rd54a99fd47614aee" /><Relationship Type="http://schemas.openxmlformats.org/officeDocument/2006/relationships/presProps" Target="/ppt/presProps.xml" Id="R911a9a08a23e457f" /><Relationship Type="http://schemas.openxmlformats.org/officeDocument/2006/relationships/tableStyles" Target="/ppt/tableStyles.xml" Id="R5a19fd96627b4a7b" /><Relationship Type="http://schemas.openxmlformats.org/officeDocument/2006/relationships/slide" Target="/ppt/slides/slide1.xml" Id="R7b5e37ba77af4b26" /><Relationship Type="http://schemas.openxmlformats.org/officeDocument/2006/relationships/slide" Target="/ppt/slides/slide2.xml" Id="R22762f569aed4b51" /><Relationship Type="http://schemas.openxmlformats.org/officeDocument/2006/relationships/slide" Target="/ppt/slides/slide3.xml" Id="Rd0d3de6ca5fe4de8" /><Relationship Type="http://schemas.openxmlformats.org/officeDocument/2006/relationships/slide" Target="/ppt/slides/slide4.xml" Id="R2d1178ca671f414f" /><Relationship Type="http://schemas.openxmlformats.org/officeDocument/2006/relationships/slide" Target="/ppt/slides/slide5.xml" Id="R435a973251474c30" /><Relationship Type="http://schemas.openxmlformats.org/officeDocument/2006/relationships/slide" Target="/ppt/slides/slide6.xml" Id="Rfe057385e7be4421" /><Relationship Type="http://schemas.openxmlformats.org/officeDocument/2006/relationships/slide" Target="/ppt/slides/slide7.xml" Id="Rd7d96cce422d4a73" /><Relationship Type="http://schemas.openxmlformats.org/officeDocument/2006/relationships/slide" Target="/ppt/slides/slide8.xml" Id="R664677b0f06e4b4b" /><Relationship Type="http://schemas.openxmlformats.org/officeDocument/2006/relationships/slide" Target="/ppt/slides/slide9.xml" Id="Re70bbdc00cf74334" /><Relationship Type="http://schemas.openxmlformats.org/officeDocument/2006/relationships/slide" Target="/ppt/slides/slide10.xml" Id="Re00b75465fb44489" /><Relationship Type="http://schemas.openxmlformats.org/officeDocument/2006/relationships/slide" Target="/ppt/slides/slide11.xml" Id="R2843b0925cc444d4" /><Relationship Type="http://schemas.openxmlformats.org/officeDocument/2006/relationships/slide" Target="/ppt/slides/slide12.xml" Id="Rf337fde2f8874188" /><Relationship Type="http://schemas.openxmlformats.org/officeDocument/2006/relationships/slide" Target="/ppt/slides/slide13.xml" Id="Rde4a46a09f0f424f" /><Relationship Type="http://schemas.openxmlformats.org/officeDocument/2006/relationships/slide" Target="/ppt/slides/slide14.xml" Id="Rb2977da1d25c4b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0dee289d1d43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6ae62c396842d1" /><Relationship Type="http://schemas.openxmlformats.org/officeDocument/2006/relationships/notesMaster" Target="/ppt/notesMasters/notesMaster1.xml" Id="Rdc67cc709b044e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8bfc33c9544438" /><Relationship Type="http://schemas.openxmlformats.org/officeDocument/2006/relationships/notesMaster" Target="/ppt/notesMasters/notesMaster1.xml" Id="R52d0a5d73b9244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f0b44dc92b4c81" /><Relationship Type="http://schemas.openxmlformats.org/officeDocument/2006/relationships/notesMaster" Target="/ppt/notesMasters/notesMaster1.xml" Id="Ra3472e011aed48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f16e29aea74d95" /><Relationship Type="http://schemas.openxmlformats.org/officeDocument/2006/relationships/notesMaster" Target="/ppt/notesMasters/notesMaster1.xml" Id="R779f6c0effb64f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145ffcb6964e49" /><Relationship Type="http://schemas.openxmlformats.org/officeDocument/2006/relationships/notesMaster" Target="/ppt/notesMasters/notesMaster1.xml" Id="Re5f75e15c3914c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e0a9031450480b" /><Relationship Type="http://schemas.openxmlformats.org/officeDocument/2006/relationships/notesMaster" Target="/ppt/notesMasters/notesMaster1.xml" Id="R9beee59ccadd45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0ba1094a9a47b0" /><Relationship Type="http://schemas.openxmlformats.org/officeDocument/2006/relationships/notesMaster" Target="/ppt/notesMasters/notesMaster1.xml" Id="R88257543060a48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c7d10e2b334bda" /><Relationship Type="http://schemas.openxmlformats.org/officeDocument/2006/relationships/notesMaster" Target="/ppt/notesMasters/notesMaster1.xml" Id="R75591f8a230845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99cf8eae294811" /><Relationship Type="http://schemas.openxmlformats.org/officeDocument/2006/relationships/notesMaster" Target="/ppt/notesMasters/notesMaster1.xml" Id="R7a8bd67ece0b48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d9829cc59347a8" /><Relationship Type="http://schemas.openxmlformats.org/officeDocument/2006/relationships/notesMaster" Target="/ppt/notesMasters/notesMaster1.xml" Id="Ref0b1fcee76645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da58da195b41a0" /><Relationship Type="http://schemas.openxmlformats.org/officeDocument/2006/relationships/notesMaster" Target="/ppt/notesMasters/notesMaster1.xml" Id="R4155e6869dbd4b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9f414ee4704c49" /><Relationship Type="http://schemas.openxmlformats.org/officeDocument/2006/relationships/notesMaster" Target="/ppt/notesMasters/notesMaster1.xml" Id="R24d5d62a44e7481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7e7c4dc75f345bf" /><Relationship Type="http://schemas.openxmlformats.org/officeDocument/2006/relationships/notesMaster" Target="/ppt/notesMasters/notesMaster1.xml" Id="Rd2fc5c7dd41043e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f9fc26743d4a90" /><Relationship Type="http://schemas.openxmlformats.org/officeDocument/2006/relationships/notesMaster" Target="/ppt/notesMasters/notesMaster1.xml" Id="Rd20b57311bac4b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开场说明：本次汇报重点不是展示一个孤立接口，而是展示一个可解释、可运维、可持续完善的业务闭环。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初始化脚本、当前实现上下文。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强调这是辅助判断系统，不替代人工确认。它的价值在于把历史经验复用起来，减少重复判断。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初始化脚本、当前实现上下文。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这页要主动讲边界。技术听众会关心为什么没有上更复杂组件，业务听众会关心现在能解决什么。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初始化脚本、当前实现上下文。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这里引入新增考虑点：系统不是一次性知识库。关键原则是人工确认后补充，避免错误标签污染后续投票。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初始化脚本、当前实现上下文。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演示入口建议用 Swagger 或 Postman。强调 UserId 只透传给模型平台用于审计，不入库、不打日志。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初始化脚本、当前实现上下文。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这一页可解释最近截图案例：相似度 0.9389 触发强相似兜底，所以低于 0.55 的类型仍以候选返回。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初始化脚本、当前实现上下文。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这是面向业务方最重要的解释页。避免把 score 讲成模型置信概率。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初始化脚本、当前实现上下文。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技术听众可能会问规模和扩展。回应：这是按 1 万条样本的一期边界设计，未来多实例或更大规模再引入分布式索引能力。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初始化脚本、当前实现上下文。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这里强调合规和可运维：密钥不进代码、不进 Git、不进日志；模型版本与维度用于隔离向量兼容性。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初始化脚本、当前实现上下文。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这页回应用户新增需求。说清楚：本次不改代码，但设计上已把持续完善纳入方案。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初始化脚本、当前实现上下文。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线上投屏建议一开始打开 Swagger/Postman、SQL 客户端和讲稿，避免窗口切换卡顿。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初始化脚本、当前实现上下文。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这页内部汇报时可以酌情保留或淡化，但作为演示准备材料必须明确。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初始化脚本、当前实现上下文。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这页要坦诚。没有真实测试数据时，不要说准确率已经达到某个数字。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初始化脚本、当前实现上下文。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收尾不要停在技术细节，回到业务价值：先辅助人工识别，再通过确认样本让知识库持续变好。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 README、接口文档、Oracle 初始化脚本、当前实现上下文。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4a6b11b0964c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f8cd6f8b06476d" /><Relationship Type="http://schemas.openxmlformats.org/officeDocument/2006/relationships/slideLayout" Target="/ppt/slideLayouts/slideLayout1.xml" Id="R2227dc3d9e864c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27dc3d9e864c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ac7c66a5e412b" /><Relationship Type="http://schemas.openxmlformats.org/officeDocument/2006/relationships/notesSlide" Target="/ppt/notesSlides/notesSlide1.xml" Id="R0cfb516b9f3340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f91c421c3484f" /><Relationship Type="http://schemas.openxmlformats.org/officeDocument/2006/relationships/notesSlide" Target="/ppt/notesSlides/notesSlide2.xml" Id="R88b0ebe73fcc4e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4dd4d1fb442d1" /><Relationship Type="http://schemas.openxmlformats.org/officeDocument/2006/relationships/notesSlide" Target="/ppt/notesSlides/notesSlide3.xml" Id="Re90b8bde4f6849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046ca7b9e48dd" /><Relationship Type="http://schemas.openxmlformats.org/officeDocument/2006/relationships/notesSlide" Target="/ppt/notesSlides/notesSlide4.xml" Id="Rcaab417d9c4848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7470cc4a74e8b" /><Relationship Type="http://schemas.openxmlformats.org/officeDocument/2006/relationships/notesSlide" Target="/ppt/notesSlides/notesSlide5.xml" Id="R1f5d68bc51164c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54860fcf94557" /><Relationship Type="http://schemas.openxmlformats.org/officeDocument/2006/relationships/notesSlide" Target="/ppt/notesSlides/notesSlide6.xml" Id="Re7a6c4d1b4394f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4063d9e904db4" /><Relationship Type="http://schemas.openxmlformats.org/officeDocument/2006/relationships/notesSlide" Target="/ppt/notesSlides/notesSlide7.xml" Id="R86af5146108641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f6212eefa4ca9" /><Relationship Type="http://schemas.openxmlformats.org/officeDocument/2006/relationships/notesSlide" Target="/ppt/notesSlides/notesSlide8.xml" Id="R0e633219eec144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327797e034208" /><Relationship Type="http://schemas.openxmlformats.org/officeDocument/2006/relationships/notesSlide" Target="/ppt/notesSlides/notesSlide9.xml" Id="Rf91da5cfe85146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5efce0a9f4cbb" /><Relationship Type="http://schemas.openxmlformats.org/officeDocument/2006/relationships/notesSlide" Target="/ppt/notesSlides/notesSlide10.xml" Id="R12bb83753c964b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704ab6d684cb7" /><Relationship Type="http://schemas.openxmlformats.org/officeDocument/2006/relationships/notesSlide" Target="/ppt/notesSlides/notesSlide11.xml" Id="R6b76a0f6e75c41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d45e6c91f46e7" /><Relationship Type="http://schemas.openxmlformats.org/officeDocument/2006/relationships/notesSlide" Target="/ppt/notesSlides/notesSlide12.xml" Id="Rfd48d518e36f4f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3fb56b18a4c62" /><Relationship Type="http://schemas.openxmlformats.org/officeDocument/2006/relationships/notesSlide" Target="/ppt/notesSlides/notesSlide13.xml" Id="Rfa83b8d7aaae46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ae399f1c34de6" /><Relationship Type="http://schemas.openxmlformats.org/officeDocument/2006/relationships/notesSlide" Target="/ppt/notesSlides/notesSlide14.xml" Id="Rec62aeecf61340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mall">
            <a:extLst xmlns:a="http://schemas.openxmlformats.org/drawingml/2006/main">
              <a:ext uri="{FF2B5EF4-FFF2-40B4-BE49-F238E27FC236}">
                <a16:creationId xmlns:a16="http://schemas.microsoft.com/office/drawing/2014/main" id="{C99DF11E-78D9-4A5A-81AB-914AFE98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第一版实现检查与汇报演示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D927786-6992-4B73-927B-AA28DC5D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合同段落变更类型识别服务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3BC6A7C-3B08-4314-ACD5-13504A73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</a:defRPr>
            </a:pPr>
            <a:r>
              <a:rPr sz="1800" b="0">
                <a:solidFill>
                  <a:srgbClr val="5B6472"/>
                </a:solidFill>
              </a:rPr>
              <a:t>历史样本导入、语义检索、多标签投票与知识库持续完善闭环</a:t>
            </a:r>
          </a:p>
        </p:txBody>
      </p:sp>
      <p:sp>
        <p:nvSpPr>
          <p:cNvPr id="4" name="cover-panel">
            <a:extLst xmlns:a="http://schemas.openxmlformats.org/drawingml/2006/main">
              <a:ext uri="{FF2B5EF4-FFF2-40B4-BE49-F238E27FC236}">
                <a16:creationId xmlns:a16="http://schemas.microsoft.com/office/drawing/2014/main" id="{0D84DF47-44B5-44CB-8CAC-82FBBB0E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9810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cover-points">
            <a:extLst xmlns:a="http://schemas.openxmlformats.org/drawingml/2006/main">
              <a:ext uri="{FF2B5EF4-FFF2-40B4-BE49-F238E27FC236}">
                <a16:creationId xmlns:a16="http://schemas.microsoft.com/office/drawing/2014/main" id="{C99DE8EA-F540-4B04-8692-55CDE746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适合 25-30 分钟线上汇报：PPT 主讲 + Swagger/Postman 演示 + Oracle 只读核验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E45E8CF-008B-44A0-A308-08506763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144304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7205A79A-AAB6-41C8-9DF3-5D95C87F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3B9AD8-3D58-4E10-AC76-3CC9931A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这项能力解决的是人工识别慢、历史经验难复用的问题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D7D0AF1-CE3D-482D-BB81-D7D90758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col-0">
            <a:extLst xmlns:a="http://schemas.openxmlformats.org/drawingml/2006/main">
              <a:ext uri="{FF2B5EF4-FFF2-40B4-BE49-F238E27FC236}">
                <a16:creationId xmlns:a16="http://schemas.microsoft.com/office/drawing/2014/main" id="{6E154803-E657-42A1-A732-130138E4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5E37E2B7-0B49-456D-99B1-B02E6031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业务痛点</a:t>
            </a:r>
          </a:p>
        </p:txBody>
      </p:sp>
      <p:sp>
        <p:nvSpPr>
          <p:cNvPr id="6" name="col-body-0">
            <a:extLst xmlns:a="http://schemas.openxmlformats.org/drawingml/2006/main">
              <a:ext uri="{FF2B5EF4-FFF2-40B4-BE49-F238E27FC236}">
                <a16:creationId xmlns:a16="http://schemas.microsoft.com/office/drawing/2014/main" id="{CE1A0DC8-7B74-428D-8B10-DC0829DD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合同文档比对后会产生大量变化段落，人工逐段判断变更类型耗时且口径依赖个人经验。</a:t>
            </a:r>
          </a:p>
        </p:txBody>
      </p:sp>
      <p:sp>
        <p:nvSpPr>
          <p:cNvPr id="7" name="col-1">
            <a:extLst xmlns:a="http://schemas.openxmlformats.org/drawingml/2006/main">
              <a:ext uri="{FF2B5EF4-FFF2-40B4-BE49-F238E27FC236}">
                <a16:creationId xmlns:a16="http://schemas.microsoft.com/office/drawing/2014/main" id="{597E1D03-A397-4996-BA55-B3B6F808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col-head-1">
            <a:extLst xmlns:a="http://schemas.openxmlformats.org/drawingml/2006/main">
              <a:ext uri="{FF2B5EF4-FFF2-40B4-BE49-F238E27FC236}">
                <a16:creationId xmlns:a16="http://schemas.microsoft.com/office/drawing/2014/main" id="{91CCAD25-3B1E-4279-B145-58F67593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系统目标</a:t>
            </a:r>
          </a:p>
        </p:txBody>
      </p:sp>
      <p:sp>
        <p:nvSpPr>
          <p:cNvPr id="9" name="col-body-1">
            <a:extLst xmlns:a="http://schemas.openxmlformats.org/drawingml/2006/main">
              <a:ext uri="{FF2B5EF4-FFF2-40B4-BE49-F238E27FC236}">
                <a16:creationId xmlns:a16="http://schemas.microsoft.com/office/drawing/2014/main" id="{DE4E75E7-9D9F-4128-AA4B-01E2544F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7180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把历史“段落-类型”关系沉淀为可检索知识，给新段落返回候选类型和参考段落。</a:t>
            </a:r>
          </a:p>
        </p:txBody>
      </p:sp>
      <p:sp>
        <p:nvSpPr>
          <p:cNvPr id="10" name="col-2">
            <a:extLst xmlns:a="http://schemas.openxmlformats.org/drawingml/2006/main">
              <a:ext uri="{FF2B5EF4-FFF2-40B4-BE49-F238E27FC236}">
                <a16:creationId xmlns:a16="http://schemas.microsoft.com/office/drawing/2014/main" id="{7486C2B4-1238-4E0B-8FF2-716705E1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" name="col-head-2">
            <a:extLst xmlns:a="http://schemas.openxmlformats.org/drawingml/2006/main">
              <a:ext uri="{FF2B5EF4-FFF2-40B4-BE49-F238E27FC236}">
                <a16:creationId xmlns:a16="http://schemas.microsoft.com/office/drawing/2014/main" id="{B056CA08-0D8B-4786-ABE5-7C636FC4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第一版定位</a:t>
            </a:r>
          </a:p>
        </p:txBody>
      </p:sp>
      <p:sp>
        <p:nvSpPr>
          <p:cNvPr id="12" name="col-body-2">
            <a:extLst xmlns:a="http://schemas.openxmlformats.org/drawingml/2006/main">
              <a:ext uri="{FF2B5EF4-FFF2-40B4-BE49-F238E27FC236}">
                <a16:creationId xmlns:a16="http://schemas.microsoft.com/office/drawing/2014/main" id="{B7F6D8A3-F5BE-4F45-9D1A-5AF7B0DF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先做简单可靠的辅助识别能力，强调可解释、可回退、容易部署和验收。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1FC136E-D7FB-48FE-8064-5E6D8F47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525165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48C9720C-EE41-4081-9121-D6E9C3E1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B332D67-F456-4EFC-B137-FE195BA1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第一版边界清楚，减少现场演示和上线复杂度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B51CF79-6C80-46AE-B671-493959C9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8B7FFEE0-2A59-4765-B8E8-11BCB672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FE9B4844-4663-4CE1-BF9A-C53C01B2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导入历史 Excel 后调用统一 Embedding 网关生成 1024 维向量</a:t>
            </a:r>
          </a:p>
        </p:txBody>
      </p:sp>
      <p:sp>
        <p:nvSpPr>
          <p:cNvPr id="6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6F309E42-A610-4ECB-87CB-CB655663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B195D369-573B-4564-BD9C-F4CB8F14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向量保存到 Oracle 11g，JVM 内存索引做 1 万条以内精确检索</a:t>
            </a:r>
          </a:p>
        </p:txBody>
      </p:sp>
      <p:sp>
        <p:nvSpPr>
          <p:cNvPr id="8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A46FDB4F-616E-4C93-89FB-708CEF09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53DB6D9D-9A44-4A0E-B765-87042E26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预测时返回候选变更类型、可信等级和最多 5 条参考段落</a:t>
            </a:r>
          </a:p>
        </p:txBody>
      </p:sp>
      <p:sp>
        <p:nvSpPr>
          <p:cNvPr id="10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E6C5D1DA-F13D-4496-B6E7-FA794883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52F3135C-53E1-4BF6-8649-C7A67A57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不引入向量数据库、Rerank、异步任务或额外业务表</a:t>
            </a:r>
          </a:p>
        </p:txBody>
      </p:sp>
      <p:sp>
        <p:nvSpPr>
          <p:cNvPr id="12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1E102AAF-9787-41EA-995E-4F1C1CD6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A1750602-DF89-4793-896D-B8FCC04F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不关联 TPIF_XBGHTZJ；输入必须是已切分好的单个合同段落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82141592-9DC4-41BE-AEAF-885D7367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41441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">
            <a:extLst xmlns:a="http://schemas.openxmlformats.org/drawingml/2006/main">
              <a:ext uri="{FF2B5EF4-FFF2-40B4-BE49-F238E27FC236}">
                <a16:creationId xmlns:a16="http://schemas.microsoft.com/office/drawing/2014/main" id="{20C9BEBE-C34C-4930-BA96-0F9128D3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7E3D664-B6A5-47CA-A729-61369310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核心闭环从历史样本开始，也允许人工确认后持续补充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5DE41DF-3F6F-48FF-A983-73753B12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flow-0">
            <a:extLst xmlns:a="http://schemas.openxmlformats.org/drawingml/2006/main">
              <a:ext uri="{FF2B5EF4-FFF2-40B4-BE49-F238E27FC236}">
                <a16:creationId xmlns:a16="http://schemas.microsoft.com/office/drawing/2014/main" id="{56C8673B-2712-4B1F-9775-9B0FDE3A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660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flow-num-0">
            <a:extLst xmlns:a="http://schemas.openxmlformats.org/drawingml/2006/main">
              <a:ext uri="{FF2B5EF4-FFF2-40B4-BE49-F238E27FC236}">
                <a16:creationId xmlns:a16="http://schemas.microsoft.com/office/drawing/2014/main" id="{F96FBACF-7651-425B-BF73-5E0AFCAB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6" name="flow-text-0">
            <a:extLst xmlns:a="http://schemas.openxmlformats.org/drawingml/2006/main">
              <a:ext uri="{FF2B5EF4-FFF2-40B4-BE49-F238E27FC236}">
                <a16:creationId xmlns:a16="http://schemas.microsoft.com/office/drawing/2014/main" id="{B9E7B221-E648-4368-B2B6-63C6EE77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19350"/>
            <a:ext cx="993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历史 Excel</a:t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8D1EF9C6-891E-43C7-8E92-46FC92C6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375" y="26098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472"/>
                </a:solidFill>
              </a:defRPr>
            </a:pPr>
            <a:r>
              <a:rPr sz="1800" b="1">
                <a:solidFill>
                  <a:srgbClr val="5B6472"/>
                </a:solidFill>
              </a:rPr>
              <a:t>&gt;</a:t>
            </a:r>
          </a:p>
        </p:txBody>
      </p:sp>
      <p:sp>
        <p:nvSpPr>
          <p:cNvPr id="8" name="flow-1">
            <a:extLst xmlns:a="http://schemas.openxmlformats.org/drawingml/2006/main">
              <a:ext uri="{FF2B5EF4-FFF2-40B4-BE49-F238E27FC236}">
                <a16:creationId xmlns:a16="http://schemas.microsoft.com/office/drawing/2014/main" id="{057DDFAE-EBE2-4CF2-9E19-E8800519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775" y="2247900"/>
            <a:ext cx="1660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flow-num-1">
            <a:extLst xmlns:a="http://schemas.openxmlformats.org/drawingml/2006/main">
              <a:ext uri="{FF2B5EF4-FFF2-40B4-BE49-F238E27FC236}">
                <a16:creationId xmlns:a16="http://schemas.microsoft.com/office/drawing/2014/main" id="{474A39D8-A779-488F-9406-6AE898CA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225" y="24003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0" name="flow-text-1">
            <a:extLst xmlns:a="http://schemas.openxmlformats.org/drawingml/2006/main">
              <a:ext uri="{FF2B5EF4-FFF2-40B4-BE49-F238E27FC236}">
                <a16:creationId xmlns:a16="http://schemas.microsoft.com/office/drawing/2014/main" id="{720D327B-B986-40D4-BB62-DD321E13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125" y="2419350"/>
            <a:ext cx="993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文本规范化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Hash</a:t>
            </a:r>
          </a:p>
        </p:txBody>
      </p:sp>
      <p:sp>
        <p:nvSpPr>
          <p:cNvPr id="11" name="arrow-1">
            <a:extLst xmlns:a="http://schemas.openxmlformats.org/drawingml/2006/main">
              <a:ext uri="{FF2B5EF4-FFF2-40B4-BE49-F238E27FC236}">
                <a16:creationId xmlns:a16="http://schemas.microsoft.com/office/drawing/2014/main" id="{48FC4801-6846-40DB-9437-D5E77B50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6098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472"/>
                </a:solidFill>
              </a:defRPr>
            </a:pPr>
            <a:r>
              <a:rPr sz="1800" b="1">
                <a:solidFill>
                  <a:srgbClr val="5B6472"/>
                </a:solidFill>
              </a:rPr>
              <a:t>&gt;</a:t>
            </a:r>
          </a:p>
        </p:txBody>
      </p:sp>
      <p:sp>
        <p:nvSpPr>
          <p:cNvPr id="12" name="flow-2">
            <a:extLst xmlns:a="http://schemas.openxmlformats.org/drawingml/2006/main">
              <a:ext uri="{FF2B5EF4-FFF2-40B4-BE49-F238E27FC236}">
                <a16:creationId xmlns:a16="http://schemas.microsoft.com/office/drawing/2014/main" id="{77BF1409-0498-49DE-9518-2C5C135A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247900"/>
            <a:ext cx="1660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" name="flow-num-2">
            <a:extLst xmlns:a="http://schemas.openxmlformats.org/drawingml/2006/main">
              <a:ext uri="{FF2B5EF4-FFF2-40B4-BE49-F238E27FC236}">
                <a16:creationId xmlns:a16="http://schemas.microsoft.com/office/drawing/2014/main" id="{7C14A9FF-E1C5-4C38-B170-2417EA27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4003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4" name="flow-text-2">
            <a:extLst xmlns:a="http://schemas.openxmlformats.org/drawingml/2006/main">
              <a:ext uri="{FF2B5EF4-FFF2-40B4-BE49-F238E27FC236}">
                <a16:creationId xmlns:a16="http://schemas.microsoft.com/office/drawing/2014/main" id="{B2D8B6DC-B02E-4EB5-86A1-BBEE9C46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2419350"/>
            <a:ext cx="993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Embedding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1024 维</a:t>
            </a:r>
          </a:p>
        </p:txBody>
      </p:sp>
      <p:sp>
        <p:nvSpPr>
          <p:cNvPr id="15" name="arrow-2">
            <a:extLst xmlns:a="http://schemas.openxmlformats.org/drawingml/2006/main">
              <a:ext uri="{FF2B5EF4-FFF2-40B4-BE49-F238E27FC236}">
                <a16:creationId xmlns:a16="http://schemas.microsoft.com/office/drawing/2014/main" id="{9C6587E9-0558-429E-B86F-D39A5135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6098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472"/>
                </a:solidFill>
              </a:defRPr>
            </a:pPr>
            <a:r>
              <a:rPr sz="1800" b="1">
                <a:solidFill>
                  <a:srgbClr val="5B6472"/>
                </a:solidFill>
              </a:rPr>
              <a:t>&gt;</a:t>
            </a:r>
          </a:p>
        </p:txBody>
      </p:sp>
      <p:sp>
        <p:nvSpPr>
          <p:cNvPr id="16" name="flow-3">
            <a:extLst xmlns:a="http://schemas.openxmlformats.org/drawingml/2006/main">
              <a:ext uri="{FF2B5EF4-FFF2-40B4-BE49-F238E27FC236}">
                <a16:creationId xmlns:a16="http://schemas.microsoft.com/office/drawing/2014/main" id="{1EA774F1-06B8-4CDB-B241-4B1E032E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47900"/>
            <a:ext cx="1660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flow-num-3">
            <a:extLst xmlns:a="http://schemas.openxmlformats.org/drawingml/2006/main">
              <a:ext uri="{FF2B5EF4-FFF2-40B4-BE49-F238E27FC236}">
                <a16:creationId xmlns:a16="http://schemas.microsoft.com/office/drawing/2014/main" id="{A296756F-F8F4-4F41-8959-5CFEB572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003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8" name="flow-text-3">
            <a:extLst xmlns:a="http://schemas.openxmlformats.org/drawingml/2006/main">
              <a:ext uri="{FF2B5EF4-FFF2-40B4-BE49-F238E27FC236}">
                <a16:creationId xmlns:a16="http://schemas.microsoft.com/office/drawing/2014/main" id="{22A087BA-9531-463E-9B2F-0CB0EDA8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419350"/>
            <a:ext cx="993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Oracle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持久化</a:t>
            </a:r>
          </a:p>
        </p:txBody>
      </p:sp>
      <p:sp>
        <p:nvSpPr>
          <p:cNvPr id="19" name="arrow-3">
            <a:extLst xmlns:a="http://schemas.openxmlformats.org/drawingml/2006/main">
              <a:ext uri="{FF2B5EF4-FFF2-40B4-BE49-F238E27FC236}">
                <a16:creationId xmlns:a16="http://schemas.microsoft.com/office/drawing/2014/main" id="{E90F7DD7-2FE2-4ADB-9545-503A0E2E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6098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472"/>
                </a:solidFill>
              </a:defRPr>
            </a:pPr>
            <a:r>
              <a:rPr sz="1800" b="1">
                <a:solidFill>
                  <a:srgbClr val="5B6472"/>
                </a:solidFill>
              </a:rPr>
              <a:t>&gt;</a:t>
            </a:r>
          </a:p>
        </p:txBody>
      </p:sp>
      <p:sp>
        <p:nvSpPr>
          <p:cNvPr id="20" name="flow-4">
            <a:extLst xmlns:a="http://schemas.openxmlformats.org/drawingml/2006/main">
              <a:ext uri="{FF2B5EF4-FFF2-40B4-BE49-F238E27FC236}">
                <a16:creationId xmlns:a16="http://schemas.microsoft.com/office/drawing/2014/main" id="{F30076F0-0AC9-4700-A3DC-6A304C3D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247900"/>
            <a:ext cx="1660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flow-num-4">
            <a:extLst xmlns:a="http://schemas.openxmlformats.org/drawingml/2006/main">
              <a:ext uri="{FF2B5EF4-FFF2-40B4-BE49-F238E27FC236}">
                <a16:creationId xmlns:a16="http://schemas.microsoft.com/office/drawing/2014/main" id="{2ED7A8C2-C8DB-4BB7-AB21-F85C89D4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4003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22" name="flow-text-4">
            <a:extLst xmlns:a="http://schemas.openxmlformats.org/drawingml/2006/main">
              <a:ext uri="{FF2B5EF4-FFF2-40B4-BE49-F238E27FC236}">
                <a16:creationId xmlns:a16="http://schemas.microsoft.com/office/drawing/2014/main" id="{14CA251B-C37D-4A63-B6BA-0A79D5BE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50" y="2419350"/>
            <a:ext cx="993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JVM 索引</a:t>
            </a:r>
          </a:p>
        </p:txBody>
      </p:sp>
      <p:sp>
        <p:nvSpPr>
          <p:cNvPr id="23" name="arrow-4">
            <a:extLst xmlns:a="http://schemas.openxmlformats.org/drawingml/2006/main">
              <a:ext uri="{FF2B5EF4-FFF2-40B4-BE49-F238E27FC236}">
                <a16:creationId xmlns:a16="http://schemas.microsoft.com/office/drawing/2014/main" id="{6FEBBAFE-CA2A-4A34-9ACC-C04D3355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275" y="26098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472"/>
                </a:solidFill>
              </a:defRPr>
            </a:pPr>
            <a:r>
              <a:rPr sz="1800" b="1">
                <a:solidFill>
                  <a:srgbClr val="5B6472"/>
                </a:solidFill>
              </a:rPr>
              <a:t>&gt;</a:t>
            </a:r>
          </a:p>
        </p:txBody>
      </p:sp>
      <p:sp>
        <p:nvSpPr>
          <p:cNvPr id="24" name="flow-5">
            <a:extLst xmlns:a="http://schemas.openxmlformats.org/drawingml/2006/main">
              <a:ext uri="{FF2B5EF4-FFF2-40B4-BE49-F238E27FC236}">
                <a16:creationId xmlns:a16="http://schemas.microsoft.com/office/drawing/2014/main" id="{3E3E5824-4267-48D1-893D-74DBFEAF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75" y="2247900"/>
            <a:ext cx="1660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flow-num-5">
            <a:extLst xmlns:a="http://schemas.openxmlformats.org/drawingml/2006/main">
              <a:ext uri="{FF2B5EF4-FFF2-40B4-BE49-F238E27FC236}">
                <a16:creationId xmlns:a16="http://schemas.microsoft.com/office/drawing/2014/main" id="{C82F24BC-6BB7-4CF8-96BF-D919DD62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24003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6</a:t>
            </a:r>
          </a:p>
        </p:txBody>
      </p:sp>
      <p:sp>
        <p:nvSpPr>
          <p:cNvPr id="26" name="flow-text-5">
            <a:extLst xmlns:a="http://schemas.openxmlformats.org/drawingml/2006/main">
              <a:ext uri="{FF2B5EF4-FFF2-40B4-BE49-F238E27FC236}">
                <a16:creationId xmlns:a16="http://schemas.microsoft.com/office/drawing/2014/main" id="{C970EB08-A8C2-4919-BD64-F586D8BC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2419350"/>
            <a:ext cx="993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预测投票</a:t>
            </a:r>
          </a:p>
        </p:txBody>
      </p:sp>
      <p:sp>
        <p:nvSpPr>
          <p:cNvPr id="27" name="loop">
            <a:extLst xmlns:a="http://schemas.openxmlformats.org/drawingml/2006/main">
              <a:ext uri="{FF2B5EF4-FFF2-40B4-BE49-F238E27FC236}">
                <a16:creationId xmlns:a16="http://schemas.microsoft.com/office/drawing/2014/main" id="{647AA9C9-BACA-4A0D-9443-AF06F53F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8953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loop-title">
            <a:extLst xmlns:a="http://schemas.openxmlformats.org/drawingml/2006/main">
              <a:ext uri="{FF2B5EF4-FFF2-40B4-BE49-F238E27FC236}">
                <a16:creationId xmlns:a16="http://schemas.microsoft.com/office/drawing/2014/main" id="{5D85E88C-3FD6-4D42-8609-D34442E7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053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文档比对后的知识完善闭环</a:t>
            </a:r>
          </a:p>
        </p:txBody>
      </p:sp>
      <p:sp>
        <p:nvSpPr>
          <p:cNvPr id="29" name="loop-body">
            <a:extLst xmlns:a="http://schemas.openxmlformats.org/drawingml/2006/main">
              <a:ext uri="{FF2B5EF4-FFF2-40B4-BE49-F238E27FC236}">
                <a16:creationId xmlns:a16="http://schemas.microsoft.com/office/drawing/2014/main" id="{42312A7F-187C-44E0-A899-742C2E8F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863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新段落经过人工确认变更类型后，可通过现有导入流程沉淀为历史样本；不把未经确认的预测结果自动反哺。</a:t>
            </a:r>
          </a:p>
        </p:txBody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D973B744-A3E2-46F8-8D17-E5BC0544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959262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8A01FFAF-AB8D-4767-9DF4-0365A37D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6529A79-C23C-40D5-89BE-5909DA8E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对外接口围绕导入、预测和索引状态展开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B5F9F6-746B-4C4A-B8FB-0B8C11C6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col-0">
            <a:extLst xmlns:a="http://schemas.openxmlformats.org/drawingml/2006/main">
              <a:ext uri="{FF2B5EF4-FFF2-40B4-BE49-F238E27FC236}">
                <a16:creationId xmlns:a16="http://schemas.microsoft.com/office/drawing/2014/main" id="{A22C08D9-34D7-433E-920B-DC949899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A5DC17AF-0F76-492E-BA12-799650B2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导入</a:t>
            </a:r>
          </a:p>
        </p:txBody>
      </p:sp>
      <p:sp>
        <p:nvSpPr>
          <p:cNvPr id="6" name="col-body-0">
            <a:extLst xmlns:a="http://schemas.openxmlformats.org/drawingml/2006/main">
              <a:ext uri="{FF2B5EF4-FFF2-40B4-BE49-F238E27FC236}">
                <a16:creationId xmlns:a16="http://schemas.microsoft.com/office/drawing/2014/main" id="{757557D8-6597-4CBD-8AC4-267062EF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POST /samples/import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上传 .xlsx，必须携带 UserId。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校验、向量化、入库、重载索引同步完成。</a:t>
            </a:r>
          </a:p>
        </p:txBody>
      </p:sp>
      <p:sp>
        <p:nvSpPr>
          <p:cNvPr id="7" name="col-1">
            <a:extLst xmlns:a="http://schemas.openxmlformats.org/drawingml/2006/main">
              <a:ext uri="{FF2B5EF4-FFF2-40B4-BE49-F238E27FC236}">
                <a16:creationId xmlns:a16="http://schemas.microsoft.com/office/drawing/2014/main" id="{329FFF8C-07FE-4262-80C9-67B6727E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col-head-1">
            <a:extLst xmlns:a="http://schemas.openxmlformats.org/drawingml/2006/main">
              <a:ext uri="{FF2B5EF4-FFF2-40B4-BE49-F238E27FC236}">
                <a16:creationId xmlns:a16="http://schemas.microsoft.com/office/drawing/2014/main" id="{8E3E4CC7-B622-465C-BB9E-9B992B0E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预测</a:t>
            </a:r>
          </a:p>
        </p:txBody>
      </p:sp>
      <p:sp>
        <p:nvSpPr>
          <p:cNvPr id="9" name="col-body-1">
            <a:extLst xmlns:a="http://schemas.openxmlformats.org/drawingml/2006/main">
              <a:ext uri="{FF2B5EF4-FFF2-40B4-BE49-F238E27FC236}">
                <a16:creationId xmlns:a16="http://schemas.microsoft.com/office/drawing/2014/main" id="{DBECD4F8-87F0-4C32-8025-DD1E0DFE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7180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POST /predict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输入单段合同文本。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先 Hash 精确命中，再走语义检索和多标签投票。</a:t>
            </a:r>
          </a:p>
        </p:txBody>
      </p:sp>
      <p:sp>
        <p:nvSpPr>
          <p:cNvPr id="10" name="col-2">
            <a:extLst xmlns:a="http://schemas.openxmlformats.org/drawingml/2006/main">
              <a:ext uri="{FF2B5EF4-FFF2-40B4-BE49-F238E27FC236}">
                <a16:creationId xmlns:a16="http://schemas.microsoft.com/office/drawing/2014/main" id="{879CE01A-08A1-4107-A352-BA136122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" name="col-head-2">
            <a:extLst xmlns:a="http://schemas.openxmlformats.org/drawingml/2006/main">
              <a:ext uri="{FF2B5EF4-FFF2-40B4-BE49-F238E27FC236}">
                <a16:creationId xmlns:a16="http://schemas.microsoft.com/office/drawing/2014/main" id="{F89D33AB-9E2C-48F8-BBD3-EADA7DA1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索引</a:t>
            </a:r>
          </a:p>
        </p:txBody>
      </p:sp>
      <p:sp>
        <p:nvSpPr>
          <p:cNvPr id="12" name="col-body-2">
            <a:extLst xmlns:a="http://schemas.openxmlformats.org/drawingml/2006/main">
              <a:ext uri="{FF2B5EF4-FFF2-40B4-BE49-F238E27FC236}">
                <a16:creationId xmlns:a16="http://schemas.microsoft.com/office/drawing/2014/main" id="{215C5FED-B509-4AA5-A639-018C187E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GET /index/status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POST /index/reload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可观测当前样本数、模型版本、维度和加载状态。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EE70AE0-7CFF-4F5B-99CF-78AEED9F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903073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169F40D0-1970-4CE8-A416-EB6B2FB1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4494670-BA8D-47D7-9414-925B8ABE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预测逻辑先精确命中，再用相似历史样本投票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697BA4D-2B3D-44A0-836B-D214D174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flow-0">
            <a:extLst xmlns:a="http://schemas.openxmlformats.org/drawingml/2006/main">
              <a:ext uri="{FF2B5EF4-FFF2-40B4-BE49-F238E27FC236}">
                <a16:creationId xmlns:a16="http://schemas.microsoft.com/office/drawing/2014/main" id="{ACC99AB3-3863-409E-897D-6A800819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660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flow-num-0">
            <a:extLst xmlns:a="http://schemas.openxmlformats.org/drawingml/2006/main">
              <a:ext uri="{FF2B5EF4-FFF2-40B4-BE49-F238E27FC236}">
                <a16:creationId xmlns:a16="http://schemas.microsoft.com/office/drawing/2014/main" id="{61D68747-BECE-430B-B564-5ACFB39A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6" name="flow-text-0">
            <a:extLst xmlns:a="http://schemas.openxmlformats.org/drawingml/2006/main">
              <a:ext uri="{FF2B5EF4-FFF2-40B4-BE49-F238E27FC236}">
                <a16:creationId xmlns:a16="http://schemas.microsoft.com/office/drawing/2014/main" id="{AD173909-9DD4-49AC-8C92-DB80B8DB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43150"/>
            <a:ext cx="993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规范化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SHA-256</a:t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29B3AA34-76D1-4F18-BAE4-7C4701AF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375" y="25336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472"/>
                </a:solidFill>
              </a:defRPr>
            </a:pPr>
            <a:r>
              <a:rPr sz="1800" b="1">
                <a:solidFill>
                  <a:srgbClr val="5B6472"/>
                </a:solidFill>
              </a:rPr>
              <a:t>&gt;</a:t>
            </a:r>
          </a:p>
        </p:txBody>
      </p:sp>
      <p:sp>
        <p:nvSpPr>
          <p:cNvPr id="8" name="flow-1">
            <a:extLst xmlns:a="http://schemas.openxmlformats.org/drawingml/2006/main">
              <a:ext uri="{FF2B5EF4-FFF2-40B4-BE49-F238E27FC236}">
                <a16:creationId xmlns:a16="http://schemas.microsoft.com/office/drawing/2014/main" id="{D402B7EE-417E-4348-AB80-0AAFEE0A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775" y="2171700"/>
            <a:ext cx="1660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flow-num-1">
            <a:extLst xmlns:a="http://schemas.openxmlformats.org/drawingml/2006/main">
              <a:ext uri="{FF2B5EF4-FFF2-40B4-BE49-F238E27FC236}">
                <a16:creationId xmlns:a16="http://schemas.microsoft.com/office/drawing/2014/main" id="{26093ECA-3145-416A-A438-B47CF82D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225" y="23241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0" name="flow-text-1">
            <a:extLst xmlns:a="http://schemas.openxmlformats.org/drawingml/2006/main">
              <a:ext uri="{FF2B5EF4-FFF2-40B4-BE49-F238E27FC236}">
                <a16:creationId xmlns:a16="http://schemas.microsoft.com/office/drawing/2014/main" id="{40CB0688-65D0-42B1-A142-E8790C96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125" y="2343150"/>
            <a:ext cx="993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Hash 精确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命中</a:t>
            </a:r>
          </a:p>
        </p:txBody>
      </p:sp>
      <p:sp>
        <p:nvSpPr>
          <p:cNvPr id="11" name="arrow-1">
            <a:extLst xmlns:a="http://schemas.openxmlformats.org/drawingml/2006/main">
              <a:ext uri="{FF2B5EF4-FFF2-40B4-BE49-F238E27FC236}">
                <a16:creationId xmlns:a16="http://schemas.microsoft.com/office/drawing/2014/main" id="{64FB8A40-9963-42A7-A50B-452ECE96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5336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472"/>
                </a:solidFill>
              </a:defRPr>
            </a:pPr>
            <a:r>
              <a:rPr sz="1800" b="1">
                <a:solidFill>
                  <a:srgbClr val="5B6472"/>
                </a:solidFill>
              </a:rPr>
              <a:t>&gt;</a:t>
            </a:r>
          </a:p>
        </p:txBody>
      </p:sp>
      <p:sp>
        <p:nvSpPr>
          <p:cNvPr id="12" name="flow-2">
            <a:extLst xmlns:a="http://schemas.openxmlformats.org/drawingml/2006/main">
              <a:ext uri="{FF2B5EF4-FFF2-40B4-BE49-F238E27FC236}">
                <a16:creationId xmlns:a16="http://schemas.microsoft.com/office/drawing/2014/main" id="{073D0875-F8FC-4645-9F5A-E8CCB07E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171700"/>
            <a:ext cx="1660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" name="flow-num-2">
            <a:extLst xmlns:a="http://schemas.openxmlformats.org/drawingml/2006/main">
              <a:ext uri="{FF2B5EF4-FFF2-40B4-BE49-F238E27FC236}">
                <a16:creationId xmlns:a16="http://schemas.microsoft.com/office/drawing/2014/main" id="{140D7794-47DD-427D-AC95-F8259B6B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3241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4" name="flow-text-2">
            <a:extLst xmlns:a="http://schemas.openxmlformats.org/drawingml/2006/main">
              <a:ext uri="{FF2B5EF4-FFF2-40B4-BE49-F238E27FC236}">
                <a16:creationId xmlns:a16="http://schemas.microsoft.com/office/drawing/2014/main" id="{E17982BC-336B-4769-904F-DB2A9FE0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2343150"/>
            <a:ext cx="993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未命中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生成向量</a:t>
            </a:r>
          </a:p>
        </p:txBody>
      </p:sp>
      <p:sp>
        <p:nvSpPr>
          <p:cNvPr id="15" name="arrow-2">
            <a:extLst xmlns:a="http://schemas.openxmlformats.org/drawingml/2006/main">
              <a:ext uri="{FF2B5EF4-FFF2-40B4-BE49-F238E27FC236}">
                <a16:creationId xmlns:a16="http://schemas.microsoft.com/office/drawing/2014/main" id="{126181BD-0BBC-49BA-9C4E-F72C06CA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5336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472"/>
                </a:solidFill>
              </a:defRPr>
            </a:pPr>
            <a:r>
              <a:rPr sz="1800" b="1">
                <a:solidFill>
                  <a:srgbClr val="5B6472"/>
                </a:solidFill>
              </a:rPr>
              <a:t>&gt;</a:t>
            </a:r>
          </a:p>
        </p:txBody>
      </p:sp>
      <p:sp>
        <p:nvSpPr>
          <p:cNvPr id="16" name="flow-3">
            <a:extLst xmlns:a="http://schemas.openxmlformats.org/drawingml/2006/main">
              <a:ext uri="{FF2B5EF4-FFF2-40B4-BE49-F238E27FC236}">
                <a16:creationId xmlns:a16="http://schemas.microsoft.com/office/drawing/2014/main" id="{16170778-F66C-45FF-AE0B-871C20B5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71700"/>
            <a:ext cx="1660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flow-num-3">
            <a:extLst xmlns:a="http://schemas.openxmlformats.org/drawingml/2006/main">
              <a:ext uri="{FF2B5EF4-FFF2-40B4-BE49-F238E27FC236}">
                <a16:creationId xmlns:a16="http://schemas.microsoft.com/office/drawing/2014/main" id="{1D4E3541-7345-4A8B-A055-E410A6DE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241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8" name="flow-text-3">
            <a:extLst xmlns:a="http://schemas.openxmlformats.org/drawingml/2006/main">
              <a:ext uri="{FF2B5EF4-FFF2-40B4-BE49-F238E27FC236}">
                <a16:creationId xmlns:a16="http://schemas.microsoft.com/office/drawing/2014/main" id="{53773286-EC51-4AB8-AD34-87EDB72F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343150"/>
            <a:ext cx="993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Top 10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相似样本</a:t>
            </a:r>
          </a:p>
        </p:txBody>
      </p:sp>
      <p:sp>
        <p:nvSpPr>
          <p:cNvPr id="19" name="arrow-3">
            <a:extLst xmlns:a="http://schemas.openxmlformats.org/drawingml/2006/main">
              <a:ext uri="{FF2B5EF4-FFF2-40B4-BE49-F238E27FC236}">
                <a16:creationId xmlns:a16="http://schemas.microsoft.com/office/drawing/2014/main" id="{DFF0B020-13BD-4674-80FA-ED22CB0C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5336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472"/>
                </a:solidFill>
              </a:defRPr>
            </a:pPr>
            <a:r>
              <a:rPr sz="1800" b="1">
                <a:solidFill>
                  <a:srgbClr val="5B6472"/>
                </a:solidFill>
              </a:rPr>
              <a:t>&gt;</a:t>
            </a:r>
          </a:p>
        </p:txBody>
      </p:sp>
      <p:sp>
        <p:nvSpPr>
          <p:cNvPr id="20" name="flow-4">
            <a:extLst xmlns:a="http://schemas.openxmlformats.org/drawingml/2006/main">
              <a:ext uri="{FF2B5EF4-FFF2-40B4-BE49-F238E27FC236}">
                <a16:creationId xmlns:a16="http://schemas.microsoft.com/office/drawing/2014/main" id="{50B569B4-B7CD-4864-9997-9285B065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171700"/>
            <a:ext cx="1660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flow-num-4">
            <a:extLst xmlns:a="http://schemas.openxmlformats.org/drawingml/2006/main">
              <a:ext uri="{FF2B5EF4-FFF2-40B4-BE49-F238E27FC236}">
                <a16:creationId xmlns:a16="http://schemas.microsoft.com/office/drawing/2014/main" id="{BB559071-72F2-426C-B3C2-5E0D3147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3241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22" name="flow-text-4">
            <a:extLst xmlns:a="http://schemas.openxmlformats.org/drawingml/2006/main">
              <a:ext uri="{FF2B5EF4-FFF2-40B4-BE49-F238E27FC236}">
                <a16:creationId xmlns:a16="http://schemas.microsoft.com/office/drawing/2014/main" id="{78F372E5-3394-4826-A64F-5435F25A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50" y="2343150"/>
            <a:ext cx="993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相似度平方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加权投票</a:t>
            </a:r>
          </a:p>
        </p:txBody>
      </p:sp>
      <p:sp>
        <p:nvSpPr>
          <p:cNvPr id="23" name="arrow-4">
            <a:extLst xmlns:a="http://schemas.openxmlformats.org/drawingml/2006/main">
              <a:ext uri="{FF2B5EF4-FFF2-40B4-BE49-F238E27FC236}">
                <a16:creationId xmlns:a16="http://schemas.microsoft.com/office/drawing/2014/main" id="{D0774CBD-3B78-4D8D-9FAA-7E410080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275" y="25336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472"/>
                </a:solidFill>
              </a:defRPr>
            </a:pPr>
            <a:r>
              <a:rPr sz="1800" b="1">
                <a:solidFill>
                  <a:srgbClr val="5B6472"/>
                </a:solidFill>
              </a:rPr>
              <a:t>&gt;</a:t>
            </a:r>
          </a:p>
        </p:txBody>
      </p:sp>
      <p:sp>
        <p:nvSpPr>
          <p:cNvPr id="24" name="flow-5">
            <a:extLst xmlns:a="http://schemas.openxmlformats.org/drawingml/2006/main">
              <a:ext uri="{FF2B5EF4-FFF2-40B4-BE49-F238E27FC236}">
                <a16:creationId xmlns:a16="http://schemas.microsoft.com/office/drawing/2014/main" id="{05C90BB5-168D-4A5D-80E2-8280E334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75" y="2171700"/>
            <a:ext cx="1660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5" name="flow-num-5">
            <a:extLst xmlns:a="http://schemas.openxmlformats.org/drawingml/2006/main">
              <a:ext uri="{FF2B5EF4-FFF2-40B4-BE49-F238E27FC236}">
                <a16:creationId xmlns:a16="http://schemas.microsoft.com/office/drawing/2014/main" id="{828FDEE5-AE7A-4330-8598-13D195C5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23241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6</a:t>
            </a:r>
          </a:p>
        </p:txBody>
      </p:sp>
      <p:sp>
        <p:nvSpPr>
          <p:cNvPr id="26" name="flow-text-5">
            <a:extLst xmlns:a="http://schemas.openxmlformats.org/drawingml/2006/main">
              <a:ext uri="{FF2B5EF4-FFF2-40B4-BE49-F238E27FC236}">
                <a16:creationId xmlns:a16="http://schemas.microsoft.com/office/drawing/2014/main" id="{FBD7B8CF-8FC4-4ABD-89FF-39003348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2343150"/>
            <a:ext cx="993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候选类型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和参考段落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2DCF07C6-318C-4109-8B91-244D578D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阈值规则：similarity &lt; 0.60 不参与投票；score &gt;= 0.80 且 support &gt;= 2 为 HIGH；score &gt;= 0.55 为 CANDIDATE。</a:t>
            </a:r>
          </a:p>
        </p:txBody>
      </p:sp>
      <p:sp>
        <p:nvSpPr>
          <p:cNvPr id="28" name="fallback">
            <a:extLst xmlns:a="http://schemas.openxmlformats.org/drawingml/2006/main">
              <a:ext uri="{FF2B5EF4-FFF2-40B4-BE49-F238E27FC236}">
                <a16:creationId xmlns:a16="http://schemas.microsoft.com/office/drawing/2014/main" id="{E3EDA76C-FB7F-4022-ABBB-06C6D4ED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兜底规则：若无类型达标但第一名 similarity &gt;= 0.80，返回第一历史样本类型为 CANDIDATE，score 仍保留真实投票占比。</a:t>
            </a:r>
          </a:p>
        </p:txBody>
      </p:sp>
      <p:sp>
        <p:nvSpPr>
          <p:cNvPr id="29" name="footer">
            <a:extLst xmlns:a="http://schemas.openxmlformats.org/drawingml/2006/main">
              <a:ext uri="{FF2B5EF4-FFF2-40B4-BE49-F238E27FC236}">
                <a16:creationId xmlns:a16="http://schemas.microsoft.com/office/drawing/2014/main" id="{4ADCB431-1283-46E6-8469-2A248AE4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318850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198ADFCD-45E5-469E-842F-BB3C6726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31959C-6FAF-4740-B831-8FCA5C84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similarity 看文本相近程度，score 看历史证据支持度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7051678-64B5-475D-814A-78E9DE55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col-0">
            <a:extLst xmlns:a="http://schemas.openxmlformats.org/drawingml/2006/main">
              <a:ext uri="{FF2B5EF4-FFF2-40B4-BE49-F238E27FC236}">
                <a16:creationId xmlns:a16="http://schemas.microsoft.com/office/drawing/2014/main" id="{ADC5C50F-D71A-4987-844B-A5DBB4E9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263B3476-24FB-4AD4-8C94-A8A3D114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similarity</a:t>
            </a:r>
          </a:p>
        </p:txBody>
      </p:sp>
      <p:sp>
        <p:nvSpPr>
          <p:cNvPr id="6" name="col-body-0">
            <a:extLst xmlns:a="http://schemas.openxmlformats.org/drawingml/2006/main">
              <a:ext uri="{FF2B5EF4-FFF2-40B4-BE49-F238E27FC236}">
                <a16:creationId xmlns:a16="http://schemas.microsoft.com/office/drawing/2014/main" id="{711BB65C-27FB-4065-8CDD-A1BED201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新段落与某条历史段落的余弦相似度。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它回答：这两段文本像不像。</a:t>
            </a:r>
          </a:p>
        </p:txBody>
      </p:sp>
      <p:sp>
        <p:nvSpPr>
          <p:cNvPr id="7" name="col-1">
            <a:extLst xmlns:a="http://schemas.openxmlformats.org/drawingml/2006/main">
              <a:ext uri="{FF2B5EF4-FFF2-40B4-BE49-F238E27FC236}">
                <a16:creationId xmlns:a16="http://schemas.microsoft.com/office/drawing/2014/main" id="{028CE2B6-D935-4685-971F-B596776B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col-head-1">
            <a:extLst xmlns:a="http://schemas.openxmlformats.org/drawingml/2006/main">
              <a:ext uri="{FF2B5EF4-FFF2-40B4-BE49-F238E27FC236}">
                <a16:creationId xmlns:a16="http://schemas.microsoft.com/office/drawing/2014/main" id="{67A8A1DD-4A1F-4866-9208-56BFA7A4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score</a:t>
            </a:r>
          </a:p>
        </p:txBody>
      </p:sp>
      <p:sp>
        <p:nvSpPr>
          <p:cNvPr id="9" name="col-body-1">
            <a:extLst xmlns:a="http://schemas.openxmlformats.org/drawingml/2006/main">
              <a:ext uri="{FF2B5EF4-FFF2-40B4-BE49-F238E27FC236}">
                <a16:creationId xmlns:a16="http://schemas.microsoft.com/office/drawing/2014/main" id="{045A394E-975E-49BE-ACC6-BAC90EF5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7180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某个类型在 Top-K 历史样本中的加权支持占比。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它回答：历史证据多大程度支持这个类型。</a:t>
            </a:r>
          </a:p>
        </p:txBody>
      </p:sp>
      <p:sp>
        <p:nvSpPr>
          <p:cNvPr id="10" name="col-2">
            <a:extLst xmlns:a="http://schemas.openxmlformats.org/drawingml/2006/main">
              <a:ext uri="{FF2B5EF4-FFF2-40B4-BE49-F238E27FC236}">
                <a16:creationId xmlns:a16="http://schemas.microsoft.com/office/drawing/2014/main" id="{B226A17B-306D-4C7B-A507-50EE1A55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" name="col-head-2">
            <a:extLst xmlns:a="http://schemas.openxmlformats.org/drawingml/2006/main">
              <a:ext uri="{FF2B5EF4-FFF2-40B4-BE49-F238E27FC236}">
                <a16:creationId xmlns:a16="http://schemas.microsoft.com/office/drawing/2014/main" id="{2D79A50A-E167-455D-8AA5-68312E82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不要误读</a:t>
            </a:r>
          </a:p>
        </p:txBody>
      </p:sp>
      <p:sp>
        <p:nvSpPr>
          <p:cNvPr id="12" name="col-body-2">
            <a:extLst xmlns:a="http://schemas.openxmlformats.org/drawingml/2006/main">
              <a:ext uri="{FF2B5EF4-FFF2-40B4-BE49-F238E27FC236}">
                <a16:creationId xmlns:a16="http://schemas.microsoft.com/office/drawing/2014/main" id="{28583B2A-3DC9-4A4A-A193-2CF60310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score 不是概率，多标签结果的分数之和不一定等于 1。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参考段落最多展示 5 条，但最多 10 条参与投票。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DCE6990D-1951-4125-B0F3-540CD982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529505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43A0B0F4-E48E-4DE8-9E30-3781846D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F1E08E8-5428-442C-9275-ABB85248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技术选型服务于第一版目标：简单、可控、能解释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FC5742C-627A-4620-A2E8-48908B00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col-0">
            <a:extLst xmlns:a="http://schemas.openxmlformats.org/drawingml/2006/main">
              <a:ext uri="{FF2B5EF4-FFF2-40B4-BE49-F238E27FC236}">
                <a16:creationId xmlns:a16="http://schemas.microsoft.com/office/drawing/2014/main" id="{5833D4A7-3CE0-4A78-8419-FE75E25E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377F95F0-4B63-4D76-B351-96911557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不用向量数据库</a:t>
            </a:r>
          </a:p>
        </p:txBody>
      </p:sp>
      <p:sp>
        <p:nvSpPr>
          <p:cNvPr id="6" name="col-body-0">
            <a:extLst xmlns:a="http://schemas.openxmlformats.org/drawingml/2006/main">
              <a:ext uri="{FF2B5EF4-FFF2-40B4-BE49-F238E27FC236}">
                <a16:creationId xmlns:a16="http://schemas.microsoft.com/office/drawing/2014/main" id="{2D5B9740-005A-44EE-8E42-4DA0A442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第一版最多 1 万条历史样本，Java 内存精确点积足够；少引入一个组件，部署和排障更简单。</a:t>
            </a:r>
          </a:p>
        </p:txBody>
      </p:sp>
      <p:sp>
        <p:nvSpPr>
          <p:cNvPr id="7" name="col-1">
            <a:extLst xmlns:a="http://schemas.openxmlformats.org/drawingml/2006/main">
              <a:ext uri="{FF2B5EF4-FFF2-40B4-BE49-F238E27FC236}">
                <a16:creationId xmlns:a16="http://schemas.microsoft.com/office/drawing/2014/main" id="{62576D72-5D36-43EC-8A36-47BE88F6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col-head-1">
            <a:extLst xmlns:a="http://schemas.openxmlformats.org/drawingml/2006/main">
              <a:ext uri="{FF2B5EF4-FFF2-40B4-BE49-F238E27FC236}">
                <a16:creationId xmlns:a16="http://schemas.microsoft.com/office/drawing/2014/main" id="{99B9399E-35D7-4BDA-823F-2CCCC256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固定 1024 维</a:t>
            </a:r>
          </a:p>
        </p:txBody>
      </p:sp>
      <p:sp>
        <p:nvSpPr>
          <p:cNvPr id="9" name="col-body-1">
            <a:extLst xmlns:a="http://schemas.openxmlformats.org/drawingml/2006/main">
              <a:ext uri="{FF2B5EF4-FFF2-40B4-BE49-F238E27FC236}">
                <a16:creationId xmlns:a16="http://schemas.microsoft.com/office/drawing/2014/main" id="{71C69FF6-3020-4FDB-913D-B2D4313D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7180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相对默认 4096 维，网络响应、Oracle BLOB、JVM 内存和计算量约降为四分之一。</a:t>
            </a:r>
          </a:p>
        </p:txBody>
      </p:sp>
      <p:sp>
        <p:nvSpPr>
          <p:cNvPr id="10" name="col-2">
            <a:extLst xmlns:a="http://schemas.openxmlformats.org/drawingml/2006/main">
              <a:ext uri="{FF2B5EF4-FFF2-40B4-BE49-F238E27FC236}">
                <a16:creationId xmlns:a16="http://schemas.microsoft.com/office/drawing/2014/main" id="{DCF9E09B-271B-4CD9-B1B5-F12F7431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" name="col-head-2">
            <a:extLst xmlns:a="http://schemas.openxmlformats.org/drawingml/2006/main">
              <a:ext uri="{FF2B5EF4-FFF2-40B4-BE49-F238E27FC236}">
                <a16:creationId xmlns:a16="http://schemas.microsoft.com/office/drawing/2014/main" id="{08358820-B23B-4766-8637-0AC072A4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Oracle + JVM 索引</a:t>
            </a:r>
          </a:p>
        </p:txBody>
      </p:sp>
      <p:sp>
        <p:nvSpPr>
          <p:cNvPr id="12" name="col-body-2">
            <a:extLst xmlns:a="http://schemas.openxmlformats.org/drawingml/2006/main">
              <a:ext uri="{FF2B5EF4-FFF2-40B4-BE49-F238E27FC236}">
                <a16:creationId xmlns:a16="http://schemas.microsoft.com/office/drawing/2014/main" id="{4E4FF746-11AA-4FAC-BEED-A2FDBC6C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Oracle 负责持久化和审计字段，AtomicReference 切换只读索引快照，适配当前单实例部署。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62ECB165-CE3C-48B5-BF20-544C7E95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84526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23ACD4A0-EF91-41AC-B9E8-6DBC72E7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D9A4DD5-100E-4616-8B1C-B1CF32C7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模型接入和安全边界已按企业网关方式处理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B407130-BC47-4B37-BE9C-0D6B0B0A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E3A529E3-AB44-415D-8574-02C9231F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A95C7155-56B4-4302-BA89-587AEE81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调用公司统一模型网关，OpenAI 兼容 embeddings 接口</a:t>
            </a:r>
          </a:p>
        </p:txBody>
      </p:sp>
      <p:sp>
        <p:nvSpPr>
          <p:cNvPr id="6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E9054075-1AA3-4345-9503-5BA0D79A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918DC8A1-9535-4B57-B4AC-650DAF8F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请求显式传 model、dimensions=1024、encoding_format=float</a:t>
            </a:r>
          </a:p>
        </p:txBody>
      </p:sp>
      <p:sp>
        <p:nvSpPr>
          <p:cNvPr id="8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9F09BE66-7982-4F2A-BE2D-164DB6AC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58563192-B3E4-46D4-A1B4-19107AF2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API Key 只通过 EMBEDDING_API_KEY 环境变量提供</a:t>
            </a:r>
          </a:p>
        </p:txBody>
      </p:sp>
      <p:sp>
        <p:nvSpPr>
          <p:cNvPr id="10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304C4366-556F-42F5-BF3B-0D96CBA2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1FF31450-A57E-4818-8BBF-9D985DCD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日志不输出合同正文、向量、UserId、API Key 或模型响应正文</a:t>
            </a:r>
          </a:p>
        </p:txBody>
      </p:sp>
      <p:sp>
        <p:nvSpPr>
          <p:cNvPr id="12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4C6CBE25-7FB8-4CE6-9DBD-248AFE4D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1621D9E4-0D2A-46F9-A04A-5464C15D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401/403/404/422/429 不重试；连接异常和 5xx 最多重试一次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0DCA522F-8D89-4C07-8222-34A0921A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0961116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A97232DF-65AD-4E39-8770-EF9E3460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64C72B2-1700-4615-914F-D2AF188B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知识库完善要坚持人工确认，避免错误标签自我放大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DDF6F46-F3B3-4AC7-8F49-7F6034A3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col-0">
            <a:extLst xmlns:a="http://schemas.openxmlformats.org/drawingml/2006/main">
              <a:ext uri="{FF2B5EF4-FFF2-40B4-BE49-F238E27FC236}">
                <a16:creationId xmlns:a16="http://schemas.microsoft.com/office/drawing/2014/main" id="{EC016CCC-8B0D-4F81-AA1A-5A4DD4DC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B3D8C579-CED0-4ED6-99CA-B3ACE5BE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近期做法</a:t>
            </a:r>
          </a:p>
        </p:txBody>
      </p:sp>
      <p:sp>
        <p:nvSpPr>
          <p:cNvPr id="6" name="col-body-0">
            <a:extLst xmlns:a="http://schemas.openxmlformats.org/drawingml/2006/main">
              <a:ext uri="{FF2B5EF4-FFF2-40B4-BE49-F238E27FC236}">
                <a16:creationId xmlns:a16="http://schemas.microsoft.com/office/drawing/2014/main" id="{35848F79-D3C9-43C0-86B8-4FC4B45F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文档比对结束后导出待确认样本，人工确认段落和类型，再通过现有 Excel 导入流程入库。</a:t>
            </a:r>
          </a:p>
        </p:txBody>
      </p:sp>
      <p:sp>
        <p:nvSpPr>
          <p:cNvPr id="7" name="col-1">
            <a:extLst xmlns:a="http://schemas.openxmlformats.org/drawingml/2006/main">
              <a:ext uri="{FF2B5EF4-FFF2-40B4-BE49-F238E27FC236}">
                <a16:creationId xmlns:a16="http://schemas.microsoft.com/office/drawing/2014/main" id="{B38D04F8-9E97-4068-BDA0-90223239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col-head-1">
            <a:extLst xmlns:a="http://schemas.openxmlformats.org/drawingml/2006/main">
              <a:ext uri="{FF2B5EF4-FFF2-40B4-BE49-F238E27FC236}">
                <a16:creationId xmlns:a16="http://schemas.microsoft.com/office/drawing/2014/main" id="{80BECFB1-86D3-4310-8412-893A93CC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入库条件</a:t>
            </a:r>
          </a:p>
        </p:txBody>
      </p:sp>
      <p:sp>
        <p:nvSpPr>
          <p:cNvPr id="9" name="col-body-1">
            <a:extLst xmlns:a="http://schemas.openxmlformats.org/drawingml/2006/main">
              <a:ext uri="{FF2B5EF4-FFF2-40B4-BE49-F238E27FC236}">
                <a16:creationId xmlns:a16="http://schemas.microsoft.com/office/drawing/2014/main" id="{A0854D0D-44CF-4974-B228-DBD2B2D2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7180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文本有效、类型编码合法、Hash 去重；相同段落类型冲突时拒绝静默覆盖，必须人工处理。</a:t>
            </a:r>
          </a:p>
        </p:txBody>
      </p:sp>
      <p:sp>
        <p:nvSpPr>
          <p:cNvPr id="10" name="col-2">
            <a:extLst xmlns:a="http://schemas.openxmlformats.org/drawingml/2006/main">
              <a:ext uri="{FF2B5EF4-FFF2-40B4-BE49-F238E27FC236}">
                <a16:creationId xmlns:a16="http://schemas.microsoft.com/office/drawing/2014/main" id="{AF6F1CCC-4C7C-4A82-BC78-122A1A54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" name="col-head-2">
            <a:extLst xmlns:a="http://schemas.openxmlformats.org/drawingml/2006/main">
              <a:ext uri="{FF2B5EF4-FFF2-40B4-BE49-F238E27FC236}">
                <a16:creationId xmlns:a16="http://schemas.microsoft.com/office/drawing/2014/main" id="{B45B1FAB-8EC6-4DE8-9F2E-E742A106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后续增强</a:t>
            </a:r>
          </a:p>
        </p:txBody>
      </p:sp>
      <p:sp>
        <p:nvSpPr>
          <p:cNvPr id="12" name="col-body-2">
            <a:extLst xmlns:a="http://schemas.openxmlformats.org/drawingml/2006/main">
              <a:ext uri="{FF2B5EF4-FFF2-40B4-BE49-F238E27FC236}">
                <a16:creationId xmlns:a16="http://schemas.microsoft.com/office/drawing/2014/main" id="{3EEAF6B9-E126-4EDB-BAD6-A5655610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可新增确认入库接口、确认人/确认时间/来源批次等审计字段，以及 decisionReason 提升解释性。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05875A8-DDAE-47C0-8093-DB73DAB3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6304140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0D4EACDD-19C8-4748-8D8C-BAB597DC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6BB6979-7F17-4420-8156-4EAAE07F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现场演示按“可用性 -&gt; 证据 -&gt; 边界”推进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EFE73E4-B52D-4B8F-95A7-2324DAFC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B7F4D682-9ED5-4149-A453-257D4BDE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70CB1C71-D76A-4542-8E5B-363CBBAD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76450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1. index/status：确认索引状态、样本数、模型版本和维度</a:t>
            </a:r>
          </a:p>
        </p:txBody>
      </p:sp>
      <p:sp>
        <p:nvSpPr>
          <p:cNvPr id="6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EE4B2D97-DE69-46AC-88F9-A3EB66A8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4DB31E9D-960F-4C07-9C4D-A0FB21EF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2. 导入匿名小 Excel：展示同步导入、幂等跳过和错误提示</a:t>
            </a:r>
          </a:p>
        </p:txBody>
      </p:sp>
      <p:sp>
        <p:nvSpPr>
          <p:cNvPr id="8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6323ED4B-A16C-40F4-A4AC-021FF2A4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797E2730-0ADF-4AE7-830A-7D180EEA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3. Oracle 只读查询：核验 Hash、类型、1024 维和 BLOB 长度</a:t>
            </a:r>
          </a:p>
        </p:txBody>
      </p:sp>
      <p:sp>
        <p:nvSpPr>
          <p:cNvPr id="10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B4C09183-A37F-446F-986F-20A9ADE9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DAFC0739-32AB-4F13-A7A2-8DADFE14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4. EXACT / HIGH / CANDIDATE 预测：解释参考段落和分数</a:t>
            </a:r>
          </a:p>
        </p:txBody>
      </p:sp>
      <p:sp>
        <p:nvSpPr>
          <p:cNvPr id="12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1D9E1940-FFCF-41E1-B945-8EA51864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C005C095-21E6-4980-9ADD-D36D91B1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5. NO_RELIABLE_MATCH 与 index/reload：展示边界和运维动作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3DFF2131-74D0-4416-880D-0E7A769F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876349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E43DA466-DAB9-4683-A7F6-237D0160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88658FC-D073-4E0D-BAC1-EC6E8BA8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演示前必须先处理 P0 编译问题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A99FC35-E5AC-4AC0-8E33-A0DA1867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risk">
            <a:extLst xmlns:a="http://schemas.openxmlformats.org/drawingml/2006/main">
              <a:ext uri="{FF2B5EF4-FFF2-40B4-BE49-F238E27FC236}">
                <a16:creationId xmlns:a16="http://schemas.microsoft.com/office/drawing/2014/main" id="{04F0D5F8-1F45-4EBA-9580-111870B7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553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2C078"/>
            </a:solidFill>
            <a:prstDash val="solid"/>
          </a:ln>
        </p:spPr>
      </p:sp>
      <p:sp>
        <p:nvSpPr>
          <p:cNvPr id="5" name="risk-text">
            <a:extLst xmlns:a="http://schemas.openxmlformats.org/drawingml/2006/main">
              <a:ext uri="{FF2B5EF4-FFF2-40B4-BE49-F238E27FC236}">
                <a16:creationId xmlns:a16="http://schemas.microsoft.com/office/drawing/2014/main" id="{A7DC2E7F-D3B9-4E29-9848-C78B6D8B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07600"/>
                </a:solidFill>
              </a:defRPr>
            </a:pPr>
            <a:r>
              <a:rPr sz="1650" b="1">
                <a:solidFill>
                  <a:srgbClr val="C07600"/>
                </a:solidFill>
              </a:rPr>
              <a:t>当前 Java 8 执行 mvn test 编译失败，原因是部分业务类缺少 util 包 import。正式演示前必须修复并保存测试、打包成功证据。</a:t>
            </a:r>
          </a:p>
        </p:txBody>
      </p:sp>
      <p:sp>
        <p:nvSpPr>
          <p:cNvPr id="6" name="col-0">
            <a:extLst xmlns:a="http://schemas.openxmlformats.org/drawingml/2006/main">
              <a:ext uri="{FF2B5EF4-FFF2-40B4-BE49-F238E27FC236}">
                <a16:creationId xmlns:a16="http://schemas.microsoft.com/office/drawing/2014/main" id="{E3973D24-9B57-4EFA-A02A-56401F6E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" name="col-head-0">
            <a:extLst xmlns:a="http://schemas.openxmlformats.org/drawingml/2006/main">
              <a:ext uri="{FF2B5EF4-FFF2-40B4-BE49-F238E27FC236}">
                <a16:creationId xmlns:a16="http://schemas.microsoft.com/office/drawing/2014/main" id="{48BC1DBA-9403-4265-8FF6-B4250F1D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必须完成</a:t>
            </a:r>
          </a:p>
        </p:txBody>
      </p:sp>
      <p:sp>
        <p:nvSpPr>
          <p:cNvPr id="8" name="col-body-0">
            <a:extLst xmlns:a="http://schemas.openxmlformats.org/drawingml/2006/main">
              <a:ext uri="{FF2B5EF4-FFF2-40B4-BE49-F238E27FC236}">
                <a16:creationId xmlns:a16="http://schemas.microsoft.com/office/drawing/2014/main" id="{2720AD89-F780-48A5-BBA7-4075F1A0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修复 import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mvn clean test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mvn -DskipTests package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启动服务并检查 health/status</a:t>
            </a:r>
          </a:p>
        </p:txBody>
      </p:sp>
      <p:sp>
        <p:nvSpPr>
          <p:cNvPr id="9" name="col-1">
            <a:extLst xmlns:a="http://schemas.openxmlformats.org/drawingml/2006/main">
              <a:ext uri="{FF2B5EF4-FFF2-40B4-BE49-F238E27FC236}">
                <a16:creationId xmlns:a16="http://schemas.microsoft.com/office/drawing/2014/main" id="{C24FEE6A-8E27-457F-BE93-1CCEA70F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" name="col-head-1">
            <a:extLst xmlns:a="http://schemas.openxmlformats.org/drawingml/2006/main">
              <a:ext uri="{FF2B5EF4-FFF2-40B4-BE49-F238E27FC236}">
                <a16:creationId xmlns:a16="http://schemas.microsoft.com/office/drawing/2014/main" id="{49197CDC-DAFF-4EB1-B37D-65E270BB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576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不掩盖</a:t>
            </a:r>
          </a:p>
        </p:txBody>
      </p:sp>
      <p:sp>
        <p:nvSpPr>
          <p:cNvPr id="11" name="col-body-1">
            <a:extLst xmlns:a="http://schemas.openxmlformats.org/drawingml/2006/main">
              <a:ext uri="{FF2B5EF4-FFF2-40B4-BE49-F238E27FC236}">
                <a16:creationId xmlns:a16="http://schemas.microsoft.com/office/drawing/2014/main" id="{E08B3939-F292-446B-AB67-EF103228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1005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PPT 可先准备，但现场演示前不能假定服务可运行。必要时准备录屏或截图作为备选。</a:t>
            </a:r>
          </a:p>
        </p:txBody>
      </p:sp>
      <p:sp>
        <p:nvSpPr>
          <p:cNvPr id="12" name="col-2">
            <a:extLst xmlns:a="http://schemas.openxmlformats.org/drawingml/2006/main">
              <a:ext uri="{FF2B5EF4-FFF2-40B4-BE49-F238E27FC236}">
                <a16:creationId xmlns:a16="http://schemas.microsoft.com/office/drawing/2014/main" id="{BC5A6082-6D50-408D-BAE5-B81AC691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2900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" name="col-head-2">
            <a:extLst xmlns:a="http://schemas.openxmlformats.org/drawingml/2006/main">
              <a:ext uri="{FF2B5EF4-FFF2-40B4-BE49-F238E27FC236}">
                <a16:creationId xmlns:a16="http://schemas.microsoft.com/office/drawing/2014/main" id="{3A726368-11FC-4054-A266-08515447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576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可选优化</a:t>
            </a:r>
          </a:p>
        </p:txBody>
      </p:sp>
      <p:sp>
        <p:nvSpPr>
          <p:cNvPr id="14" name="col-body-2">
            <a:extLst xmlns:a="http://schemas.openxmlformats.org/drawingml/2006/main">
              <a:ext uri="{FF2B5EF4-FFF2-40B4-BE49-F238E27FC236}">
                <a16:creationId xmlns:a16="http://schemas.microsoft.com/office/drawing/2014/main" id="{A0713A1B-33A4-453B-A7C4-0AB25A89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1005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loadedAt 格式化为 GMT+8 时间；响应增加 decisionReason 解释强相似兜底。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D8A3E43B-16C4-481F-9448-7A4DC098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4224364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1A959CF8-CD4D-4915-997C-178748E9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854355C-9C2D-4748-AA35-73AE167B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准确性结论需要独立人工标注集支撑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7D44639-871D-4ABB-8B7F-066910E2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col-0">
            <a:extLst xmlns:a="http://schemas.openxmlformats.org/drawingml/2006/main">
              <a:ext uri="{FF2B5EF4-FFF2-40B4-BE49-F238E27FC236}">
                <a16:creationId xmlns:a16="http://schemas.microsoft.com/office/drawing/2014/main" id="{DFFD6EC0-60FE-4C09-8B1A-28739292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D055F1D4-3F5B-439C-926A-AA11F73A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样本</a:t>
            </a:r>
          </a:p>
        </p:txBody>
      </p:sp>
      <p:sp>
        <p:nvSpPr>
          <p:cNvPr id="6" name="col-body-0">
            <a:extLst xmlns:a="http://schemas.openxmlformats.org/drawingml/2006/main">
              <a:ext uri="{FF2B5EF4-FFF2-40B4-BE49-F238E27FC236}">
                <a16:creationId xmlns:a16="http://schemas.microsoft.com/office/drawing/2014/main" id="{9136202F-7B53-4F48-970F-7895CB7D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准备 30-100 条未进入历史库的合同段落，由业务人员人工标注标准类型。</a:t>
            </a:r>
          </a:p>
        </p:txBody>
      </p:sp>
      <p:sp>
        <p:nvSpPr>
          <p:cNvPr id="7" name="col-1">
            <a:extLst xmlns:a="http://schemas.openxmlformats.org/drawingml/2006/main">
              <a:ext uri="{FF2B5EF4-FFF2-40B4-BE49-F238E27FC236}">
                <a16:creationId xmlns:a16="http://schemas.microsoft.com/office/drawing/2014/main" id="{A005BFB7-6CD4-4F00-9B33-1E398086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col-head-1">
            <a:extLst xmlns:a="http://schemas.openxmlformats.org/drawingml/2006/main">
              <a:ext uri="{FF2B5EF4-FFF2-40B4-BE49-F238E27FC236}">
                <a16:creationId xmlns:a16="http://schemas.microsoft.com/office/drawing/2014/main" id="{F456C1EB-FC2C-465C-90C4-EF897106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指标</a:t>
            </a:r>
          </a:p>
        </p:txBody>
      </p:sp>
      <p:sp>
        <p:nvSpPr>
          <p:cNvPr id="9" name="col-body-1">
            <a:extLst xmlns:a="http://schemas.openxmlformats.org/drawingml/2006/main">
              <a:ext uri="{FF2B5EF4-FFF2-40B4-BE49-F238E27FC236}">
                <a16:creationId xmlns:a16="http://schemas.microsoft.com/office/drawing/2014/main" id="{45DE26EA-FA4B-4E29-87D6-18FB9721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7180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覆盖率、类型准确率、召回率、F1、HIGH 准确率、NO_RELIABLE_MATCH 比例。</a:t>
            </a:r>
          </a:p>
        </p:txBody>
      </p:sp>
      <p:sp>
        <p:nvSpPr>
          <p:cNvPr id="10" name="col-2">
            <a:extLst xmlns:a="http://schemas.openxmlformats.org/drawingml/2006/main">
              <a:ext uri="{FF2B5EF4-FFF2-40B4-BE49-F238E27FC236}">
                <a16:creationId xmlns:a16="http://schemas.microsoft.com/office/drawing/2014/main" id="{CBB3B433-FD55-49A1-B2D9-82E25AA0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" name="col-head-2">
            <a:extLst xmlns:a="http://schemas.openxmlformats.org/drawingml/2006/main">
              <a:ext uri="{FF2B5EF4-FFF2-40B4-BE49-F238E27FC236}">
                <a16:creationId xmlns:a16="http://schemas.microsoft.com/office/drawing/2014/main" id="{33CFB998-C0D8-4389-A856-B47768F2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口径</a:t>
            </a:r>
          </a:p>
        </p:txBody>
      </p:sp>
      <p:sp>
        <p:nvSpPr>
          <p:cNvPr id="12" name="col-body-2">
            <a:extLst xmlns:a="http://schemas.openxmlformats.org/drawingml/2006/main">
              <a:ext uri="{FF2B5EF4-FFF2-40B4-BE49-F238E27FC236}">
                <a16:creationId xmlns:a16="http://schemas.microsoft.com/office/drawing/2014/main" id="{1328C00F-9A93-4A49-B6E0-1BD3A4BB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演示样本只能证明流程可用，不能单独证明业务准确性；验收需独立测试集。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B9A0477A-778E-45C3-A9E9-93FF95BA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5853930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E3C2D529-5497-4364-88A8-230FD06C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9D4615F-EEA0-41D8-91AA-E01C1E19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结论：第一版适合先上线试用，再用人工确认样本持续优化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025F2D9-7375-43B7-A51B-70C05F80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CF74DDE3-A664-4EA1-A088-6B10B765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485D1F0D-BDBD-4332-A292-30FB465C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功能闭环完整：导入、向量化、持久化、索引、预测、参考证据</a:t>
            </a:r>
          </a:p>
        </p:txBody>
      </p:sp>
      <p:sp>
        <p:nvSpPr>
          <p:cNvPr id="6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9A6D43AD-5AAA-414F-A8C7-E2C7A879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E3F4D325-11FE-4B3D-AABE-5C90330B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技术方案轻量：Oracle + JVM 索引即可覆盖当前样本规模</a:t>
            </a:r>
          </a:p>
        </p:txBody>
      </p:sp>
      <p:sp>
        <p:nvSpPr>
          <p:cNvPr id="8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F0528CB4-FB18-405C-A72A-ACAFFD7A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E47812C0-9FE2-47A5-A8C3-7A6B8412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输出可解释：EXACT / SEMANTIC / NO_RELIABLE_MATCH 与参考段落共同支撑判断</a:t>
            </a:r>
          </a:p>
        </p:txBody>
      </p:sp>
      <p:sp>
        <p:nvSpPr>
          <p:cNvPr id="10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B261D232-9D1F-4000-A291-C6A1B3E4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53A1FBE4-7F33-4F6C-B34B-39DCBA33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质量闭环明确：文档比对新增样本必须人工确认后再补充知识库</a:t>
            </a:r>
          </a:p>
        </p:txBody>
      </p:sp>
      <p:sp>
        <p:nvSpPr>
          <p:cNvPr id="12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D83FC95A-E6BD-49D7-8335-3C60F641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AD2518EC-6FEB-46E4-8DBA-0F98FD97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969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演示前关键动作：修复编译、跑通测试、准备匿名样本和备用录屏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82A169B2-9715-437A-B6D8-AB6AA8B1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38547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2026-08-30T06:36:18.3570000Z</dcterms:created>
  <dcterms:modified xsi:type="dcterms:W3CDTF">2026-08-30T06:36:18.3570000Z</dcterms:modified>
</coreProperties>
</file>